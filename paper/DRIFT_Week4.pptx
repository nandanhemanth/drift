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0A756E0-BA81-4B3E-BAA3-1FF234794D32}">
  <a:tblStyle styleId="{40A756E0-BA81-4B3E-BAA3-1FF234794D32}"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MQuAKE-T</c:v>
                </c:pt>
              </c:strCache>
            </c:strRef>
          </c:tx>
          <c:spPr>
            <a:ln w="28575">
              <a:solidFill>
                <a:srgbClr val="0F766E"/>
              </a:solidFill>
            </a:ln>
          </c:spPr>
          <c:marker>
            <c:symbol val="circle"/>
            <c:size val="7"/>
            <c:spPr>
              <a:solidFill>
                <a:srgbClr val="0F766E"/>
              </a:solidFill>
              <a:ln>
                <a:solidFill>
                  <a:srgbClr val="0F766E"/>
                </a:solidFill>
              </a:ln>
            </c:spPr>
          </c:marker>
          <c:cat>
            <c:strRef>
              <c:f>Sheet1!$A$2:$A$9</c:f>
              <c:strCache>
                <c:ptCount val="8"/>
                <c:pt idx="0">
                  <c:v>&lt; 0.1</c:v>
                </c:pt>
                <c:pt idx="1">
                  <c:v>0.1-0.2</c:v>
                </c:pt>
                <c:pt idx="2">
                  <c:v>0.2-0.3</c:v>
                </c:pt>
                <c:pt idx="3">
                  <c:v>0.3-0.4</c:v>
                </c:pt>
                <c:pt idx="4">
                  <c:v>0.4-0.5</c:v>
                </c:pt>
                <c:pt idx="5">
                  <c:v>0.5-0.6</c:v>
                </c:pt>
                <c:pt idx="6">
                  <c:v>0.6-0.7</c:v>
                </c:pt>
                <c:pt idx="7">
                  <c:v>&gt; 0.7</c:v>
                </c:pt>
              </c:strCache>
            </c:strRef>
          </c:cat>
          <c:val>
            <c:numRef>
              <c:f>Sheet1!$B$2:$B$9</c:f>
              <c:numCache>
                <c:formatCode>General</c:formatCode>
                <c:ptCount val="8"/>
                <c:pt idx="0">
                  <c:v>0.89</c:v>
                </c:pt>
                <c:pt idx="1">
                  <c:v>0.902</c:v>
                </c:pt>
                <c:pt idx="2">
                  <c:v>0.89</c:v>
                </c:pt>
                <c:pt idx="3">
                  <c:v>0.809</c:v>
                </c:pt>
                <c:pt idx="4">
                  <c:v>0.699</c:v>
                </c:pt>
                <c:pt idx="5">
                  <c:v>0.623</c:v>
                </c:pt>
                <c:pt idx="6">
                  <c:v>0.533</c:v>
                </c:pt>
                <c:pt idx="7">
                  <c:v>0.47</c:v>
                </c:pt>
              </c:numCache>
            </c:numRef>
          </c:val>
          <c:smooth val="0"/>
        </c:ser>
        <c:ser>
          <c:idx val="1"/>
          <c:order val="1"/>
          <c:tx>
            <c:strRef>
              <c:f>Sheet1!$C$1</c:f>
              <c:strCache>
                <c:ptCount val="1"/>
                <c:pt idx="0">
                  <c:v>ConvoMem</c:v>
                </c:pt>
              </c:strCache>
            </c:strRef>
          </c:tx>
          <c:spPr>
            <a:ln w="28575">
              <a:solidFill>
                <a:srgbClr val="9AA5B1"/>
              </a:solidFill>
            </a:ln>
          </c:spPr>
          <c:marker>
            <c:symbol val="circle"/>
            <c:size val="7"/>
            <c:spPr>
              <a:solidFill>
                <a:srgbClr val="9AA5B1"/>
              </a:solidFill>
              <a:ln>
                <a:solidFill>
                  <a:srgbClr val="9AA5B1"/>
                </a:solidFill>
              </a:ln>
            </c:spPr>
          </c:marker>
          <c:cat>
            <c:strRef>
              <c:f>Sheet1!$A$2:$A$9</c:f>
              <c:strCache>
                <c:ptCount val="8"/>
                <c:pt idx="0">
                  <c:v>&lt; 0.1</c:v>
                </c:pt>
                <c:pt idx="1">
                  <c:v>0.1-0.2</c:v>
                </c:pt>
                <c:pt idx="2">
                  <c:v>0.2-0.3</c:v>
                </c:pt>
                <c:pt idx="3">
                  <c:v>0.3-0.4</c:v>
                </c:pt>
                <c:pt idx="4">
                  <c:v>0.4-0.5</c:v>
                </c:pt>
                <c:pt idx="5">
                  <c:v>0.5-0.6</c:v>
                </c:pt>
                <c:pt idx="6">
                  <c:v>0.6-0.7</c:v>
                </c:pt>
                <c:pt idx="7">
                  <c:v>&gt; 0.7</c:v>
                </c:pt>
              </c:strCache>
            </c:strRef>
          </c:cat>
          <c:val>
            <c:numRef>
              <c:f>Sheet1!$C$2:$C$9</c:f>
              <c:numCache>
                <c:formatCode>General</c:formatCode>
                <c:ptCount val="8"/>
                <c:pt idx="0">
                  <c:v>0.317</c:v>
                </c:pt>
                <c:pt idx="1">
                  <c:v>0.307</c:v>
                </c:pt>
                <c:pt idx="2">
                  <c:v>0.295</c:v>
                </c:pt>
                <c:pt idx="3">
                  <c:v>0.264</c:v>
                </c:pt>
                <c:pt idx="4">
                  <c:v>0.214</c:v>
                </c:pt>
                <c:pt idx="5">
                  <c:v>0.179</c:v>
                </c:pt>
                <c:pt idx="6">
                  <c:v>0.166</c:v>
                </c:pt>
                <c:pt idx="7">
                  <c:v>0.137</c:v>
                </c:pt>
              </c:numCache>
            </c:numRef>
          </c:val>
          <c:smooth val="0"/>
        </c:ser>
        <c:dLbls>
          <c:numFmt formatCode="0.00" sourceLinked="0"/>
          <c:txPr>
            <a:bodyPr/>
            <a:lstStyle/>
            <a:p>
              <a:pPr>
                <a:defRPr sz="800">
                  <a:solidFill>
                    <a:srgbClr val="1F2933"/>
                  </a:solidFill>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E4E7EB"/>
            </a:solidFill>
          </a:ln>
        </c:spPr>
        <c:txPr>
          <a:bodyPr/>
          <a:lstStyle/>
          <a:p>
            <a:pPr>
              <a:defRPr sz="800">
                <a:solidFill>
                  <a:srgbClr val="1F2933"/>
                </a:solidFill>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E4E7EB"/>
              </a:solidFill>
            </a:ln>
          </c:spPr>
        </c:majorGridlines>
        <c:numFmt formatCode="0.00" sourceLinked="0"/>
        <c:majorTickMark val="out"/>
        <c:minorTickMark val="none"/>
        <c:tickLblPos val="nextTo"/>
        <c:spPr>
          <a:ln>
            <a:noFill/>
          </a:ln>
        </c:spPr>
        <c:txPr>
          <a:bodyPr/>
          <a:lstStyle/>
          <a:p>
            <a:pPr>
              <a:defRPr sz="800">
                <a:solidFill>
                  <a:srgbClr val="7B8794"/>
                </a:solidFill>
              </a:defRPr>
            </a:pPr>
          </a:p>
        </c:txPr>
        <c:crossAx val="2118791784"/>
        <c:crosses val="autoZero"/>
      </c:valAx>
    </c:plotArea>
    <c:legend>
      <c:legendPos val="b"/>
      <c:layout/>
      <c:overlay val="0"/>
      <c:txPr>
        <a:bodyPr/>
        <a:lstStyle/>
        <a:p>
          <a:pPr>
            <a:defRPr sz="900"/>
          </a:pPr>
        </a:p>
      </c:txPr>
    </c:legend>
    <c:plotVisOnly val="1"/>
    <c:dispBlanksAs val="gap"/>
    <c:showDLblsOverMax val="0"/>
  </c:chart>
  <c:txPr>
    <a:bodyPr/>
    <a:lstStyle/>
    <a:p>
      <a:pPr>
        <a:defRPr sz="9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MQuAKE-T</c:v>
                </c:pt>
              </c:strCache>
            </c:strRef>
          </c:tx>
          <c:spPr>
            <a:solidFill>
              <a:srgbClr val="0F766E"/>
            </a:solidFill>
            <a:ln>
              <a:noFill/>
            </a:ln>
          </c:spPr>
          <c:cat>
            <c:strRef>
              <c:f>Sheet1!$A$2:$A$6</c:f>
              <c:strCache>
                <c:ptCount val="5"/>
                <c:pt idx="0">
                  <c:v>&lt; 0.35</c:v>
                </c:pt>
                <c:pt idx="1">
                  <c:v>0.35-0.50</c:v>
                </c:pt>
                <c:pt idx="2">
                  <c:v>0.50-0.65</c:v>
                </c:pt>
                <c:pt idx="3">
                  <c:v>0.65-0.80</c:v>
                </c:pt>
                <c:pt idx="4">
                  <c:v>&gt; 0.80</c:v>
                </c:pt>
              </c:strCache>
            </c:strRef>
          </c:cat>
          <c:val>
            <c:numRef>
              <c:f>Sheet1!$B$2:$B$6</c:f>
              <c:numCache>
                <c:formatCode>General</c:formatCode>
                <c:ptCount val="5"/>
                <c:pt idx="0">
                  <c:v>0.906</c:v>
                </c:pt>
                <c:pt idx="1">
                  <c:v>0.894</c:v>
                </c:pt>
                <c:pt idx="2">
                  <c:v>0.897</c:v>
                </c:pt>
                <c:pt idx="3">
                  <c:v>0.903</c:v>
                </c:pt>
                <c:pt idx="4">
                  <c:v>0.902</c:v>
                </c:pt>
              </c:numCache>
            </c:numRef>
          </c:val>
        </c:ser>
        <c:ser>
          <c:idx val="1"/>
          <c:order val="1"/>
          <c:tx>
            <c:strRef>
              <c:f>Sheet1!$C$1</c:f>
              <c:strCache>
                <c:ptCount val="1"/>
                <c:pt idx="0">
                  <c:v>ConvoMem</c:v>
                </c:pt>
              </c:strCache>
            </c:strRef>
          </c:tx>
          <c:spPr>
            <a:solidFill>
              <a:srgbClr val="9AA5B1"/>
            </a:solidFill>
            <a:ln>
              <a:noFill/>
            </a:ln>
          </c:spPr>
          <c:cat>
            <c:strRef>
              <c:f>Sheet1!$A$2:$A$6</c:f>
              <c:strCache>
                <c:ptCount val="5"/>
                <c:pt idx="0">
                  <c:v>&lt; 0.35</c:v>
                </c:pt>
                <c:pt idx="1">
                  <c:v>0.35-0.50</c:v>
                </c:pt>
                <c:pt idx="2">
                  <c:v>0.50-0.65</c:v>
                </c:pt>
                <c:pt idx="3">
                  <c:v>0.65-0.80</c:v>
                </c:pt>
                <c:pt idx="4">
                  <c:v>&gt; 0.80</c:v>
                </c:pt>
              </c:strCache>
            </c:strRef>
          </c:cat>
          <c:val>
            <c:numRef>
              <c:f>Sheet1!$C$2:$C$6</c:f>
              <c:numCache>
                <c:formatCode>General</c:formatCode>
                <c:ptCount val="5"/>
                <c:pt idx="0">
                  <c:v>0.276</c:v>
                </c:pt>
                <c:pt idx="1">
                  <c:v>0.299</c:v>
                </c:pt>
                <c:pt idx="2">
                  <c:v>0.319</c:v>
                </c:pt>
                <c:pt idx="3">
                  <c:v>0.335</c:v>
                </c:pt>
                <c:pt idx="4">
                  <c:v>0.346</c:v>
                </c:pt>
              </c:numCache>
            </c:numRef>
          </c:val>
        </c:ser>
        <c:dLbls>
          <c:numFmt formatCode="0.00" sourceLinked="0"/>
          <c:txPr>
            <a:bodyPr/>
            <a:lstStyle/>
            <a:p>
              <a:pPr>
                <a:defRPr sz="800">
                  <a:solidFill>
                    <a:srgbClr val="1F2933"/>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E4E7EB"/>
            </a:solidFill>
          </a:ln>
        </c:spPr>
        <c:txPr>
          <a:bodyPr/>
          <a:lstStyle/>
          <a:p>
            <a:pPr>
              <a:defRPr sz="800">
                <a:solidFill>
                  <a:srgbClr val="1F2933"/>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4E7EB"/>
              </a:solidFill>
            </a:ln>
          </c:spPr>
        </c:majorGridlines>
        <c:numFmt formatCode="0.00" sourceLinked="0"/>
        <c:majorTickMark val="out"/>
        <c:minorTickMark val="none"/>
        <c:tickLblPos val="nextTo"/>
        <c:spPr>
          <a:ln>
            <a:noFill/>
          </a:ln>
        </c:spPr>
        <c:txPr>
          <a:bodyPr/>
          <a:lstStyle/>
          <a:p>
            <a:pPr>
              <a:defRPr sz="800">
                <a:solidFill>
                  <a:srgbClr val="7B8794"/>
                </a:solidFill>
              </a:defRPr>
            </a:pPr>
          </a:p>
        </c:txPr>
        <c:crossAx val="-2068027336"/>
        <c:crosses val="autoZero"/>
      </c:valAx>
    </c:plotArea>
    <c:legend>
      <c:legendPos val="b"/>
      <c:overlay val="0"/>
      <c:txPr>
        <a:bodyPr/>
        <a:lstStyle/>
        <a:p>
          <a:pPr>
            <a:defRPr sz="900"/>
          </a:pPr>
        </a:p>
      </c:txPr>
    </c:legend>
    <c:dispBlanksAs val="gap"/>
  </c:chart>
  <c:txPr>
    <a:bodyPr/>
    <a:lstStyle/>
    <a:p>
      <a:pPr>
        <a:defRPr sz="9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834640"/>
            <a:ext cx="10058400" cy="640080"/>
          </a:xfrm>
          <a:prstGeom prst="rect">
            <a:avLst/>
          </a:prstGeom>
          <a:noFill/>
        </p:spPr>
        <p:txBody>
          <a:bodyPr wrap="square" lIns="91425" rIns="91425" tIns="45700" bIns="45700" anchor="ctr"/>
          <a:lstStyle/>
          <a:p>
            <a:pPr algn="l">
              <a:spcBef>
                <a:spcPts val="0"/>
              </a:spcBef>
              <a:spcAft>
                <a:spcPts val="0"/>
              </a:spcAft>
            </a:pPr>
            <a:r>
              <a:rPr sz="3800" b="1" i="0">
                <a:solidFill>
                  <a:srgbClr val="1F2933"/>
                </a:solidFill>
                <a:latin typeface="Calibri"/>
              </a:rPr>
              <a:t>Weekly update 4</a:t>
            </a:r>
          </a:p>
        </p:txBody>
      </p:sp>
      <p:sp>
        <p:nvSpPr>
          <p:cNvPr id="3" name="TextBox 2"/>
          <p:cNvSpPr txBox="1"/>
          <p:nvPr/>
        </p:nvSpPr>
        <p:spPr>
          <a:xfrm>
            <a:off x="822960" y="3520440"/>
            <a:ext cx="10058400" cy="411480"/>
          </a:xfrm>
          <a:prstGeom prst="rect">
            <a:avLst/>
          </a:prstGeom>
          <a:noFill/>
        </p:spPr>
        <p:txBody>
          <a:bodyPr wrap="square" lIns="91425" rIns="91425" tIns="45700" bIns="45700" anchor="ctr"/>
          <a:lstStyle/>
          <a:p>
            <a:pPr algn="l">
              <a:spcBef>
                <a:spcPts val="0"/>
              </a:spcBef>
              <a:spcAft>
                <a:spcPts val="0"/>
              </a:spcAft>
            </a:pPr>
            <a:r>
              <a:rPr sz="1900" b="0" i="0">
                <a:solidFill>
                  <a:srgbClr val="1F2933"/>
                </a:solidFill>
                <a:latin typeface="Calibri"/>
              </a:rPr>
              <a:t>What the full retrieval-weight grid taught me, the three benchmarks, and the final model line-up</a:t>
            </a:r>
          </a:p>
        </p:txBody>
      </p:sp>
      <p:sp>
        <p:nvSpPr>
          <p:cNvPr id="4" name="TextBox 3"/>
          <p:cNvSpPr txBox="1"/>
          <p:nvPr/>
        </p:nvSpPr>
        <p:spPr>
          <a:xfrm>
            <a:off x="667512" y="5961888"/>
            <a:ext cx="10058400" cy="320040"/>
          </a:xfrm>
          <a:prstGeom prst="rect">
            <a:avLst/>
          </a:prstGeom>
          <a:noFill/>
        </p:spPr>
        <p:txBody>
          <a:bodyPr wrap="square" lIns="91425" rIns="91425" tIns="45700" bIns="45700" anchor="t"/>
          <a:lstStyle/>
          <a:p>
            <a:pPr algn="l">
              <a:spcBef>
                <a:spcPts val="0"/>
              </a:spcBef>
              <a:spcAft>
                <a:spcPts val="0"/>
              </a:spcAft>
            </a:pPr>
            <a:r>
              <a:rPr sz="1200" b="0" i="0">
                <a:solidFill>
                  <a:srgbClr val="7B8794"/>
                </a:solidFill>
                <a:latin typeface="Calibri"/>
              </a:rPr>
              <a:t>Nandan Hemanth  ·  1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This week: every weighting, run end to end</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a:t>
            </a:r>
          </a:p>
        </p:txBody>
      </p:sp>
      <p:sp>
        <p:nvSpPr>
          <p:cNvPr id="4" name="TextBox 3"/>
          <p:cNvSpPr txBox="1"/>
          <p:nvPr/>
        </p:nvSpPr>
        <p:spPr>
          <a:xfrm>
            <a:off x="640080" y="1508760"/>
            <a:ext cx="10881360" cy="3291840"/>
          </a:xfrm>
          <a:prstGeom prst="rect">
            <a:avLst/>
          </a:prstGeom>
          <a:noFill/>
        </p:spPr>
        <p:txBody>
          <a:bodyPr wrap="square" lIns="91425" rIns="91425" tIns="45700" bIns="45700" anchor="t"/>
          <a:lstStyle/>
          <a:p>
            <a:pPr algn="l" marL="342900" indent="-342900">
              <a:lnSpc>
                <a:spcPct val="145000"/>
              </a:lnSpc>
              <a:spcBef>
                <a:spcPts val="200"/>
              </a:spcBef>
              <a:spcAft>
                <a:spcPts val="0"/>
              </a:spcAft>
              <a:buClr>
                <a:srgbClr val="1F2933"/>
              </a:buClr>
              <a:buFont typeface="Calibri"/>
              <a:buChar char="•"/>
            </a:pPr>
            <a:r>
              <a:rPr sz="1500" b="1" i="0">
                <a:solidFill>
                  <a:srgbClr val="1F2933"/>
                </a:solidFill>
                <a:latin typeface="Calibri"/>
              </a:rPr>
              <a:t>The full 10 x 10 x 10 grid. </a:t>
            </a:r>
            <a:r>
              <a:rPr sz="1500" b="0" i="0">
                <a:solidFill>
                  <a:srgbClr val="1F2933"/>
                </a:solidFill>
                <a:latin typeface="Calibri"/>
              </a:rPr>
              <a:t>Every value from 0.1 to 1.0 for semantic, lexical and recency: 1,000 weightings, each answered and graded.</a:t>
            </a:r>
          </a:p>
          <a:p>
            <a:pPr algn="l" marL="342900" indent="-342900">
              <a:lnSpc>
                <a:spcPct val="145000"/>
              </a:lnSpc>
              <a:spcBef>
                <a:spcPts val="200"/>
              </a:spcBef>
              <a:spcAft>
                <a:spcPts val="0"/>
              </a:spcAft>
              <a:buClr>
                <a:srgbClr val="1F2933"/>
              </a:buClr>
              <a:buFont typeface="Calibri"/>
              <a:buChar char="•"/>
            </a:pPr>
            <a:r>
              <a:rPr sz="1500" b="1" i="0">
                <a:solidFill>
                  <a:srgbClr val="1F2933"/>
                </a:solidFill>
                <a:latin typeface="Calibri"/>
              </a:rPr>
              <a:t>Two benchmarks, two answer models. </a:t>
            </a:r>
            <a:r>
              <a:rPr sz="1500" b="0" i="0">
                <a:solidFill>
                  <a:srgbClr val="1F2933"/>
                </a:solidFill>
                <a:latin typeface="Calibri"/>
              </a:rPr>
              <a:t>MQuAKE-T and ConvoMem; Llama 3.1 8B (fast, no reasoning) and Qwen3 8B (reasoning).</a:t>
            </a:r>
          </a:p>
          <a:p>
            <a:pPr algn="l" marL="342900" indent="-342900">
              <a:lnSpc>
                <a:spcPct val="145000"/>
              </a:lnSpc>
              <a:spcBef>
                <a:spcPts val="200"/>
              </a:spcBef>
              <a:spcAft>
                <a:spcPts val="0"/>
              </a:spcAft>
              <a:buClr>
                <a:srgbClr val="1F2933"/>
              </a:buClr>
              <a:buFont typeface="Calibri"/>
              <a:buChar char="•"/>
            </a:pPr>
            <a:r>
              <a:rPr sz="1500" b="1" i="0">
                <a:solidFill>
                  <a:srgbClr val="1F2933"/>
                </a:solidFill>
                <a:latin typeface="Calibri"/>
              </a:rPr>
              <a:t>Measured at two levels. </a:t>
            </a:r>
            <a:r>
              <a:rPr sz="1500" b="0" i="0">
                <a:solidFill>
                  <a:srgbClr val="1F2933"/>
                </a:solidFill>
                <a:latin typeface="Calibri"/>
              </a:rPr>
              <a:t>Retrieval (does the correct or the outdated fact reach the prompt) for P0 and P2, and real answers for P2.</a:t>
            </a:r>
          </a:p>
          <a:p>
            <a:pPr algn="l" marL="342900" indent="-342900">
              <a:lnSpc>
                <a:spcPct val="145000"/>
              </a:lnSpc>
              <a:spcBef>
                <a:spcPts val="200"/>
              </a:spcBef>
              <a:spcAft>
                <a:spcPts val="0"/>
              </a:spcAft>
              <a:buClr>
                <a:srgbClr val="1F2933"/>
              </a:buClr>
              <a:buFont typeface="Calibri"/>
              <a:buChar char="•"/>
            </a:pPr>
            <a:r>
              <a:rPr sz="1500" b="1" i="0">
                <a:solidFill>
                  <a:srgbClr val="1F2933"/>
                </a:solidFill>
                <a:latin typeface="Calibri"/>
              </a:rPr>
              <a:t>Output. </a:t>
            </a:r>
            <a:r>
              <a:rPr sz="1500" b="0" i="0">
                <a:solidFill>
                  <a:srgbClr val="1F2933"/>
                </a:solidFill>
                <a:latin typeface="Calibri"/>
              </a:rPr>
              <a:t>37,572 graded answers, a full analysis report, and a recommendation for how the weights should be chosen.</a:t>
            </a:r>
          </a:p>
        </p:txBody>
      </p:sp>
      <p:sp>
        <p:nvSpPr>
          <p:cNvPr id="5" name="Rectangle 4"/>
          <p:cNvSpPr/>
          <p:nvPr/>
        </p:nvSpPr>
        <p:spPr>
          <a:xfrm>
            <a:off x="640080" y="4983480"/>
            <a:ext cx="10881360" cy="1143000"/>
          </a:xfrm>
          <a:prstGeom prst="rect">
            <a:avLst/>
          </a:prstGeom>
          <a:solidFill>
            <a:srgbClr val="F7F8F9"/>
          </a:solidFill>
          <a:ln>
            <a:noFill/>
          </a:ln>
        </p:spPr>
        <p:txBody>
          <a:bodyPr rtlCol="0" anchor="ctr"/>
          <a:lstStyle/>
          <a:p>
            <a:pPr algn="ctr"/>
          </a:p>
        </p:txBody>
      </p:sp>
      <p:sp>
        <p:nvSpPr>
          <p:cNvPr id="6" name="Rectangle 5"/>
          <p:cNvSpPr/>
          <p:nvPr/>
        </p:nvSpPr>
        <p:spPr>
          <a:xfrm>
            <a:off x="640080" y="4983480"/>
            <a:ext cx="36576" cy="1143000"/>
          </a:xfrm>
          <a:prstGeom prst="rect">
            <a:avLst/>
          </a:prstGeom>
          <a:solidFill>
            <a:srgbClr val="0F766E"/>
          </a:solidFill>
          <a:ln>
            <a:noFill/>
          </a:ln>
        </p:spPr>
        <p:txBody>
          <a:bodyPr rtlCol="0" anchor="ctr"/>
          <a:lstStyle/>
          <a:p>
            <a:pPr algn="ctr"/>
          </a:p>
        </p:txBody>
      </p:sp>
      <p:sp>
        <p:nvSpPr>
          <p:cNvPr id="7" name="TextBox 6"/>
          <p:cNvSpPr txBox="1"/>
          <p:nvPr/>
        </p:nvSpPr>
        <p:spPr>
          <a:xfrm>
            <a:off x="914400" y="5111496"/>
            <a:ext cx="10332720" cy="886968"/>
          </a:xfrm>
          <a:prstGeom prst="rect">
            <a:avLst/>
          </a:prstGeom>
          <a:noFill/>
        </p:spPr>
        <p:txBody>
          <a:bodyPr wrap="square" lIns="91425" rIns="91425" tIns="45700" bIns="45700" anchor="ctr"/>
          <a:lstStyle/>
          <a:p>
            <a:pPr algn="l">
              <a:spcBef>
                <a:spcPts val="0"/>
              </a:spcBef>
              <a:spcAft>
                <a:spcPts val="0"/>
              </a:spcAft>
            </a:pPr>
            <a:r>
              <a:rPr sz="1300" b="1" i="0">
                <a:solidFill>
                  <a:srgbClr val="1F2933"/>
                </a:solidFill>
                <a:latin typeface="Calibri"/>
              </a:rPr>
              <a:t>Cost and time. </a:t>
            </a:r>
            <a:r>
              <a:rPr sz="1300" b="0" i="0">
                <a:solidFill>
                  <a:srgbClr val="1F2933"/>
                </a:solidFill>
                <a:latin typeface="Calibri"/>
              </a:rPr>
              <a:t>About $5 of OpenRouter credit and roughly 10 hours. The same run on the laptop was on course for about 7.5 days.</a:t>
            </a:r>
          </a:p>
          <a:p>
            <a:pPr algn="l">
              <a:spcBef>
                <a:spcPts val="600"/>
              </a:spcBef>
              <a:spcAft>
                <a:spcPts val="0"/>
              </a:spcAft>
            </a:pPr>
            <a:r>
              <a:rPr sz="1300" b="1" i="0">
                <a:solidFill>
                  <a:srgbClr val="1F2933"/>
                </a:solidFill>
                <a:latin typeface="Calibri"/>
              </a:rPr>
              <a:t>Headline. </a:t>
            </a:r>
            <a:r>
              <a:rPr sz="1300" b="0" i="0">
                <a:solidFill>
                  <a:srgbClr val="1F2933"/>
                </a:solidFill>
                <a:latin typeface="Calibri"/>
              </a:rPr>
              <a:t>The weights matter, almost entirely through one knob (recency), and no weighting can replace a forgetting policy.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How the experiment was built</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2</a:t>
            </a:r>
          </a:p>
        </p:txBody>
      </p:sp>
      <p:graphicFrame>
        <p:nvGraphicFramePr>
          <p:cNvPr id="4" name="Table 3"/>
          <p:cNvGraphicFramePr>
            <a:graphicFrameLocks noGrp="1"/>
          </p:cNvGraphicFramePr>
          <p:nvPr/>
        </p:nvGraphicFramePr>
        <p:xfrm>
          <a:off x="640080" y="1417320"/>
          <a:ext cx="5669280" cy="2926080"/>
        </p:xfrm>
        <a:graphic>
          <a:graphicData uri="http://schemas.openxmlformats.org/drawingml/2006/table">
            <a:tbl>
              <a:tblPr firstRow="0" bandRow="0" firstCol="0" lastRow="0" lastCol="0" bandCol="0">
                <a:tableStyleId>{40A756E0-BA81-4B3E-BAA3-1FF234794D32}</a:tableStyleId>
              </a:tblPr>
              <a:tblGrid>
                <a:gridCol w="1737360"/>
                <a:gridCol w="3931920"/>
              </a:tblGrid>
              <a:tr h="365760">
                <a:tc>
                  <a:txBody>
                    <a:bodyPr wrap="square"/>
                    <a:lstStyle/>
                    <a:p>
                      <a:pPr algn="l"/>
                      <a:r>
                        <a:rPr sz="1200" b="1" i="0">
                          <a:solidFill>
                            <a:srgbClr val="1F2933"/>
                          </a:solidFill>
                          <a:latin typeface="Calibri"/>
                        </a:rPr>
                        <a:t>item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200" b="1" i="0">
                          <a:solidFill>
                            <a:srgbClr val="1F2933"/>
                          </a:solidFill>
                          <a:latin typeface="Calibri"/>
                        </a:rPr>
                        <a:t>value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65760">
                <a:tc>
                  <a:txBody>
                    <a:bodyPr wrap="square"/>
                    <a:lstStyle/>
                    <a:p>
                      <a:pPr algn="l"/>
                      <a:r>
                        <a:rPr sz="1200" b="1" i="0">
                          <a:solidFill>
                            <a:srgbClr val="1F2933"/>
                          </a:solidFill>
                          <a:latin typeface="Calibri"/>
                        </a:rPr>
                        <a:t>grid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10 x 10 x 10 = 1,000 weightings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200" b="1" i="0">
                          <a:solidFill>
                            <a:srgbClr val="1F2933"/>
                          </a:solidFill>
                          <a:latin typeface="Calibri"/>
                        </a:rPr>
                        <a:t>benchmarks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MQuAKE-T (96 q), ConvoMem (100 q)</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200" b="1" i="0">
                          <a:solidFill>
                            <a:srgbClr val="1F2933"/>
                          </a:solidFill>
                          <a:latin typeface="Calibri"/>
                        </a:rPr>
                        <a:t>policies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P2 answered; P0 and P2 at retrieval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200" b="1" i="0">
                          <a:solidFill>
                            <a:srgbClr val="1F2933"/>
                          </a:solidFill>
                          <a:latin typeface="Calibri"/>
                        </a:rPr>
                        <a:t>answer models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Llama 3.1 8B, Qwen3 8B (reasoning)</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200" b="1" i="0">
                          <a:solidFill>
                            <a:srgbClr val="1F2933"/>
                          </a:solidFill>
                          <a:latin typeface="Calibri"/>
                        </a:rPr>
                        <a:t>judge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gpt-oss 20B, plus a rule for clear cases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200" b="1" i="0">
                          <a:solidFill>
                            <a:srgbClr val="1F2933"/>
                          </a:solidFill>
                          <a:latin typeface="Calibri"/>
                        </a:rPr>
                        <a:t>retrieval depth</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k = 25 facts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200" b="1" i="0">
                          <a:solidFill>
                            <a:srgbClr val="1F2933"/>
                          </a:solidFill>
                          <a:latin typeface="Calibri"/>
                        </a:rPr>
                        <a:t>graded answers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37,572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5" name="TextBox 4"/>
          <p:cNvSpPr txBox="1"/>
          <p:nvPr/>
        </p:nvSpPr>
        <p:spPr>
          <a:xfrm>
            <a:off x="6629400" y="1417320"/>
            <a:ext cx="493776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What made it affordable</a:t>
            </a:r>
          </a:p>
        </p:txBody>
      </p:sp>
      <p:sp>
        <p:nvSpPr>
          <p:cNvPr id="6" name="TextBox 5"/>
          <p:cNvSpPr txBox="1"/>
          <p:nvPr/>
        </p:nvSpPr>
        <p:spPr>
          <a:xfrm>
            <a:off x="6629400" y="1783080"/>
            <a:ext cx="4937760" cy="3108960"/>
          </a:xfrm>
          <a:prstGeom prst="rect">
            <a:avLst/>
          </a:prstGeom>
          <a:noFill/>
        </p:spPr>
        <p:txBody>
          <a:bodyPr wrap="square" lIns="91425" rIns="91425" tIns="45700" bIns="45700" anchor="t"/>
          <a:lstStyle/>
          <a:p>
            <a:pPr algn="l" marL="342900" indent="-342900">
              <a:lnSpc>
                <a:spcPct val="125000"/>
              </a:lnSpc>
              <a:spcBef>
                <a:spcPts val="400"/>
              </a:spcBef>
              <a:spcAft>
                <a:spcPts val="0"/>
              </a:spcAft>
              <a:buClr>
                <a:srgbClr val="1F2933"/>
              </a:buClr>
              <a:buFont typeface="Calibri"/>
              <a:buChar char="•"/>
            </a:pPr>
            <a:r>
              <a:rPr sz="1300" b="1" i="0">
                <a:solidFill>
                  <a:srgbClr val="1F2933"/>
                </a:solidFill>
                <a:latin typeface="Calibri"/>
              </a:rPr>
              <a:t>Only the ratio matters. </a:t>
            </a:r>
            <a:r>
              <a:rPr sz="1300" b="0" i="0">
                <a:solidFill>
                  <a:srgbClr val="1F2933"/>
                </a:solidFill>
                <a:latin typeface="Calibri"/>
              </a:rPr>
              <a:t>Of 1,000 weightings, 841 rank facts differently.</a:t>
            </a:r>
          </a:p>
          <a:p>
            <a:pPr algn="l" marL="342900" indent="-342900">
              <a:lnSpc>
                <a:spcPct val="125000"/>
              </a:lnSpc>
              <a:spcBef>
                <a:spcPts val="400"/>
              </a:spcBef>
              <a:spcAft>
                <a:spcPts val="0"/>
              </a:spcAft>
              <a:buClr>
                <a:srgbClr val="1F2933"/>
              </a:buClr>
              <a:buFont typeface="Calibri"/>
              <a:buChar char="•"/>
            </a:pPr>
            <a:r>
              <a:rPr sz="1300" b="1" i="0">
                <a:solidFill>
                  <a:srgbClr val="1F2933"/>
                </a:solidFill>
                <a:latin typeface="Calibri"/>
              </a:rPr>
              <a:t>Facts listed by date. </a:t>
            </a:r>
            <a:r>
              <a:rPr sz="1300" b="0" i="0">
                <a:solidFill>
                  <a:srgbClr val="1F2933"/>
                </a:solidFill>
                <a:latin typeface="Calibri"/>
              </a:rPr>
              <a:t>Prompts depend only on which facts are picked: 111,500 prompts became 17,036.</a:t>
            </a:r>
          </a:p>
          <a:p>
            <a:pPr algn="l" marL="342900" indent="-342900">
              <a:lnSpc>
                <a:spcPct val="125000"/>
              </a:lnSpc>
              <a:spcBef>
                <a:spcPts val="400"/>
              </a:spcBef>
              <a:spcAft>
                <a:spcPts val="0"/>
              </a:spcAft>
              <a:buClr>
                <a:srgbClr val="1F2933"/>
              </a:buClr>
              <a:buFont typeface="Calibri"/>
              <a:buChar char="•"/>
            </a:pPr>
            <a:r>
              <a:rPr sz="1300" b="1" i="0">
                <a:solidFill>
                  <a:srgbClr val="1F2933"/>
                </a:solidFill>
                <a:latin typeface="Calibri"/>
              </a:rPr>
              <a:t>Rule grader. </a:t>
            </a:r>
            <a:r>
              <a:rPr sz="1300" b="0" i="0">
                <a:solidFill>
                  <a:srgbClr val="1F2933"/>
                </a:solidFill>
                <a:latin typeface="Calibri"/>
              </a:rPr>
              <a:t>Clear cases graded without a model; agrees with the judge on 98.9% of audited answers.</a:t>
            </a:r>
          </a:p>
          <a:p>
            <a:pPr algn="l" marL="342900" indent="-342900">
              <a:lnSpc>
                <a:spcPct val="125000"/>
              </a:lnSpc>
              <a:spcBef>
                <a:spcPts val="400"/>
              </a:spcBef>
              <a:spcAft>
                <a:spcPts val="0"/>
              </a:spcAft>
              <a:buClr>
                <a:srgbClr val="1F2933"/>
              </a:buClr>
              <a:buFont typeface="Calibri"/>
              <a:buChar char="•"/>
            </a:pPr>
            <a:r>
              <a:rPr sz="1300" b="1" i="0">
                <a:solidFill>
                  <a:srgbClr val="1F2933"/>
                </a:solidFill>
                <a:latin typeface="Calibri"/>
              </a:rPr>
              <a:t>Hosted models. </a:t>
            </a:r>
            <a:r>
              <a:rPr sz="1300" b="0" i="0">
                <a:solidFill>
                  <a:srgbClr val="1F2933"/>
                </a:solidFill>
                <a:latin typeface="Calibri"/>
              </a:rPr>
              <a:t>Qwen3 took 32 s per answer locally, 1.2 s on OpenRouter.</a:t>
            </a:r>
          </a:p>
        </p:txBody>
      </p:sp>
      <p:sp>
        <p:nvSpPr>
          <p:cNvPr id="7" name="Rectangle 6"/>
          <p:cNvSpPr/>
          <p:nvPr/>
        </p:nvSpPr>
        <p:spPr>
          <a:xfrm>
            <a:off x="640080" y="5074920"/>
            <a:ext cx="10881360" cy="1051560"/>
          </a:xfrm>
          <a:prstGeom prst="rect">
            <a:avLst/>
          </a:prstGeom>
          <a:solidFill>
            <a:srgbClr val="F7F8F9"/>
          </a:solidFill>
          <a:ln>
            <a:noFill/>
          </a:ln>
        </p:spPr>
        <p:txBody>
          <a:bodyPr rtlCol="0" anchor="ctr"/>
          <a:lstStyle/>
          <a:p>
            <a:pPr algn="ctr"/>
          </a:p>
        </p:txBody>
      </p:sp>
      <p:sp>
        <p:nvSpPr>
          <p:cNvPr id="8" name="Rectangle 7"/>
          <p:cNvSpPr/>
          <p:nvPr/>
        </p:nvSpPr>
        <p:spPr>
          <a:xfrm>
            <a:off x="640080" y="5074920"/>
            <a:ext cx="36576" cy="1051560"/>
          </a:xfrm>
          <a:prstGeom prst="rect">
            <a:avLst/>
          </a:prstGeom>
          <a:solidFill>
            <a:srgbClr val="0F766E"/>
          </a:solidFill>
          <a:ln>
            <a:noFill/>
          </a:ln>
        </p:spPr>
        <p:txBody>
          <a:bodyPr rtlCol="0" anchor="ctr"/>
          <a:lstStyle/>
          <a:p>
            <a:pPr algn="ctr"/>
          </a:p>
        </p:txBody>
      </p:sp>
      <p:sp>
        <p:nvSpPr>
          <p:cNvPr id="9" name="TextBox 8"/>
          <p:cNvSpPr txBox="1"/>
          <p:nvPr/>
        </p:nvSpPr>
        <p:spPr>
          <a:xfrm>
            <a:off x="914400" y="5202936"/>
            <a:ext cx="10332720" cy="795527"/>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One caveat to state. </a:t>
            </a:r>
            <a:r>
              <a:rPr sz="1250" b="0" i="0">
                <a:solidFill>
                  <a:srgbClr val="1F2933"/>
                </a:solidFill>
                <a:latin typeface="Calibri"/>
              </a:rPr>
              <a:t>Facts were listed by date, so this measures which facts the weights let in, not whether their order matters. Every retrieval number is identical under either order.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Accuracy is retrieval times reading</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3</a:t>
            </a:r>
          </a:p>
        </p:txBody>
      </p:sp>
      <p:graphicFrame>
        <p:nvGraphicFramePr>
          <p:cNvPr id="4" name="Table 3"/>
          <p:cNvGraphicFramePr>
            <a:graphicFrameLocks noGrp="1"/>
          </p:cNvGraphicFramePr>
          <p:nvPr/>
        </p:nvGraphicFramePr>
        <p:xfrm>
          <a:off x="640080" y="1417320"/>
          <a:ext cx="6035040" cy="1920240"/>
        </p:xfrm>
        <a:graphic>
          <a:graphicData uri="http://schemas.openxmlformats.org/drawingml/2006/table">
            <a:tbl>
              <a:tblPr firstRow="0" bandRow="0" firstCol="0" lastRow="0" lastCol="0" bandCol="0">
                <a:tableStyleId>{40A756E0-BA81-4B3E-BAA3-1FF234794D32}</a:tableStyleId>
              </a:tblPr>
              <a:tblGrid>
                <a:gridCol w="1600200"/>
                <a:gridCol w="1508760"/>
                <a:gridCol w="1463040"/>
                <a:gridCol w="1463040"/>
              </a:tblGrid>
              <a:tr h="384048">
                <a:tc>
                  <a:txBody>
                    <a:bodyPr wrap="square"/>
                    <a:lstStyle/>
                    <a:p>
                      <a:pPr algn="l"/>
                      <a:r>
                        <a:rPr sz="1150" b="1" i="0">
                          <a:solidFill>
                            <a:srgbClr val="1F2933"/>
                          </a:solidFill>
                          <a:latin typeface="Calibri"/>
                        </a:rPr>
                        <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correct, if fact present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correct, if fact absent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stale, if old fact present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84048">
                <a:tc>
                  <a:txBody>
                    <a:bodyPr wrap="square"/>
                    <a:lstStyle/>
                    <a:p>
                      <a:pPr algn="l"/>
                      <a:r>
                        <a:rPr sz="1150" b="1" i="0">
                          <a:solidFill>
                            <a:srgbClr val="1F2933"/>
                          </a:solidFill>
                          <a:latin typeface="Calibri"/>
                        </a:rPr>
                        <a:t>MQuAKE-T, Llama</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0.86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0.00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0.16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l"/>
                      <a:r>
                        <a:rPr sz="1150" b="1" i="0">
                          <a:solidFill>
                            <a:srgbClr val="1F2933"/>
                          </a:solidFill>
                          <a:latin typeface="Calibri"/>
                        </a:rPr>
                        <a:t>MQuAKE-T, Qwen3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0.97</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0.00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l"/>
                      <a:r>
                        <a:rPr sz="1150" b="1" i="0">
                          <a:solidFill>
                            <a:srgbClr val="1F2933"/>
                          </a:solidFill>
                          <a:latin typeface="Calibri"/>
                        </a:rPr>
                        <a:t>ConvoMem, Llama</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0.48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0.32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l"/>
                      <a:r>
                        <a:rPr sz="1150" b="1" i="0">
                          <a:solidFill>
                            <a:srgbClr val="1F2933"/>
                          </a:solidFill>
                          <a:latin typeface="Calibri"/>
                        </a:rPr>
                        <a:t>ConvoMem, Qwen3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0.57</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0.33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5" name="TextBox 4"/>
          <p:cNvSpPr txBox="1"/>
          <p:nvPr/>
        </p:nvSpPr>
        <p:spPr>
          <a:xfrm>
            <a:off x="640080" y="3520440"/>
            <a:ext cx="6035040" cy="1554480"/>
          </a:xfrm>
          <a:prstGeom prst="rect">
            <a:avLst/>
          </a:prstGeom>
          <a:noFill/>
        </p:spPr>
        <p:txBody>
          <a:bodyPr wrap="square" lIns="91425" rIns="91425" tIns="45700" bIns="45700" anchor="t"/>
          <a:lstStyle/>
          <a:p>
            <a:pPr algn="l" marL="342900" indent="-342900">
              <a:lnSpc>
                <a:spcPct val="125000"/>
              </a:lnSpc>
              <a:spcBef>
                <a:spcPts val="300"/>
              </a:spcBef>
              <a:spcAft>
                <a:spcPts val="0"/>
              </a:spcAft>
              <a:buClr>
                <a:srgbClr val="1F2933"/>
              </a:buClr>
              <a:buFont typeface="Calibri"/>
              <a:buChar char="•"/>
            </a:pPr>
            <a:r>
              <a:rPr sz="1250" b="1" i="0">
                <a:solidFill>
                  <a:srgbClr val="1F2933"/>
                </a:solidFill>
                <a:latin typeface="Calibri"/>
              </a:rPr>
              <a:t>The weights only decide whether the right fact arrives. </a:t>
            </a:r>
            <a:r>
              <a:rPr sz="1250" b="0" i="0">
                <a:solidFill>
                  <a:srgbClr val="1F2933"/>
                </a:solidFill>
                <a:latin typeface="Calibri"/>
              </a:rPr>
              <a:t>Across weightings, that predicts accuracy at r = 0.99 and 0.96.</a:t>
            </a:r>
          </a:p>
          <a:p>
            <a:pPr algn="l" marL="342900" indent="-342900">
              <a:lnSpc>
                <a:spcPct val="125000"/>
              </a:lnSpc>
              <a:spcBef>
                <a:spcPts val="300"/>
              </a:spcBef>
              <a:spcAft>
                <a:spcPts val="0"/>
              </a:spcAft>
              <a:buClr>
                <a:srgbClr val="1F2933"/>
              </a:buClr>
              <a:buFont typeface="Calibri"/>
              <a:buChar char="•"/>
            </a:pPr>
            <a:r>
              <a:rPr sz="1250" b="1" i="0">
                <a:solidFill>
                  <a:srgbClr val="1F2933"/>
                </a:solidFill>
                <a:latin typeface="Calibri"/>
              </a:rPr>
              <a:t>No pretraining leakage on MQuAKE-T: </a:t>
            </a:r>
            <a:r>
              <a:rPr sz="1250" b="0" i="0">
                <a:solidFill>
                  <a:srgbClr val="1F2933"/>
                </a:solidFill>
                <a:latin typeface="Calibri"/>
              </a:rPr>
              <a:t>without the fact, accuracy is 0.00.</a:t>
            </a:r>
          </a:p>
          <a:p>
            <a:pPr algn="l" marL="342900" indent="-342900">
              <a:lnSpc>
                <a:spcPct val="125000"/>
              </a:lnSpc>
              <a:spcBef>
                <a:spcPts val="300"/>
              </a:spcBef>
              <a:spcAft>
                <a:spcPts val="0"/>
              </a:spcAft>
              <a:buClr>
                <a:srgbClr val="1F2933"/>
              </a:buClr>
              <a:buFont typeface="Calibri"/>
              <a:buChar char="•"/>
            </a:pPr>
            <a:r>
              <a:rPr sz="1250" b="1" i="0">
                <a:solidFill>
                  <a:srgbClr val="1F2933"/>
                </a:solidFill>
                <a:latin typeface="Calibri"/>
              </a:rPr>
              <a:t>A stale answer never happens unless the old fact is in the prompt.</a:t>
            </a:r>
          </a:p>
        </p:txBody>
      </p:sp>
      <p:pic>
        <p:nvPicPr>
          <p:cNvPr id="6" name="Picture 5" descr="s_acc_gold.png"/>
          <p:cNvPicPr>
            <a:picLocks noChangeAspect="1"/>
          </p:cNvPicPr>
          <p:nvPr/>
        </p:nvPicPr>
        <p:blipFill>
          <a:blip r:embed="rId2"/>
          <a:stretch>
            <a:fillRect/>
          </a:stretch>
        </p:blipFill>
        <p:spPr>
          <a:xfrm>
            <a:off x="6903720" y="1325880"/>
            <a:ext cx="4663440" cy="3497580"/>
          </a:xfrm>
          <a:prstGeom prst="rect">
            <a:avLst/>
          </a:prstGeom>
        </p:spPr>
      </p:pic>
      <p:sp>
        <p:nvSpPr>
          <p:cNvPr id="7" name="Rectangle 6"/>
          <p:cNvSpPr/>
          <p:nvPr/>
        </p:nvSpPr>
        <p:spPr>
          <a:xfrm>
            <a:off x="640080" y="5257800"/>
            <a:ext cx="10881360" cy="868680"/>
          </a:xfrm>
          <a:prstGeom prst="rect">
            <a:avLst/>
          </a:prstGeom>
          <a:solidFill>
            <a:srgbClr val="F7F8F9"/>
          </a:solidFill>
          <a:ln>
            <a:noFill/>
          </a:ln>
        </p:spPr>
        <p:txBody>
          <a:bodyPr rtlCol="0" anchor="ctr"/>
          <a:lstStyle/>
          <a:p>
            <a:pPr algn="ctr"/>
          </a:p>
        </p:txBody>
      </p:sp>
      <p:sp>
        <p:nvSpPr>
          <p:cNvPr id="8" name="Rectangle 7"/>
          <p:cNvSpPr/>
          <p:nvPr/>
        </p:nvSpPr>
        <p:spPr>
          <a:xfrm>
            <a:off x="640080" y="5257800"/>
            <a:ext cx="36576" cy="868680"/>
          </a:xfrm>
          <a:prstGeom prst="rect">
            <a:avLst/>
          </a:prstGeom>
          <a:solidFill>
            <a:srgbClr val="0F766E"/>
          </a:solidFill>
          <a:ln>
            <a:noFill/>
          </a:ln>
        </p:spPr>
        <p:txBody>
          <a:bodyPr rtlCol="0" anchor="ctr"/>
          <a:lstStyle/>
          <a:p>
            <a:pPr algn="ctr"/>
          </a:p>
        </p:txBody>
      </p:sp>
      <p:sp>
        <p:nvSpPr>
          <p:cNvPr id="9" name="TextBox 8"/>
          <p:cNvSpPr txBox="1"/>
          <p:nvPr/>
        </p:nvSpPr>
        <p:spPr>
          <a:xfrm>
            <a:off x="914400" y="5385816"/>
            <a:ext cx="10332720" cy="612647"/>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So the whole problem has two levers: </a:t>
            </a:r>
            <a:r>
              <a:rPr sz="1250" b="0" i="0">
                <a:solidFill>
                  <a:srgbClr val="1F2933"/>
                </a:solidFill>
                <a:latin typeface="Calibri"/>
              </a:rPr>
              <a:t>get the correct fact into the prompt (retrieval), and keep the outdated one out (forgetting). The model only decides how well it reads what it is given.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Recency is the knob, and it has a cliff at 20%</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4</a:t>
            </a:r>
          </a:p>
        </p:txBody>
      </p:sp>
      <p:sp>
        <p:nvSpPr>
          <p:cNvPr id="4" name="TextBox 3"/>
          <p:cNvSpPr txBox="1"/>
          <p:nvPr/>
        </p:nvSpPr>
        <p:spPr>
          <a:xfrm>
            <a:off x="640080" y="1371600"/>
            <a:ext cx="585216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Accuracy by recency's share of the total weight</a:t>
            </a:r>
          </a:p>
        </p:txBody>
      </p:sp>
      <p:graphicFrame>
        <p:nvGraphicFramePr>
          <p:cNvPr id="5" name="Chart 4"/>
          <p:cNvGraphicFramePr>
            <a:graphicFrameLocks noGrp="1"/>
          </p:cNvGraphicFramePr>
          <p:nvPr/>
        </p:nvGraphicFramePr>
        <p:xfrm>
          <a:off x="640080" y="1645920"/>
          <a:ext cx="5943600" cy="3108960"/>
        </p:xfrm>
        <a:graphic>
          <a:graphicData uri="http://schemas.openxmlformats.org/drawingml/2006/chart">
            <c:chart xmlns:c="http://schemas.openxmlformats.org/drawingml/2006/chart" r:id="rId2"/>
          </a:graphicData>
        </a:graphic>
      </p:graphicFrame>
      <p:sp>
        <p:nvSpPr>
          <p:cNvPr id="6" name="TextBox 5"/>
          <p:cNvSpPr txBox="1"/>
          <p:nvPr/>
        </p:nvSpPr>
        <p:spPr>
          <a:xfrm>
            <a:off x="6903720" y="1371600"/>
            <a:ext cx="466344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Share of the variation each weight explains</a:t>
            </a:r>
          </a:p>
        </p:txBody>
      </p:sp>
      <p:graphicFrame>
        <p:nvGraphicFramePr>
          <p:cNvPr id="7" name="Table 6"/>
          <p:cNvGraphicFramePr>
            <a:graphicFrameLocks noGrp="1"/>
          </p:cNvGraphicFramePr>
          <p:nvPr/>
        </p:nvGraphicFramePr>
        <p:xfrm>
          <a:off x="6903720" y="1691640"/>
          <a:ext cx="4617720" cy="1828800"/>
        </p:xfrm>
        <a:graphic>
          <a:graphicData uri="http://schemas.openxmlformats.org/drawingml/2006/table">
            <a:tbl>
              <a:tblPr firstRow="0" bandRow="0" firstCol="0" lastRow="0" lastCol="0" bandCol="0">
                <a:tableStyleId>{40A756E0-BA81-4B3E-BAA3-1FF234794D32}</a:tableStyleId>
              </a:tblPr>
              <a:tblGrid>
                <a:gridCol w="1965960"/>
                <a:gridCol w="868680"/>
                <a:gridCol w="868680"/>
                <a:gridCol w="914400"/>
              </a:tblGrid>
              <a:tr h="365760">
                <a:tc>
                  <a:txBody>
                    <a:bodyPr wrap="square"/>
                    <a:lstStyle/>
                    <a:p>
                      <a:pPr algn="l"/>
                      <a:r>
                        <a:rPr sz="1100" b="1" i="0">
                          <a:solidFill>
                            <a:srgbClr val="1F2933"/>
                          </a:solidFill>
                          <a:latin typeface="Calibri"/>
                        </a:rPr>
                        <a:t>outcome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00" b="1" i="0">
                          <a:solidFill>
                            <a:srgbClr val="1F2933"/>
                          </a:solidFill>
                          <a:latin typeface="Calibri"/>
                        </a:rPr>
                        <a:t>semantic</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00" b="1" i="0">
                          <a:solidFill>
                            <a:srgbClr val="1F2933"/>
                          </a:solidFill>
                          <a:latin typeface="Calibri"/>
                        </a:rPr>
                        <a:t>lexical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00" b="1" i="0">
                          <a:solidFill>
                            <a:srgbClr val="1F2933"/>
                          </a:solidFill>
                          <a:latin typeface="Calibri"/>
                        </a:rPr>
                        <a:t>recency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65760">
                <a:tc>
                  <a:txBody>
                    <a:bodyPr wrap="square"/>
                    <a:lstStyle/>
                    <a:p>
                      <a:pPr algn="l"/>
                      <a:r>
                        <a:rPr sz="1100" b="0" i="0">
                          <a:solidFill>
                            <a:srgbClr val="1F2933"/>
                          </a:solidFill>
                          <a:latin typeface="Calibri"/>
                        </a:rPr>
                        <a:t>MQuAKE-T accuracy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20%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14%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1" i="0">
                          <a:solidFill>
                            <a:srgbClr val="0F766E"/>
                          </a:solidFill>
                          <a:latin typeface="Calibri"/>
                        </a:rPr>
                        <a:t>50%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00" b="0" i="0">
                          <a:solidFill>
                            <a:srgbClr val="1F2933"/>
                          </a:solidFill>
                          <a:latin typeface="Calibri"/>
                        </a:rPr>
                        <a:t>ConvoMem accuracy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34%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1" i="0">
                          <a:solidFill>
                            <a:srgbClr val="0F766E"/>
                          </a:solidFill>
                          <a:latin typeface="Calibri"/>
                        </a:rPr>
                        <a:t>48%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00" b="0" i="0">
                          <a:solidFill>
                            <a:srgbClr val="1F2933"/>
                          </a:solidFill>
                          <a:latin typeface="Calibri"/>
                        </a:rPr>
                        <a:t>MQuAKE-T, fact present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19%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16%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1" i="0">
                          <a:solidFill>
                            <a:srgbClr val="0F766E"/>
                          </a:solidFill>
                          <a:latin typeface="Calibri"/>
                        </a:rPr>
                        <a:t>54%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100" b="0" i="0">
                          <a:solidFill>
                            <a:srgbClr val="1F2933"/>
                          </a:solidFill>
                          <a:latin typeface="Calibri"/>
                        </a:rPr>
                        <a:t>ConvoMem, fact present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29%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1" i="0">
                          <a:solidFill>
                            <a:srgbClr val="0F766E"/>
                          </a:solidFill>
                          <a:latin typeface="Calibri"/>
                        </a:rPr>
                        <a:t>60%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8" name="TextBox 7"/>
          <p:cNvSpPr txBox="1"/>
          <p:nvPr/>
        </p:nvSpPr>
        <p:spPr>
          <a:xfrm>
            <a:off x="6903720" y="3657600"/>
            <a:ext cx="4617720" cy="914400"/>
          </a:xfrm>
          <a:prstGeom prst="rect">
            <a:avLst/>
          </a:prstGeom>
          <a:noFill/>
        </p:spPr>
        <p:txBody>
          <a:bodyPr wrap="square" lIns="91425" rIns="91425" tIns="45700" bIns="45700" anchor="t"/>
          <a:lstStyle/>
          <a:p>
            <a:pPr algn="l">
              <a:spcBef>
                <a:spcPts val="0"/>
              </a:spcBef>
              <a:spcAft>
                <a:spcPts val="0"/>
              </a:spcAft>
            </a:pPr>
            <a:r>
              <a:rPr sz="1150" b="0" i="0">
                <a:solidFill>
                  <a:srgbClr val="7B8794"/>
                </a:solidFill>
                <a:latin typeface="Calibri"/>
              </a:rPr>
              <a:t>Interactions between weights explain at most 6% of accuracy: they act mostly independently.</a:t>
            </a:r>
          </a:p>
        </p:txBody>
      </p:sp>
      <p:sp>
        <p:nvSpPr>
          <p:cNvPr id="9" name="Rectangle 8"/>
          <p:cNvSpPr/>
          <p:nvPr/>
        </p:nvSpPr>
        <p:spPr>
          <a:xfrm>
            <a:off x="640080" y="4983480"/>
            <a:ext cx="10881360" cy="1143000"/>
          </a:xfrm>
          <a:prstGeom prst="rect">
            <a:avLst/>
          </a:prstGeom>
          <a:solidFill>
            <a:srgbClr val="F7F8F9"/>
          </a:solidFill>
          <a:ln>
            <a:noFill/>
          </a:ln>
        </p:spPr>
        <p:txBody>
          <a:bodyPr rtlCol="0" anchor="ctr"/>
          <a:lstStyle/>
          <a:p>
            <a:pPr algn="ctr"/>
          </a:p>
        </p:txBody>
      </p:sp>
      <p:sp>
        <p:nvSpPr>
          <p:cNvPr id="10" name="Rectangle 9"/>
          <p:cNvSpPr/>
          <p:nvPr/>
        </p:nvSpPr>
        <p:spPr>
          <a:xfrm>
            <a:off x="640080" y="4983480"/>
            <a:ext cx="36576" cy="1143000"/>
          </a:xfrm>
          <a:prstGeom prst="rect">
            <a:avLst/>
          </a:prstGeom>
          <a:solidFill>
            <a:srgbClr val="0F766E"/>
          </a:solidFill>
          <a:ln>
            <a:noFill/>
          </a:ln>
        </p:spPr>
        <p:txBody>
          <a:bodyPr rtlCol="0" anchor="ctr"/>
          <a:lstStyle/>
          <a:p>
            <a:pPr algn="ctr"/>
          </a:p>
        </p:txBody>
      </p:sp>
      <p:sp>
        <p:nvSpPr>
          <p:cNvPr id="11" name="TextBox 10"/>
          <p:cNvSpPr txBox="1"/>
          <p:nvPr/>
        </p:nvSpPr>
        <p:spPr>
          <a:xfrm>
            <a:off x="914400" y="5111496"/>
            <a:ext cx="10332720" cy="88696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Why recency hurts. </a:t>
            </a:r>
            <a:r>
              <a:rPr sz="1250" b="0" i="0">
                <a:solidFill>
                  <a:srgbClr val="1F2933"/>
                </a:solidFill>
                <a:latin typeface="Calibri"/>
              </a:rPr>
              <a:t>It favours whatever arrived last, which is usually not the fact the question is about. Raising recency alone from 0.1 to 1.0 (others at 0.6 and 0.3) drops MQuAKE-T accuracy from 0.91 to 0.61, significant from 0.5 upward (p = 0.003 and below).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Every value of every weight, both models</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5</a:t>
            </a:r>
          </a:p>
        </p:txBody>
      </p:sp>
      <p:pic>
        <p:nvPicPr>
          <p:cNvPr id="4" name="Picture 3" descr="s_main_effects.png"/>
          <p:cNvPicPr>
            <a:picLocks noChangeAspect="1"/>
          </p:cNvPicPr>
          <p:nvPr/>
        </p:nvPicPr>
        <p:blipFill>
          <a:blip r:embed="rId2"/>
          <a:stretch>
            <a:fillRect/>
          </a:stretch>
        </p:blipFill>
        <p:spPr>
          <a:xfrm>
            <a:off x="640080" y="1280160"/>
            <a:ext cx="7589520" cy="3541776"/>
          </a:xfrm>
          <a:prstGeom prst="rect">
            <a:avLst/>
          </a:prstGeom>
        </p:spPr>
      </p:pic>
      <p:sp>
        <p:nvSpPr>
          <p:cNvPr id="5" name="TextBox 4"/>
          <p:cNvSpPr txBox="1"/>
          <p:nvPr/>
        </p:nvSpPr>
        <p:spPr>
          <a:xfrm>
            <a:off x="8412480" y="1417320"/>
            <a:ext cx="3154680" cy="3657600"/>
          </a:xfrm>
          <a:prstGeom prst="rect">
            <a:avLst/>
          </a:prstGeom>
          <a:noFill/>
        </p:spPr>
        <p:txBody>
          <a:bodyPr wrap="square" lIns="91425" rIns="91425" tIns="45700" bIns="45700" anchor="t"/>
          <a:lstStyle/>
          <a:p>
            <a:pPr algn="l" marL="342900" indent="-342900">
              <a:lnSpc>
                <a:spcPct val="125000"/>
              </a:lnSpc>
              <a:spcBef>
                <a:spcPts val="600"/>
              </a:spcBef>
              <a:spcAft>
                <a:spcPts val="0"/>
              </a:spcAft>
              <a:buClr>
                <a:srgbClr val="1F2933"/>
              </a:buClr>
              <a:buFont typeface="Calibri"/>
              <a:buChar char="•"/>
            </a:pPr>
            <a:r>
              <a:rPr sz="1250" b="1" i="0">
                <a:solidFill>
                  <a:srgbClr val="1F2933"/>
                </a:solidFill>
                <a:latin typeface="Calibri"/>
              </a:rPr>
              <a:t>Semantic and lexical: </a:t>
            </a:r>
            <a:r>
              <a:rPr sz="1250" b="0" i="0">
                <a:solidFill>
                  <a:srgbClr val="1F2933"/>
                </a:solidFill>
                <a:latin typeface="Calibri"/>
              </a:rPr>
              <a:t>more is better, gently.</a:t>
            </a:r>
          </a:p>
          <a:p>
            <a:pPr algn="l" marL="342900" indent="-342900">
              <a:lnSpc>
                <a:spcPct val="125000"/>
              </a:lnSpc>
              <a:spcBef>
                <a:spcPts val="600"/>
              </a:spcBef>
              <a:spcAft>
                <a:spcPts val="0"/>
              </a:spcAft>
              <a:buClr>
                <a:srgbClr val="1F2933"/>
              </a:buClr>
              <a:buFont typeface="Calibri"/>
              <a:buChar char="•"/>
            </a:pPr>
            <a:r>
              <a:rPr sz="1250" b="1" i="0">
                <a:solidFill>
                  <a:srgbClr val="1F2933"/>
                </a:solidFill>
                <a:latin typeface="Calibri"/>
              </a:rPr>
              <a:t>Recency: </a:t>
            </a:r>
            <a:r>
              <a:rPr sz="1250" b="0" i="0">
                <a:solidFill>
                  <a:srgbClr val="1F2933"/>
                </a:solidFill>
                <a:latin typeface="Calibri"/>
              </a:rPr>
              <a:t>more is worse, steeply.</a:t>
            </a:r>
          </a:p>
          <a:p>
            <a:pPr algn="l" marL="342900" indent="-342900">
              <a:lnSpc>
                <a:spcPct val="125000"/>
              </a:lnSpc>
              <a:spcBef>
                <a:spcPts val="600"/>
              </a:spcBef>
              <a:spcAft>
                <a:spcPts val="0"/>
              </a:spcAft>
              <a:buClr>
                <a:srgbClr val="1F2933"/>
              </a:buClr>
              <a:buFont typeface="Calibri"/>
              <a:buChar char="•"/>
            </a:pPr>
            <a:r>
              <a:rPr sz="1250" b="1" i="0">
                <a:solidFill>
                  <a:srgbClr val="1F2933"/>
                </a:solidFill>
                <a:latin typeface="Calibri"/>
              </a:rPr>
              <a:t>Accuracy follows the dashed line </a:t>
            </a:r>
            <a:r>
              <a:rPr sz="1250" b="0" i="0">
                <a:solidFill>
                  <a:srgbClr val="1F2933"/>
                </a:solidFill>
                <a:latin typeface="Calibri"/>
              </a:rPr>
              <a:t>(correct fact present) in every panel.</a:t>
            </a:r>
          </a:p>
          <a:p>
            <a:pPr algn="l" marL="342900" indent="-342900">
              <a:lnSpc>
                <a:spcPct val="125000"/>
              </a:lnSpc>
              <a:spcBef>
                <a:spcPts val="600"/>
              </a:spcBef>
              <a:spcAft>
                <a:spcPts val="0"/>
              </a:spcAft>
              <a:buClr>
                <a:srgbClr val="1F2933"/>
              </a:buClr>
              <a:buFont typeface="Calibri"/>
              <a:buChar char="•"/>
            </a:pPr>
            <a:r>
              <a:rPr sz="1250" b="1" i="0">
                <a:solidFill>
                  <a:srgbClr val="1F2933"/>
                </a:solidFill>
                <a:latin typeface="Calibri"/>
              </a:rPr>
              <a:t>Qwen3 sits closer to the line: </a:t>
            </a:r>
            <a:r>
              <a:rPr sz="1250" b="0" i="0">
                <a:solidFill>
                  <a:srgbClr val="1F2933"/>
                </a:solidFill>
                <a:latin typeface="Calibri"/>
              </a:rPr>
              <a:t>it reads better, but cannot exceed it.</a:t>
            </a:r>
          </a:p>
        </p:txBody>
      </p:sp>
      <p:sp>
        <p:nvSpPr>
          <p:cNvPr id="6" name="Rectangle 5"/>
          <p:cNvSpPr/>
          <p:nvPr/>
        </p:nvSpPr>
        <p:spPr>
          <a:xfrm>
            <a:off x="640080" y="5074920"/>
            <a:ext cx="10881360" cy="1051560"/>
          </a:xfrm>
          <a:prstGeom prst="rect">
            <a:avLst/>
          </a:prstGeom>
          <a:solidFill>
            <a:srgbClr val="F7F8F9"/>
          </a:solidFill>
          <a:ln>
            <a:noFill/>
          </a:ln>
        </p:spPr>
        <p:txBody>
          <a:bodyPr rtlCol="0" anchor="ctr"/>
          <a:lstStyle/>
          <a:p>
            <a:pPr algn="ctr"/>
          </a:p>
        </p:txBody>
      </p:sp>
      <p:sp>
        <p:nvSpPr>
          <p:cNvPr id="7" name="Rectangle 6"/>
          <p:cNvSpPr/>
          <p:nvPr/>
        </p:nvSpPr>
        <p:spPr>
          <a:xfrm>
            <a:off x="640080" y="5074920"/>
            <a:ext cx="36576" cy="1051560"/>
          </a:xfrm>
          <a:prstGeom prst="rect">
            <a:avLst/>
          </a:prstGeom>
          <a:solidFill>
            <a:srgbClr val="0F766E"/>
          </a:solidFill>
          <a:ln>
            <a:noFill/>
          </a:ln>
        </p:spPr>
        <p:txBody>
          <a:bodyPr rtlCol="0" anchor="ctr"/>
          <a:lstStyle/>
          <a:p>
            <a:pPr algn="ctr"/>
          </a:p>
        </p:txBody>
      </p:sp>
      <p:sp>
        <p:nvSpPr>
          <p:cNvPr id="8" name="TextBox 7"/>
          <p:cNvSpPr txBox="1"/>
          <p:nvPr/>
        </p:nvSpPr>
        <p:spPr>
          <a:xfrm>
            <a:off x="914400" y="5202936"/>
            <a:ext cx="10332720" cy="795527"/>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Reading the chart. </a:t>
            </a:r>
            <a:r>
              <a:rPr sz="1250" b="0" i="0">
                <a:solidFill>
                  <a:srgbClr val="1F2933"/>
                </a:solidFill>
                <a:latin typeface="Calibri"/>
              </a:rPr>
              <a:t>Each point averages the 100 weightings that share that value, so it includes every combination of the other two weights. This is the direct answer to 'what does changing this weight 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Semantic and lexical are interchangeable, except in conversation</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6</a:t>
            </a:r>
          </a:p>
        </p:txBody>
      </p:sp>
      <p:sp>
        <p:nvSpPr>
          <p:cNvPr id="4" name="TextBox 3"/>
          <p:cNvSpPr txBox="1"/>
          <p:nvPr/>
        </p:nvSpPr>
        <p:spPr>
          <a:xfrm>
            <a:off x="640080" y="1371600"/>
            <a:ext cx="585216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Accuracy with recency share below 0.2, by semantic share of (semantic + lexical)</a:t>
            </a:r>
          </a:p>
        </p:txBody>
      </p:sp>
      <p:graphicFrame>
        <p:nvGraphicFramePr>
          <p:cNvPr id="5" name="Chart 4"/>
          <p:cNvGraphicFramePr>
            <a:graphicFrameLocks noGrp="1"/>
          </p:cNvGraphicFramePr>
          <p:nvPr/>
        </p:nvGraphicFramePr>
        <p:xfrm>
          <a:off x="640080" y="1691640"/>
          <a:ext cx="5943600" cy="3017520"/>
        </p:xfrm>
        <a:graphic>
          <a:graphicData uri="http://schemas.openxmlformats.org/drawingml/2006/chart">
            <c:chart xmlns:c="http://schemas.openxmlformats.org/drawingml/2006/chart" r:id="rId2"/>
          </a:graphicData>
        </a:graphic>
      </p:graphicFrame>
      <p:sp>
        <p:nvSpPr>
          <p:cNvPr id="6" name="TextBox 5"/>
          <p:cNvSpPr txBox="1"/>
          <p:nvPr/>
        </p:nvSpPr>
        <p:spPr>
          <a:xfrm>
            <a:off x="6903720" y="1691640"/>
            <a:ext cx="4663440" cy="2926080"/>
          </a:xfrm>
          <a:prstGeom prst="rect">
            <a:avLst/>
          </a:prstGeom>
          <a:noFill/>
        </p:spPr>
        <p:txBody>
          <a:bodyPr wrap="square" lIns="91425" rIns="91425" tIns="45700" bIns="45700" anchor="t"/>
          <a:lstStyle/>
          <a:p>
            <a:pPr algn="l" marL="342900" indent="-342900">
              <a:lnSpc>
                <a:spcPct val="125000"/>
              </a:lnSpc>
              <a:spcBef>
                <a:spcPts val="600"/>
              </a:spcBef>
              <a:spcAft>
                <a:spcPts val="0"/>
              </a:spcAft>
              <a:buClr>
                <a:srgbClr val="1F2933"/>
              </a:buClr>
              <a:buFont typeface="Calibri"/>
              <a:buChar char="•"/>
            </a:pPr>
            <a:r>
              <a:rPr sz="1250" b="1" i="0">
                <a:solidFill>
                  <a:srgbClr val="1F2933"/>
                </a:solidFill>
                <a:latin typeface="Calibri"/>
              </a:rPr>
              <a:t>MQuAKE-T: flat. </a:t>
            </a:r>
            <a:r>
              <a:rPr sz="1250" b="0" i="0">
                <a:solidFill>
                  <a:srgbClr val="1F2933"/>
                </a:solidFill>
                <a:latin typeface="Calibri"/>
              </a:rPr>
              <a:t>Templated facts share their wording with the question, so either signal finds them.</a:t>
            </a:r>
          </a:p>
          <a:p>
            <a:pPr algn="l" marL="342900" indent="-342900">
              <a:lnSpc>
                <a:spcPct val="125000"/>
              </a:lnSpc>
              <a:spcBef>
                <a:spcPts val="600"/>
              </a:spcBef>
              <a:spcAft>
                <a:spcPts val="0"/>
              </a:spcAft>
              <a:buClr>
                <a:srgbClr val="1F2933"/>
              </a:buClr>
              <a:buFont typeface="Calibri"/>
              <a:buChar char="•"/>
            </a:pPr>
            <a:r>
              <a:rPr sz="1250" b="1" i="0">
                <a:solidFill>
                  <a:srgbClr val="1F2933"/>
                </a:solidFill>
                <a:latin typeface="Calibri"/>
              </a:rPr>
              <a:t>ConvoMem: +7 points </a:t>
            </a:r>
            <a:r>
              <a:rPr sz="1250" b="0" i="0">
                <a:solidFill>
                  <a:srgbClr val="1F2933"/>
                </a:solidFill>
                <a:latin typeface="Calibri"/>
              </a:rPr>
              <a:t>from leaning semantic. In conversation the same fact is worded differently each time, and word-matching misses it.</a:t>
            </a:r>
          </a:p>
          <a:p>
            <a:pPr algn="l" marL="342900" indent="-342900">
              <a:lnSpc>
                <a:spcPct val="125000"/>
              </a:lnSpc>
              <a:spcBef>
                <a:spcPts val="600"/>
              </a:spcBef>
              <a:spcAft>
                <a:spcPts val="0"/>
              </a:spcAft>
              <a:buClr>
                <a:srgbClr val="1F2933"/>
              </a:buClr>
              <a:buFont typeface="Calibri"/>
              <a:buChar char="•"/>
            </a:pPr>
            <a:r>
              <a:rPr sz="1250" b="1" i="0">
                <a:solidFill>
                  <a:srgbClr val="1F2933"/>
                </a:solidFill>
                <a:latin typeface="Calibri"/>
              </a:rPr>
              <a:t>This is a mechanism, not a tuned number: </a:t>
            </a:r>
            <a:r>
              <a:rPr sz="1250" b="0" i="0">
                <a:solidFill>
                  <a:srgbClr val="1F2933"/>
                </a:solidFill>
                <a:latin typeface="Calibri"/>
              </a:rPr>
              <a:t>lexical matching fails exactly when phrasing varies.</a:t>
            </a:r>
          </a:p>
        </p:txBody>
      </p:sp>
      <p:sp>
        <p:nvSpPr>
          <p:cNvPr id="7" name="Rectangle 6"/>
          <p:cNvSpPr/>
          <p:nvPr/>
        </p:nvSpPr>
        <p:spPr>
          <a:xfrm>
            <a:off x="640080" y="4983480"/>
            <a:ext cx="10881360" cy="1097280"/>
          </a:xfrm>
          <a:prstGeom prst="rect">
            <a:avLst/>
          </a:prstGeom>
          <a:solidFill>
            <a:srgbClr val="F7F8F9"/>
          </a:solidFill>
          <a:ln>
            <a:noFill/>
          </a:ln>
        </p:spPr>
        <p:txBody>
          <a:bodyPr rtlCol="0" anchor="ctr"/>
          <a:lstStyle/>
          <a:p>
            <a:pPr algn="ctr"/>
          </a:p>
        </p:txBody>
      </p:sp>
      <p:sp>
        <p:nvSpPr>
          <p:cNvPr id="8" name="Rectangle 7"/>
          <p:cNvSpPr/>
          <p:nvPr/>
        </p:nvSpPr>
        <p:spPr>
          <a:xfrm>
            <a:off x="640080" y="4983480"/>
            <a:ext cx="36576" cy="1097280"/>
          </a:xfrm>
          <a:prstGeom prst="rect">
            <a:avLst/>
          </a:prstGeom>
          <a:solidFill>
            <a:srgbClr val="0F766E"/>
          </a:solidFill>
          <a:ln>
            <a:noFill/>
          </a:ln>
        </p:spPr>
        <p:txBody>
          <a:bodyPr rtlCol="0" anchor="ctr"/>
          <a:lstStyle/>
          <a:p>
            <a:pPr algn="ctr"/>
          </a:p>
        </p:txBody>
      </p:sp>
      <p:sp>
        <p:nvSpPr>
          <p:cNvPr id="9" name="TextBox 8"/>
          <p:cNvSpPr txBox="1"/>
          <p:nvPr/>
        </p:nvSpPr>
        <p:spPr>
          <a:xfrm>
            <a:off x="914400" y="5111496"/>
            <a:ext cx="10332720" cy="841247"/>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Practical rule. </a:t>
            </a:r>
            <a:r>
              <a:rPr sz="1250" b="0" i="0">
                <a:solidFill>
                  <a:srgbClr val="1F2933"/>
                </a:solidFill>
                <a:latin typeface="Calibri"/>
              </a:rPr>
              <a:t>For conversational memory, give semantic matching the larger share of the two. For entity-keyed facts, the balance does not matter.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0.6 / 0.3 / 0.1 survives the full search</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7</a:t>
            </a:r>
          </a:p>
        </p:txBody>
      </p:sp>
      <p:graphicFrame>
        <p:nvGraphicFramePr>
          <p:cNvPr id="4" name="Table 3"/>
          <p:cNvGraphicFramePr>
            <a:graphicFrameLocks noGrp="1"/>
          </p:cNvGraphicFramePr>
          <p:nvPr/>
        </p:nvGraphicFramePr>
        <p:xfrm>
          <a:off x="640080" y="1417320"/>
          <a:ext cx="6400800" cy="2560320"/>
        </p:xfrm>
        <a:graphic>
          <a:graphicData uri="http://schemas.openxmlformats.org/drawingml/2006/table">
            <a:tbl>
              <a:tblPr firstRow="0" bandRow="0" firstCol="0" lastRow="0" lastCol="0" bandCol="0">
                <a:tableStyleId>{40A756E0-BA81-4B3E-BAA3-1FF234794D32}</a:tableStyleId>
              </a:tblPr>
              <a:tblGrid>
                <a:gridCol w="3291840"/>
                <a:gridCol w="1554480"/>
                <a:gridCol w="1554480"/>
              </a:tblGrid>
              <a:tr h="365760">
                <a:tc>
                  <a:txBody>
                    <a:bodyPr wrap="square"/>
                    <a:lstStyle/>
                    <a:p>
                      <a:pPr algn="l"/>
                      <a:r>
                        <a:rPr sz="1200" b="1" i="0">
                          <a:solidFill>
                            <a:srgbClr val="1F2933"/>
                          </a:solidFill>
                          <a:latin typeface="Calibri"/>
                        </a:rPr>
                        <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200" b="1" i="0">
                          <a:solidFill>
                            <a:srgbClr val="1F2933"/>
                          </a:solidFill>
                          <a:latin typeface="Calibri"/>
                        </a:rPr>
                        <a:t>MQuAKE-T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200" b="1" i="0">
                          <a:solidFill>
                            <a:srgbClr val="1F2933"/>
                          </a:solidFill>
                          <a:latin typeface="Calibri"/>
                        </a:rPr>
                        <a:t>ConvoMem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65760">
                <a:tc>
                  <a:txBody>
                    <a:bodyPr wrap="square"/>
                    <a:lstStyle/>
                    <a:p>
                      <a:pPr algn="l"/>
                      <a:r>
                        <a:rPr sz="1200" b="0" i="0">
                          <a:solidFill>
                            <a:srgbClr val="1F2933"/>
                          </a:solidFill>
                          <a:latin typeface="Calibri"/>
                        </a:rPr>
                        <a:t>accuracy at 0.6 / 0.3 / 0.1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0.911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0.320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200" b="0" i="0">
                          <a:solidFill>
                            <a:srgbClr val="1F2933"/>
                          </a:solidFill>
                          <a:latin typeface="Calibri"/>
                        </a:rPr>
                        <a:t>best of 1,000 (picked on the same data)</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0.938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0.370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200" b="0" i="0">
                          <a:solidFill>
                            <a:srgbClr val="1F2933"/>
                          </a:solidFill>
                          <a:latin typeface="Calibri"/>
                        </a:rPr>
                        <a:t>rank of 0.6 / 0.3 / 0.1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66 of 1,000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80 of 1,000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200" b="0" i="0">
                          <a:solidFill>
                            <a:srgbClr val="1F2933"/>
                          </a:solidFill>
                          <a:latin typeface="Calibri"/>
                        </a:rPr>
                        <a:t>significantly better, uncorrected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200" b="0" i="0">
                          <a:solidFill>
                            <a:srgbClr val="1F2933"/>
                          </a:solidFill>
                          <a:latin typeface="Calibri"/>
                        </a:rPr>
                        <a:t>significantly better, corrected for 999 tests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1" i="0">
                          <a:solidFill>
                            <a:srgbClr val="0F766E"/>
                          </a:solidFill>
                          <a:latin typeface="Calibri"/>
                        </a:rPr>
                        <a:t>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1" i="0">
                          <a:solidFill>
                            <a:srgbClr val="0F766E"/>
                          </a:solidFill>
                          <a:latin typeface="Calibri"/>
                        </a:rPr>
                        <a:t>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200" b="0" i="0">
                          <a:solidFill>
                            <a:srgbClr val="1F2933"/>
                          </a:solidFill>
                          <a:latin typeface="Calibri"/>
                        </a:rPr>
                        <a:t>significantly worse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560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467</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5" name="TextBox 4"/>
          <p:cNvSpPr txBox="1"/>
          <p:nvPr/>
        </p:nvSpPr>
        <p:spPr>
          <a:xfrm>
            <a:off x="7406640" y="1463040"/>
            <a:ext cx="4114800" cy="640080"/>
          </a:xfrm>
          <a:prstGeom prst="rect">
            <a:avLst/>
          </a:prstGeom>
          <a:noFill/>
        </p:spPr>
        <p:txBody>
          <a:bodyPr wrap="square" lIns="91425" rIns="91425" tIns="45700" bIns="45700" anchor="t"/>
          <a:lstStyle/>
          <a:p>
            <a:pPr algn="l">
              <a:spcBef>
                <a:spcPts val="0"/>
              </a:spcBef>
              <a:spcAft>
                <a:spcPts val="0"/>
              </a:spcAft>
            </a:pPr>
            <a:r>
              <a:rPr sz="3400" b="1" i="0">
                <a:solidFill>
                  <a:srgbClr val="0F766E"/>
                </a:solidFill>
                <a:latin typeface="Calibri"/>
              </a:rPr>
              <a:t>+0.05</a:t>
            </a:r>
          </a:p>
        </p:txBody>
      </p:sp>
      <p:sp>
        <p:nvSpPr>
          <p:cNvPr id="6" name="TextBox 5"/>
          <p:cNvSpPr txBox="1"/>
          <p:nvPr/>
        </p:nvSpPr>
        <p:spPr>
          <a:xfrm>
            <a:off x="7406640" y="2084832"/>
            <a:ext cx="4114800" cy="548640"/>
          </a:xfrm>
          <a:prstGeom prst="rect">
            <a:avLst/>
          </a:prstGeom>
          <a:noFill/>
        </p:spPr>
        <p:txBody>
          <a:bodyPr wrap="square" lIns="91425" rIns="91425" tIns="45700" bIns="45700" anchor="t"/>
          <a:lstStyle/>
          <a:p>
            <a:pPr algn="l">
              <a:spcBef>
                <a:spcPts val="0"/>
              </a:spcBef>
              <a:spcAft>
                <a:spcPts val="0"/>
              </a:spcAft>
            </a:pPr>
            <a:r>
              <a:rPr sz="1200" b="0" i="0">
                <a:solidFill>
                  <a:srgbClr val="7B8794"/>
                </a:solidFill>
                <a:latin typeface="Calibri"/>
              </a:rPr>
              <a:t>how much the 'best' looks better than it is, from picking it on the same questions</a:t>
            </a:r>
          </a:p>
        </p:txBody>
      </p:sp>
      <p:sp>
        <p:nvSpPr>
          <p:cNvPr id="7" name="TextBox 6"/>
          <p:cNvSpPr txBox="1"/>
          <p:nvPr/>
        </p:nvSpPr>
        <p:spPr>
          <a:xfrm>
            <a:off x="7406640" y="2880360"/>
            <a:ext cx="4114800" cy="640080"/>
          </a:xfrm>
          <a:prstGeom prst="rect">
            <a:avLst/>
          </a:prstGeom>
          <a:noFill/>
        </p:spPr>
        <p:txBody>
          <a:bodyPr wrap="square" lIns="91425" rIns="91425" tIns="45700" bIns="45700" anchor="t"/>
          <a:lstStyle/>
          <a:p>
            <a:pPr algn="l">
              <a:spcBef>
                <a:spcPts val="0"/>
              </a:spcBef>
              <a:spcAft>
                <a:spcPts val="0"/>
              </a:spcAft>
            </a:pPr>
            <a:r>
              <a:rPr sz="3400" b="1" i="0">
                <a:solidFill>
                  <a:srgbClr val="0F766E"/>
                </a:solidFill>
                <a:latin typeface="Calibri"/>
              </a:rPr>
              <a:t>21% / 68%</a:t>
            </a:r>
          </a:p>
        </p:txBody>
      </p:sp>
      <p:sp>
        <p:nvSpPr>
          <p:cNvPr id="8" name="TextBox 7"/>
          <p:cNvSpPr txBox="1"/>
          <p:nvPr/>
        </p:nvSpPr>
        <p:spPr>
          <a:xfrm>
            <a:off x="7406640" y="3502152"/>
            <a:ext cx="4114800" cy="548640"/>
          </a:xfrm>
          <a:prstGeom prst="rect">
            <a:avLst/>
          </a:prstGeom>
          <a:noFill/>
        </p:spPr>
        <p:txBody>
          <a:bodyPr wrap="square" lIns="91425" rIns="91425" tIns="45700" bIns="45700" anchor="t"/>
          <a:lstStyle/>
          <a:p>
            <a:pPr algn="l">
              <a:spcBef>
                <a:spcPts val="0"/>
              </a:spcBef>
              <a:spcAft>
                <a:spcPts val="0"/>
              </a:spcAft>
            </a:pPr>
            <a:r>
              <a:rPr sz="1200" b="0" i="0">
                <a:solidFill>
                  <a:srgbClr val="7B8794"/>
                </a:solidFill>
                <a:latin typeface="Calibri"/>
              </a:rPr>
              <a:t>how often the picked best beats 0.6/0.3/0.1 on unseen questions (MQuAKE-T / ConvoMem)</a:t>
            </a:r>
          </a:p>
        </p:txBody>
      </p:sp>
      <p:sp>
        <p:nvSpPr>
          <p:cNvPr id="9" name="Rectangle 8"/>
          <p:cNvSpPr/>
          <p:nvPr/>
        </p:nvSpPr>
        <p:spPr>
          <a:xfrm>
            <a:off x="640080" y="4251960"/>
            <a:ext cx="10881360" cy="1463040"/>
          </a:xfrm>
          <a:prstGeom prst="rect">
            <a:avLst/>
          </a:prstGeom>
          <a:solidFill>
            <a:srgbClr val="F7F8F9"/>
          </a:solidFill>
          <a:ln>
            <a:noFill/>
          </a:ln>
        </p:spPr>
        <p:txBody>
          <a:bodyPr rtlCol="0" anchor="ctr"/>
          <a:lstStyle/>
          <a:p>
            <a:pPr algn="ctr"/>
          </a:p>
        </p:txBody>
      </p:sp>
      <p:sp>
        <p:nvSpPr>
          <p:cNvPr id="10" name="Rectangle 9"/>
          <p:cNvSpPr/>
          <p:nvPr/>
        </p:nvSpPr>
        <p:spPr>
          <a:xfrm>
            <a:off x="640080" y="4251960"/>
            <a:ext cx="36576" cy="1463040"/>
          </a:xfrm>
          <a:prstGeom prst="rect">
            <a:avLst/>
          </a:prstGeom>
          <a:solidFill>
            <a:srgbClr val="0F766E"/>
          </a:solidFill>
          <a:ln>
            <a:noFill/>
          </a:ln>
        </p:spPr>
        <p:txBody>
          <a:bodyPr rtlCol="0" anchor="ctr"/>
          <a:lstStyle/>
          <a:p>
            <a:pPr algn="ctr"/>
          </a:p>
        </p:txBody>
      </p:sp>
      <p:sp>
        <p:nvSpPr>
          <p:cNvPr id="11" name="TextBox 10"/>
          <p:cNvSpPr txBox="1"/>
          <p:nvPr/>
        </p:nvSpPr>
        <p:spPr>
          <a:xfrm>
            <a:off x="914400" y="4379976"/>
            <a:ext cx="10332720" cy="120700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Defensible, not optimal. </a:t>
            </a:r>
            <a:r>
              <a:rPr sz="1250" b="0" i="0">
                <a:solidFill>
                  <a:srgbClr val="1F2933"/>
                </a:solidFill>
                <a:latin typeface="Calibri"/>
              </a:rPr>
              <a:t>No alternative beats it once you correct for testing 999 of them, it is in the top 7 to 8% on both benchmarks, and it is significantly better than about half the grid.</a:t>
            </a:r>
          </a:p>
          <a:p>
            <a:pPr algn="l">
              <a:spcBef>
                <a:spcPts val="600"/>
              </a:spcBef>
              <a:spcAft>
                <a:spcPts val="0"/>
              </a:spcAft>
            </a:pPr>
            <a:r>
              <a:rPr sz="1250" b="1" i="0">
                <a:solidFill>
                  <a:srgbClr val="1F2933"/>
                </a:solidFill>
                <a:latin typeface="Calibri"/>
              </a:rPr>
              <a:t>The one real edge: </a:t>
            </a:r>
            <a:r>
              <a:rPr sz="1250" b="0" i="0">
                <a:solidFill>
                  <a:srgbClr val="1F2933"/>
                </a:solidFill>
                <a:latin typeface="Calibri"/>
              </a:rPr>
              <a:t>on ConvoMem a more semantic-heavy weighting is about 1.4 points better on unseen questions, consistent with the previous slide.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Invalidation does what recency tries to do, without the cost</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8</a:t>
            </a:r>
          </a:p>
        </p:txBody>
      </p:sp>
      <p:pic>
        <p:nvPicPr>
          <p:cNvPr id="4" name="Picture 3" descr="s_frontier.png"/>
          <p:cNvPicPr>
            <a:picLocks noChangeAspect="1"/>
          </p:cNvPicPr>
          <p:nvPr/>
        </p:nvPicPr>
        <p:blipFill>
          <a:blip r:embed="rId2"/>
          <a:stretch>
            <a:fillRect/>
          </a:stretch>
        </p:blipFill>
        <p:spPr>
          <a:xfrm>
            <a:off x="640080" y="1280160"/>
            <a:ext cx="7223760" cy="2561151"/>
          </a:xfrm>
          <a:prstGeom prst="rect">
            <a:avLst/>
          </a:prstGeom>
        </p:spPr>
      </p:pic>
      <p:graphicFrame>
        <p:nvGraphicFramePr>
          <p:cNvPr id="5" name="Table 4"/>
          <p:cNvGraphicFramePr>
            <a:graphicFrameLocks noGrp="1"/>
          </p:cNvGraphicFramePr>
          <p:nvPr/>
        </p:nvGraphicFramePr>
        <p:xfrm>
          <a:off x="8092440" y="1417320"/>
          <a:ext cx="3474720" cy="1463040"/>
        </p:xfrm>
        <a:graphic>
          <a:graphicData uri="http://schemas.openxmlformats.org/drawingml/2006/table">
            <a:tbl>
              <a:tblPr firstRow="0" bandRow="0" firstCol="0" lastRow="0" lastCol="0" bandCol="0">
                <a:tableStyleId>{40A756E0-BA81-4B3E-BAA3-1FF234794D32}</a:tableStyleId>
              </a:tblPr>
              <a:tblGrid>
                <a:gridCol w="1097280"/>
                <a:gridCol w="1188720"/>
                <a:gridCol w="1188720"/>
              </a:tblGrid>
              <a:tr h="365760">
                <a:tc>
                  <a:txBody>
                    <a:bodyPr wrap="square"/>
                    <a:lstStyle/>
                    <a:p>
                      <a:pPr algn="l"/>
                      <a:r>
                        <a:rPr sz="1050" b="1" i="0">
                          <a:solidFill>
                            <a:srgbClr val="1F2933"/>
                          </a:solidFill>
                          <a:latin typeface="Calibri"/>
                        </a:rPr>
                        <a:t>MQuAKE-T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050" b="1" i="0">
                          <a:solidFill>
                            <a:srgbClr val="1F2933"/>
                          </a:solidFill>
                          <a:latin typeface="Calibri"/>
                        </a:rPr>
                        <a:t>P0 fact / stale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050" b="1" i="0">
                          <a:solidFill>
                            <a:srgbClr val="1F2933"/>
                          </a:solidFill>
                          <a:latin typeface="Calibri"/>
                        </a:rPr>
                        <a:t>P2 fact / stale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65760">
                <a:tc>
                  <a:txBody>
                    <a:bodyPr wrap="square"/>
                    <a:lstStyle/>
                    <a:p>
                      <a:pPr algn="l"/>
                      <a:r>
                        <a:rPr sz="1050" b="0" i="0">
                          <a:solidFill>
                            <a:srgbClr val="1F2933"/>
                          </a:solidFill>
                          <a:latin typeface="Calibri"/>
                        </a:rPr>
                        <a:t>recency 0.1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050" b="0" i="0">
                          <a:solidFill>
                            <a:srgbClr val="1F2933"/>
                          </a:solidFill>
                          <a:latin typeface="Calibri"/>
                        </a:rPr>
                        <a:t>1.00 / 0.99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050" b="1" i="0">
                          <a:solidFill>
                            <a:srgbClr val="0F766E"/>
                          </a:solidFill>
                          <a:latin typeface="Calibri"/>
                        </a:rPr>
                        <a:t>1.00 / 0.42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050" b="0" i="0">
                          <a:solidFill>
                            <a:srgbClr val="1F2933"/>
                          </a:solidFill>
                          <a:latin typeface="Calibri"/>
                        </a:rPr>
                        <a:t>recency 0.5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050" b="0" i="0">
                          <a:solidFill>
                            <a:srgbClr val="1F2933"/>
                          </a:solidFill>
                          <a:latin typeface="Calibri"/>
                        </a:rPr>
                        <a:t>0.88 / 0.64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050" b="0" i="0">
                          <a:solidFill>
                            <a:srgbClr val="1F2933"/>
                          </a:solidFill>
                          <a:latin typeface="Calibri"/>
                        </a:rPr>
                        <a:t>0.88 / 0.26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050" b="0" i="0">
                          <a:solidFill>
                            <a:srgbClr val="1F2933"/>
                          </a:solidFill>
                          <a:latin typeface="Calibri"/>
                        </a:rPr>
                        <a:t>recency 1.0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050" b="0" i="0">
                          <a:solidFill>
                            <a:srgbClr val="1F2933"/>
                          </a:solidFill>
                          <a:latin typeface="Calibri"/>
                        </a:rPr>
                        <a:t>0.71 / 0.37</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050" b="0" i="0">
                          <a:solidFill>
                            <a:srgbClr val="1F2933"/>
                          </a:solidFill>
                          <a:latin typeface="Calibri"/>
                        </a:rPr>
                        <a:t>0.71 / 0.16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6" name="TextBox 5"/>
          <p:cNvSpPr txBox="1"/>
          <p:nvPr/>
        </p:nvSpPr>
        <p:spPr>
          <a:xfrm>
            <a:off x="8092440" y="2971800"/>
            <a:ext cx="3474720" cy="1188720"/>
          </a:xfrm>
          <a:prstGeom prst="rect">
            <a:avLst/>
          </a:prstGeom>
          <a:noFill/>
        </p:spPr>
        <p:txBody>
          <a:bodyPr wrap="square" lIns="91425" rIns="91425" tIns="45700" bIns="45700" anchor="t"/>
          <a:lstStyle/>
          <a:p>
            <a:pPr algn="l">
              <a:spcBef>
                <a:spcPts val="0"/>
              </a:spcBef>
              <a:spcAft>
                <a:spcPts val="0"/>
              </a:spcAft>
            </a:pPr>
            <a:r>
              <a:rPr sz="1050" b="0" i="0">
                <a:solidFill>
                  <a:srgbClr val="7B8794"/>
                </a:solidFill>
                <a:latin typeface="Calibri"/>
              </a:rPr>
              <a:t>fact = correct fact in the prompt; stale = outdated value in the prompt</a:t>
            </a:r>
          </a:p>
        </p:txBody>
      </p:sp>
      <p:sp>
        <p:nvSpPr>
          <p:cNvPr id="7" name="Rectangle 6"/>
          <p:cNvSpPr/>
          <p:nvPr/>
        </p:nvSpPr>
        <p:spPr>
          <a:xfrm>
            <a:off x="640080" y="4160520"/>
            <a:ext cx="10881360" cy="1508760"/>
          </a:xfrm>
          <a:prstGeom prst="rect">
            <a:avLst/>
          </a:prstGeom>
          <a:solidFill>
            <a:srgbClr val="F7F8F9"/>
          </a:solidFill>
          <a:ln>
            <a:noFill/>
          </a:ln>
        </p:spPr>
        <p:txBody>
          <a:bodyPr rtlCol="0" anchor="ctr"/>
          <a:lstStyle/>
          <a:p>
            <a:pPr algn="ctr"/>
          </a:p>
        </p:txBody>
      </p:sp>
      <p:sp>
        <p:nvSpPr>
          <p:cNvPr id="8" name="Rectangle 7"/>
          <p:cNvSpPr/>
          <p:nvPr/>
        </p:nvSpPr>
        <p:spPr>
          <a:xfrm>
            <a:off x="640080" y="4160520"/>
            <a:ext cx="36576" cy="1508760"/>
          </a:xfrm>
          <a:prstGeom prst="rect">
            <a:avLst/>
          </a:prstGeom>
          <a:solidFill>
            <a:srgbClr val="0F766E"/>
          </a:solidFill>
          <a:ln>
            <a:noFill/>
          </a:ln>
        </p:spPr>
        <p:txBody>
          <a:bodyPr rtlCol="0" anchor="ctr"/>
          <a:lstStyle/>
          <a:p>
            <a:pPr algn="ctr"/>
          </a:p>
        </p:txBody>
      </p:sp>
      <p:sp>
        <p:nvSpPr>
          <p:cNvPr id="9" name="TextBox 8"/>
          <p:cNvSpPr txBox="1"/>
          <p:nvPr/>
        </p:nvSpPr>
        <p:spPr>
          <a:xfrm>
            <a:off x="914400" y="4288536"/>
            <a:ext cx="10332720" cy="125272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The strongest thesis result this week. </a:t>
            </a:r>
            <a:r>
              <a:rPr sz="1250" b="0" i="0">
                <a:solidFill>
                  <a:srgbClr val="1F2933"/>
                </a:solidFill>
                <a:latin typeface="Calibri"/>
              </a:rPr>
              <a:t>Without invalidation, the only way to keep outdated facts out is to turn recency up, and that throws away 26 to 29 points of correct facts. P2 reaches the same low staleness with every correct fact kept. On MQuAKE-T its curve is above P0's everywhere.</a:t>
            </a:r>
          </a:p>
          <a:p>
            <a:pPr algn="l">
              <a:spcBef>
                <a:spcPts val="600"/>
              </a:spcBef>
              <a:spcAft>
                <a:spcPts val="0"/>
              </a:spcAft>
            </a:pPr>
            <a:r>
              <a:rPr sz="1250" b="1" i="0">
                <a:solidFill>
                  <a:srgbClr val="1F2933"/>
                </a:solidFill>
                <a:latin typeface="Calibri"/>
              </a:rPr>
              <a:t>ConvoMem: </a:t>
            </a:r>
            <a:r>
              <a:rPr sz="1250" b="0" i="0">
                <a:solidFill>
                  <a:srgbClr val="1F2933"/>
                </a:solidFill>
                <a:latin typeface="Calibri"/>
              </a:rPr>
              <a:t>the curves cross, because P2's false invalidations also remove some true facts. Same boundary as before.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Staleness: it only happens when the old fact is in the prompt</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9</a:t>
            </a:r>
          </a:p>
        </p:txBody>
      </p:sp>
      <p:graphicFrame>
        <p:nvGraphicFramePr>
          <p:cNvPr id="4" name="Table 3"/>
          <p:cNvGraphicFramePr>
            <a:graphicFrameLocks noGrp="1"/>
          </p:cNvGraphicFramePr>
          <p:nvPr/>
        </p:nvGraphicFramePr>
        <p:xfrm>
          <a:off x="640080" y="1417320"/>
          <a:ext cx="6035040" cy="1234440"/>
        </p:xfrm>
        <a:graphic>
          <a:graphicData uri="http://schemas.openxmlformats.org/drawingml/2006/table">
            <a:tbl>
              <a:tblPr firstRow="0" bandRow="0" firstCol="0" lastRow="0" lastCol="0" bandCol="0">
                <a:tableStyleId>{40A756E0-BA81-4B3E-BAA3-1FF234794D32}</a:tableStyleId>
              </a:tblPr>
              <a:tblGrid>
                <a:gridCol w="1280160"/>
                <a:gridCol w="1737360"/>
                <a:gridCol w="1234440"/>
                <a:gridCol w="1783080"/>
              </a:tblGrid>
              <a:tr h="411480">
                <a:tc>
                  <a:txBody>
                    <a:bodyPr wrap="square"/>
                    <a:lstStyle/>
                    <a:p>
                      <a:pPr algn="l"/>
                      <a:r>
                        <a:rPr sz="1150" b="1" i="0">
                          <a:solidFill>
                            <a:srgbClr val="1F2933"/>
                          </a:solidFill>
                          <a:latin typeface="Calibri"/>
                        </a:rPr>
                        <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stale answers, range over 1,000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at 0.6/0.3/0.1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repeats old fact when present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411480">
                <a:tc>
                  <a:txBody>
                    <a:bodyPr wrap="square"/>
                    <a:lstStyle/>
                    <a:p>
                      <a:pPr algn="l"/>
                      <a:r>
                        <a:rPr sz="1150" b="1" i="0">
                          <a:solidFill>
                            <a:srgbClr val="1F2933"/>
                          </a:solidFill>
                          <a:latin typeface="Calibri"/>
                        </a:rPr>
                        <a:t>MQuAKE-T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0.005 to 0.068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0.042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Llama 16%, Qwen3 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11480">
                <a:tc>
                  <a:txBody>
                    <a:bodyPr wrap="square"/>
                    <a:lstStyle/>
                    <a:p>
                      <a:pPr algn="l"/>
                      <a:r>
                        <a:rPr sz="1150" b="1" i="0">
                          <a:solidFill>
                            <a:srgbClr val="1F2933"/>
                          </a:solidFill>
                          <a:latin typeface="Calibri"/>
                        </a:rPr>
                        <a:t>ConvoMem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0.075 to 0.235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0.195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Llama 32%, Qwen3 33%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5" name="TextBox 4"/>
          <p:cNvSpPr txBox="1"/>
          <p:nvPr/>
        </p:nvSpPr>
        <p:spPr>
          <a:xfrm>
            <a:off x="640080" y="2788920"/>
            <a:ext cx="6035040" cy="2103120"/>
          </a:xfrm>
          <a:prstGeom prst="rect">
            <a:avLst/>
          </a:prstGeom>
          <a:noFill/>
        </p:spPr>
        <p:txBody>
          <a:bodyPr wrap="square" lIns="91425" rIns="91425" tIns="45700" bIns="45700" anchor="t"/>
          <a:lstStyle/>
          <a:p>
            <a:pPr algn="l" marL="342900" indent="-342900">
              <a:lnSpc>
                <a:spcPct val="125000"/>
              </a:lnSpc>
              <a:spcBef>
                <a:spcPts val="500"/>
              </a:spcBef>
              <a:spcAft>
                <a:spcPts val="0"/>
              </a:spcAft>
              <a:buClr>
                <a:srgbClr val="1F2933"/>
              </a:buClr>
              <a:buFont typeface="Calibri"/>
              <a:buChar char="•"/>
            </a:pPr>
            <a:r>
              <a:rPr sz="1250" b="1" i="0">
                <a:solidFill>
                  <a:srgbClr val="1F2933"/>
                </a:solidFill>
                <a:latin typeface="Calibri"/>
              </a:rPr>
              <a:t>Recency lowers staleness a little, at a big price: </a:t>
            </a:r>
            <a:r>
              <a:rPr sz="1250" b="0" i="0">
                <a:solidFill>
                  <a:srgbClr val="1F2933"/>
                </a:solidFill>
                <a:latin typeface="Calibri"/>
              </a:rPr>
              <a:t>on MQuAKE-T from 0.051 to 0.023 while accuracy falls 24 points.</a:t>
            </a:r>
          </a:p>
          <a:p>
            <a:pPr algn="l" marL="342900" indent="-342900">
              <a:lnSpc>
                <a:spcPct val="125000"/>
              </a:lnSpc>
              <a:spcBef>
                <a:spcPts val="500"/>
              </a:spcBef>
              <a:spcAft>
                <a:spcPts val="0"/>
              </a:spcAft>
              <a:buClr>
                <a:srgbClr val="1F2933"/>
              </a:buClr>
              <a:buFont typeface="Calibri"/>
              <a:buChar char="•"/>
            </a:pPr>
            <a:r>
              <a:rPr sz="1250" b="1" i="0">
                <a:solidFill>
                  <a:srgbClr val="1F2933"/>
                </a:solidFill>
                <a:latin typeface="Calibri"/>
              </a:rPr>
              <a:t>On ConvoMem, lexical weight drives staleness </a:t>
            </a:r>
            <a:r>
              <a:rPr sz="1250" b="0" i="0">
                <a:solidFill>
                  <a:srgbClr val="1F2933"/>
                </a:solidFill>
                <a:latin typeface="Calibri"/>
              </a:rPr>
              <a:t>(33% of its variation): the old and new values sit in similar sentences.</a:t>
            </a:r>
          </a:p>
          <a:p>
            <a:pPr algn="l" marL="342900" indent="-342900">
              <a:lnSpc>
                <a:spcPct val="125000"/>
              </a:lnSpc>
              <a:spcBef>
                <a:spcPts val="500"/>
              </a:spcBef>
              <a:spcAft>
                <a:spcPts val="0"/>
              </a:spcAft>
              <a:buClr>
                <a:srgbClr val="1F2933"/>
              </a:buClr>
              <a:buFont typeface="Calibri"/>
              <a:buChar char="•"/>
            </a:pPr>
            <a:r>
              <a:rPr sz="1250" b="1" i="0">
                <a:solidFill>
                  <a:srgbClr val="1F2933"/>
                </a:solidFill>
                <a:latin typeface="Calibri"/>
              </a:rPr>
              <a:t>A reasoning model halves stale reading on clean facts, </a:t>
            </a:r>
            <a:r>
              <a:rPr sz="1250" b="0" i="0">
                <a:solidFill>
                  <a:srgbClr val="1F2933"/>
                </a:solidFill>
                <a:latin typeface="Calibri"/>
              </a:rPr>
              <a:t>but not in conversation.</a:t>
            </a:r>
          </a:p>
        </p:txBody>
      </p:sp>
      <p:sp>
        <p:nvSpPr>
          <p:cNvPr id="6" name="TextBox 5"/>
          <p:cNvSpPr txBox="1"/>
          <p:nvPr/>
        </p:nvSpPr>
        <p:spPr>
          <a:xfrm>
            <a:off x="6949440" y="1417320"/>
            <a:ext cx="4572000" cy="274320"/>
          </a:xfrm>
          <a:prstGeom prst="rect">
            <a:avLst/>
          </a:prstGeom>
          <a:noFill/>
        </p:spPr>
        <p:txBody>
          <a:bodyPr wrap="square" lIns="91425" rIns="91425" tIns="45700" bIns="45700" anchor="t"/>
          <a:lstStyle/>
          <a:p>
            <a:pPr algn="l">
              <a:spcBef>
                <a:spcPts val="0"/>
              </a:spcBef>
              <a:spcAft>
                <a:spcPts val="0"/>
              </a:spcAft>
            </a:pPr>
            <a:r>
              <a:rPr sz="1250" b="1" i="0">
                <a:solidFill>
                  <a:srgbClr val="1F2933"/>
                </a:solidFill>
                <a:latin typeface="Calibri"/>
              </a:rPr>
              <a:t>P2 against P0, every one of the 1,000 weightings</a:t>
            </a:r>
          </a:p>
        </p:txBody>
      </p:sp>
      <p:graphicFrame>
        <p:nvGraphicFramePr>
          <p:cNvPr id="7" name="Table 6"/>
          <p:cNvGraphicFramePr>
            <a:graphicFrameLocks noGrp="1"/>
          </p:cNvGraphicFramePr>
          <p:nvPr/>
        </p:nvGraphicFramePr>
        <p:xfrm>
          <a:off x="6949440" y="1737360"/>
          <a:ext cx="4617720" cy="1152144"/>
        </p:xfrm>
        <a:graphic>
          <a:graphicData uri="http://schemas.openxmlformats.org/drawingml/2006/table">
            <a:tbl>
              <a:tblPr firstRow="0" bandRow="0" firstCol="0" lastRow="0" lastCol="0" bandCol="0">
                <a:tableStyleId>{40A756E0-BA81-4B3E-BAA3-1FF234794D32}</a:tableStyleId>
              </a:tblPr>
              <a:tblGrid>
                <a:gridCol w="2011680"/>
                <a:gridCol w="914400"/>
                <a:gridCol w="822960"/>
                <a:gridCol w="868680"/>
              </a:tblGrid>
              <a:tr h="384048">
                <a:tc>
                  <a:txBody>
                    <a:bodyPr wrap="square"/>
                    <a:lstStyle/>
                    <a:p>
                      <a:pPr algn="l"/>
                      <a:r>
                        <a:rPr sz="1150" b="1" i="0">
                          <a:solidFill>
                            <a:srgbClr val="1F2933"/>
                          </a:solidFill>
                          <a:latin typeface="Calibri"/>
                        </a:rPr>
                        <a:t>outdated fact in prompt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P2 better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tie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worse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84048">
                <a:tc>
                  <a:txBody>
                    <a:bodyPr wrap="square"/>
                    <a:lstStyle/>
                    <a:p>
                      <a:pPr algn="l"/>
                      <a:r>
                        <a:rPr sz="1150" b="0" i="0">
                          <a:solidFill>
                            <a:srgbClr val="1F2933"/>
                          </a:solidFill>
                          <a:latin typeface="Calibri"/>
                        </a:rPr>
                        <a:t>MQuAKE-T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1000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l"/>
                      <a:r>
                        <a:rPr sz="1150" b="0" i="0">
                          <a:solidFill>
                            <a:srgbClr val="1F2933"/>
                          </a:solidFill>
                          <a:latin typeface="Calibri"/>
                        </a:rPr>
                        <a:t>ConvoMem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993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7</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8" name="Rectangle 7"/>
          <p:cNvSpPr/>
          <p:nvPr/>
        </p:nvSpPr>
        <p:spPr>
          <a:xfrm>
            <a:off x="640080" y="5074920"/>
            <a:ext cx="10881360" cy="1051560"/>
          </a:xfrm>
          <a:prstGeom prst="rect">
            <a:avLst/>
          </a:prstGeom>
          <a:solidFill>
            <a:srgbClr val="F7F8F9"/>
          </a:solidFill>
          <a:ln>
            <a:noFill/>
          </a:ln>
        </p:spPr>
        <p:txBody>
          <a:bodyPr rtlCol="0" anchor="ctr"/>
          <a:lstStyle/>
          <a:p>
            <a:pPr algn="ctr"/>
          </a:p>
        </p:txBody>
      </p:sp>
      <p:sp>
        <p:nvSpPr>
          <p:cNvPr id="9" name="Rectangle 8"/>
          <p:cNvSpPr/>
          <p:nvPr/>
        </p:nvSpPr>
        <p:spPr>
          <a:xfrm>
            <a:off x="640080" y="5074920"/>
            <a:ext cx="36576" cy="1051560"/>
          </a:xfrm>
          <a:prstGeom prst="rect">
            <a:avLst/>
          </a:prstGeom>
          <a:solidFill>
            <a:srgbClr val="0F766E"/>
          </a:solidFill>
          <a:ln>
            <a:noFill/>
          </a:ln>
        </p:spPr>
        <p:txBody>
          <a:bodyPr rtlCol="0" anchor="ctr"/>
          <a:lstStyle/>
          <a:p>
            <a:pPr algn="ctr"/>
          </a:p>
        </p:txBody>
      </p:sp>
      <p:sp>
        <p:nvSpPr>
          <p:cNvPr id="10" name="TextBox 9"/>
          <p:cNvSpPr txBox="1"/>
          <p:nvPr/>
        </p:nvSpPr>
        <p:spPr>
          <a:xfrm>
            <a:off x="914400" y="5202936"/>
            <a:ext cx="10332720" cy="795527"/>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Conclusion. </a:t>
            </a:r>
            <a:r>
              <a:rPr sz="1250" b="0" i="0">
                <a:solidFill>
                  <a:srgbClr val="1F2933"/>
                </a:solidFill>
                <a:latin typeface="Calibri"/>
              </a:rPr>
              <a:t>Staleness is a retrieval problem first: keep the old fact out and the model cannot repeat it. That is the job P2 does, and the weights cannot do it cheaply.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Token cost: the weights barely move it; the policy and model do</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10</a:t>
            </a:r>
          </a:p>
        </p:txBody>
      </p:sp>
      <p:graphicFrame>
        <p:nvGraphicFramePr>
          <p:cNvPr id="4" name="Table 3"/>
          <p:cNvGraphicFramePr>
            <a:graphicFrameLocks noGrp="1"/>
          </p:cNvGraphicFramePr>
          <p:nvPr/>
        </p:nvGraphicFramePr>
        <p:xfrm>
          <a:off x="640080" y="1417320"/>
          <a:ext cx="6583680" cy="2194560"/>
        </p:xfrm>
        <a:graphic>
          <a:graphicData uri="http://schemas.openxmlformats.org/drawingml/2006/table">
            <a:tbl>
              <a:tblPr firstRow="0" bandRow="0" firstCol="0" lastRow="0" lastCol="0" bandCol="0">
                <a:tableStyleId>{40A756E0-BA81-4B3E-BAA3-1FF234794D32}</a:tableStyleId>
              </a:tblPr>
              <a:tblGrid>
                <a:gridCol w="3566160"/>
                <a:gridCol w="1508760"/>
                <a:gridCol w="1508760"/>
              </a:tblGrid>
              <a:tr h="365760">
                <a:tc>
                  <a:txBody>
                    <a:bodyPr wrap="square"/>
                    <a:lstStyle/>
                    <a:p>
                      <a:pPr algn="l"/>
                      <a:r>
                        <a:rPr sz="1200" b="1" i="0">
                          <a:solidFill>
                            <a:srgbClr val="1F2933"/>
                          </a:solidFill>
                          <a:latin typeface="Calibri"/>
                        </a:rPr>
                        <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200" b="1" i="0">
                          <a:solidFill>
                            <a:srgbClr val="1F2933"/>
                          </a:solidFill>
                          <a:latin typeface="Calibri"/>
                        </a:rPr>
                        <a:t>MQuAKE-T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200" b="1" i="0">
                          <a:solidFill>
                            <a:srgbClr val="1F2933"/>
                          </a:solidFill>
                          <a:latin typeface="Calibri"/>
                        </a:rPr>
                        <a:t>ConvoMem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65760">
                <a:tc>
                  <a:txBody>
                    <a:bodyPr wrap="square"/>
                    <a:lstStyle/>
                    <a:p>
                      <a:pPr algn="l"/>
                      <a:r>
                        <a:rPr sz="1200" b="0" i="0">
                          <a:solidFill>
                            <a:srgbClr val="1F2933"/>
                          </a:solidFill>
                          <a:latin typeface="Calibri"/>
                        </a:rPr>
                        <a:t>prompt tokens, range over 1,000 weightings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367 to 415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464 to 500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200" b="0" i="0">
                          <a:solidFill>
                            <a:srgbClr val="1F2933"/>
                          </a:solidFill>
                          <a:latin typeface="Calibri"/>
                        </a:rPr>
                        <a:t>prompt tokens at 0.6/0.3/0.1, P2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1" i="0">
                          <a:solidFill>
                            <a:srgbClr val="0F766E"/>
                          </a:solidFill>
                          <a:latin typeface="Calibri"/>
                        </a:rPr>
                        <a:t>378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1" i="0">
                          <a:solidFill>
                            <a:srgbClr val="0F766E"/>
                          </a:solidFill>
                          <a:latin typeface="Calibri"/>
                        </a:rPr>
                        <a:t>496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200" b="0" i="0">
                          <a:solidFill>
                            <a:srgbClr val="1F2933"/>
                          </a:solidFill>
                          <a:latin typeface="Calibri"/>
                        </a:rPr>
                        <a:t>same, P0 (never forgets)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436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563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200" b="0" i="0">
                          <a:solidFill>
                            <a:srgbClr val="1F2933"/>
                          </a:solidFill>
                          <a:latin typeface="Calibri"/>
                        </a:rPr>
                        <a:t>tokens per answer, Llama 3.1 8B</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593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641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65760">
                <a:tc>
                  <a:txBody>
                    <a:bodyPr wrap="square"/>
                    <a:lstStyle/>
                    <a:p>
                      <a:pPr algn="l"/>
                      <a:r>
                        <a:rPr sz="1200" b="0" i="0">
                          <a:solidFill>
                            <a:srgbClr val="1F2933"/>
                          </a:solidFill>
                          <a:latin typeface="Calibri"/>
                        </a:rPr>
                        <a:t>tokens per answer, Qwen3 8B (thinks)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999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1,012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5" name="TextBox 4"/>
          <p:cNvSpPr txBox="1"/>
          <p:nvPr/>
        </p:nvSpPr>
        <p:spPr>
          <a:xfrm>
            <a:off x="7589520" y="1417320"/>
            <a:ext cx="3931920" cy="640080"/>
          </a:xfrm>
          <a:prstGeom prst="rect">
            <a:avLst/>
          </a:prstGeom>
          <a:noFill/>
        </p:spPr>
        <p:txBody>
          <a:bodyPr wrap="square" lIns="91425" rIns="91425" tIns="45700" bIns="45700" anchor="t"/>
          <a:lstStyle/>
          <a:p>
            <a:pPr algn="l">
              <a:spcBef>
                <a:spcPts val="0"/>
              </a:spcBef>
              <a:spcAft>
                <a:spcPts val="0"/>
              </a:spcAft>
            </a:pPr>
            <a:r>
              <a:rPr sz="3400" b="1" i="0">
                <a:solidFill>
                  <a:srgbClr val="0F766E"/>
                </a:solidFill>
                <a:latin typeface="Calibri"/>
              </a:rPr>
              <a:t>~50</a:t>
            </a:r>
          </a:p>
        </p:txBody>
      </p:sp>
      <p:sp>
        <p:nvSpPr>
          <p:cNvPr id="6" name="TextBox 5"/>
          <p:cNvSpPr txBox="1"/>
          <p:nvPr/>
        </p:nvSpPr>
        <p:spPr>
          <a:xfrm>
            <a:off x="7589520" y="2039112"/>
            <a:ext cx="3931920" cy="548640"/>
          </a:xfrm>
          <a:prstGeom prst="rect">
            <a:avLst/>
          </a:prstGeom>
          <a:noFill/>
        </p:spPr>
        <p:txBody>
          <a:bodyPr wrap="square" lIns="91425" rIns="91425" tIns="45700" bIns="45700" anchor="t"/>
          <a:lstStyle/>
          <a:p>
            <a:pPr algn="l">
              <a:spcBef>
                <a:spcPts val="0"/>
              </a:spcBef>
              <a:spcAft>
                <a:spcPts val="0"/>
              </a:spcAft>
            </a:pPr>
            <a:r>
              <a:rPr sz="1200" b="0" i="0">
                <a:solidFill>
                  <a:srgbClr val="7B8794"/>
                </a:solidFill>
                <a:latin typeface="Calibri"/>
              </a:rPr>
              <a:t>most prompt tokens any weighting adds or saves</a:t>
            </a:r>
          </a:p>
        </p:txBody>
      </p:sp>
      <p:sp>
        <p:nvSpPr>
          <p:cNvPr id="7" name="TextBox 6"/>
          <p:cNvSpPr txBox="1"/>
          <p:nvPr/>
        </p:nvSpPr>
        <p:spPr>
          <a:xfrm>
            <a:off x="7589520" y="2606040"/>
            <a:ext cx="3931920" cy="640080"/>
          </a:xfrm>
          <a:prstGeom prst="rect">
            <a:avLst/>
          </a:prstGeom>
          <a:noFill/>
        </p:spPr>
        <p:txBody>
          <a:bodyPr wrap="square" lIns="91425" rIns="91425" tIns="45700" bIns="45700" anchor="t"/>
          <a:lstStyle/>
          <a:p>
            <a:pPr algn="l">
              <a:spcBef>
                <a:spcPts val="0"/>
              </a:spcBef>
              <a:spcAft>
                <a:spcPts val="0"/>
              </a:spcAft>
            </a:pPr>
            <a:r>
              <a:rPr sz="3400" b="1" i="0">
                <a:solidFill>
                  <a:srgbClr val="0F766E"/>
                </a:solidFill>
                <a:latin typeface="Calibri"/>
              </a:rPr>
              <a:t>12-13%</a:t>
            </a:r>
          </a:p>
        </p:txBody>
      </p:sp>
      <p:sp>
        <p:nvSpPr>
          <p:cNvPr id="8" name="TextBox 7"/>
          <p:cNvSpPr txBox="1"/>
          <p:nvPr/>
        </p:nvSpPr>
        <p:spPr>
          <a:xfrm>
            <a:off x="7589520" y="3227832"/>
            <a:ext cx="3931920" cy="548640"/>
          </a:xfrm>
          <a:prstGeom prst="rect">
            <a:avLst/>
          </a:prstGeom>
          <a:noFill/>
        </p:spPr>
        <p:txBody>
          <a:bodyPr wrap="square" lIns="91425" rIns="91425" tIns="45700" bIns="45700" anchor="t"/>
          <a:lstStyle/>
          <a:p>
            <a:pPr algn="l">
              <a:spcBef>
                <a:spcPts val="0"/>
              </a:spcBef>
              <a:spcAft>
                <a:spcPts val="0"/>
              </a:spcAft>
            </a:pPr>
            <a:r>
              <a:rPr sz="1200" b="0" i="0">
                <a:solidFill>
                  <a:srgbClr val="7B8794"/>
                </a:solidFill>
                <a:latin typeface="Calibri"/>
              </a:rPr>
              <a:t>fewer prompt tokens with P2 than P0, at the same weights</a:t>
            </a:r>
          </a:p>
        </p:txBody>
      </p:sp>
      <p:sp>
        <p:nvSpPr>
          <p:cNvPr id="9" name="TextBox 8"/>
          <p:cNvSpPr txBox="1"/>
          <p:nvPr/>
        </p:nvSpPr>
        <p:spPr>
          <a:xfrm>
            <a:off x="7589520" y="3794760"/>
            <a:ext cx="3931920" cy="640080"/>
          </a:xfrm>
          <a:prstGeom prst="rect">
            <a:avLst/>
          </a:prstGeom>
          <a:noFill/>
        </p:spPr>
        <p:txBody>
          <a:bodyPr wrap="square" lIns="91425" rIns="91425" tIns="45700" bIns="45700" anchor="t"/>
          <a:lstStyle/>
          <a:p>
            <a:pPr algn="l">
              <a:spcBef>
                <a:spcPts val="0"/>
              </a:spcBef>
              <a:spcAft>
                <a:spcPts val="0"/>
              </a:spcAft>
            </a:pPr>
            <a:r>
              <a:rPr sz="3400" b="1" i="0">
                <a:solidFill>
                  <a:srgbClr val="0F766E"/>
                </a:solidFill>
                <a:latin typeface="Calibri"/>
              </a:rPr>
              <a:t>~$5</a:t>
            </a:r>
          </a:p>
        </p:txBody>
      </p:sp>
      <p:sp>
        <p:nvSpPr>
          <p:cNvPr id="10" name="TextBox 9"/>
          <p:cNvSpPr txBox="1"/>
          <p:nvPr/>
        </p:nvSpPr>
        <p:spPr>
          <a:xfrm>
            <a:off x="7589520" y="4416552"/>
            <a:ext cx="3931920" cy="548640"/>
          </a:xfrm>
          <a:prstGeom prst="rect">
            <a:avLst/>
          </a:prstGeom>
          <a:noFill/>
        </p:spPr>
        <p:txBody>
          <a:bodyPr wrap="square" lIns="91425" rIns="91425" tIns="45700" bIns="45700" anchor="t"/>
          <a:lstStyle/>
          <a:p>
            <a:pPr algn="l">
              <a:spcBef>
                <a:spcPts val="0"/>
              </a:spcBef>
              <a:spcAft>
                <a:spcPts val="0"/>
              </a:spcAft>
            </a:pPr>
            <a:r>
              <a:rPr sz="1200" b="0" i="0">
                <a:solidFill>
                  <a:srgbClr val="7B8794"/>
                </a:solidFill>
                <a:latin typeface="Calibri"/>
              </a:rPr>
              <a:t>for the whole 34,000-answer run (Qwen3 about 90% of it)</a:t>
            </a:r>
          </a:p>
        </p:txBody>
      </p:sp>
      <p:sp>
        <p:nvSpPr>
          <p:cNvPr id="11" name="Rectangle 10"/>
          <p:cNvSpPr/>
          <p:nvPr/>
        </p:nvSpPr>
        <p:spPr>
          <a:xfrm>
            <a:off x="640080" y="5074920"/>
            <a:ext cx="10881360" cy="1051560"/>
          </a:xfrm>
          <a:prstGeom prst="rect">
            <a:avLst/>
          </a:prstGeom>
          <a:solidFill>
            <a:srgbClr val="F7F8F9"/>
          </a:solidFill>
          <a:ln>
            <a:noFill/>
          </a:ln>
        </p:spPr>
        <p:txBody>
          <a:bodyPr rtlCol="0" anchor="ctr"/>
          <a:lstStyle/>
          <a:p>
            <a:pPr algn="ctr"/>
          </a:p>
        </p:txBody>
      </p:sp>
      <p:sp>
        <p:nvSpPr>
          <p:cNvPr id="12" name="Rectangle 11"/>
          <p:cNvSpPr/>
          <p:nvPr/>
        </p:nvSpPr>
        <p:spPr>
          <a:xfrm>
            <a:off x="640080" y="5074920"/>
            <a:ext cx="36576" cy="1051560"/>
          </a:xfrm>
          <a:prstGeom prst="rect">
            <a:avLst/>
          </a:prstGeom>
          <a:solidFill>
            <a:srgbClr val="0F766E"/>
          </a:solidFill>
          <a:ln>
            <a:noFill/>
          </a:ln>
        </p:spPr>
        <p:txBody>
          <a:bodyPr rtlCol="0" anchor="ctr"/>
          <a:lstStyle/>
          <a:p>
            <a:pPr algn="ctr"/>
          </a:p>
        </p:txBody>
      </p:sp>
      <p:sp>
        <p:nvSpPr>
          <p:cNvPr id="13" name="TextBox 12"/>
          <p:cNvSpPr txBox="1"/>
          <p:nvPr/>
        </p:nvSpPr>
        <p:spPr>
          <a:xfrm>
            <a:off x="914400" y="5202936"/>
            <a:ext cx="10332720" cy="795527"/>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For cost, choose the policy and the model, not the weights. </a:t>
            </a:r>
            <a:r>
              <a:rPr sz="1250" b="0" i="0">
                <a:solidFill>
                  <a:srgbClr val="1F2933"/>
                </a:solidFill>
                <a:latin typeface="Calibri"/>
              </a:rPr>
              <a:t>A reasoning model spends about 400 extra tokens thinking per answer, roughly 8 times what the weights can change.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The model changes how well facts are used, not whether they arrive</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11</a:t>
            </a:r>
          </a:p>
        </p:txBody>
      </p:sp>
      <p:graphicFrame>
        <p:nvGraphicFramePr>
          <p:cNvPr id="4" name="Table 3"/>
          <p:cNvGraphicFramePr>
            <a:graphicFrameLocks noGrp="1"/>
          </p:cNvGraphicFramePr>
          <p:nvPr/>
        </p:nvGraphicFramePr>
        <p:xfrm>
          <a:off x="640080" y="1417320"/>
          <a:ext cx="6766560" cy="2304288"/>
        </p:xfrm>
        <a:graphic>
          <a:graphicData uri="http://schemas.openxmlformats.org/drawingml/2006/table">
            <a:tbl>
              <a:tblPr firstRow="0" bandRow="0" firstCol="0" lastRow="0" lastCol="0" bandCol="0">
                <a:tableStyleId>{40A756E0-BA81-4B3E-BAA3-1FF234794D32}</a:tableStyleId>
              </a:tblPr>
              <a:tblGrid>
                <a:gridCol w="3566160"/>
                <a:gridCol w="1600200"/>
                <a:gridCol w="1600200"/>
              </a:tblGrid>
              <a:tr h="384048">
                <a:tc>
                  <a:txBody>
                    <a:bodyPr wrap="square"/>
                    <a:lstStyle/>
                    <a:p>
                      <a:pPr algn="l"/>
                      <a:r>
                        <a:rPr sz="1200" b="1" i="0">
                          <a:solidFill>
                            <a:srgbClr val="1F2933"/>
                          </a:solidFill>
                          <a:latin typeface="Calibri"/>
                        </a:rPr>
                        <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200" b="1" i="0">
                          <a:solidFill>
                            <a:srgbClr val="1F2933"/>
                          </a:solidFill>
                          <a:latin typeface="Calibri"/>
                        </a:rPr>
                        <a:t>Llama 3.1 8B</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200" b="1" i="0">
                          <a:solidFill>
                            <a:srgbClr val="1F2933"/>
                          </a:solidFill>
                          <a:latin typeface="Calibri"/>
                        </a:rPr>
                        <a:t>Qwen3 8B (reasoning)</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384048">
                <a:tc>
                  <a:txBody>
                    <a:bodyPr wrap="square"/>
                    <a:lstStyle/>
                    <a:p>
                      <a:pPr algn="l"/>
                      <a:r>
                        <a:rPr sz="1200" b="0" i="0">
                          <a:solidFill>
                            <a:srgbClr val="1F2933"/>
                          </a:solidFill>
                          <a:latin typeface="Calibri"/>
                        </a:rPr>
                        <a:t>uses the correct fact when present (MQuAKE-T)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0.86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1" i="0">
                          <a:solidFill>
                            <a:srgbClr val="0F766E"/>
                          </a:solidFill>
                          <a:latin typeface="Calibri"/>
                        </a:rPr>
                        <a:t>0.97</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l"/>
                      <a:r>
                        <a:rPr sz="1200" b="0" i="0">
                          <a:solidFill>
                            <a:srgbClr val="1F2933"/>
                          </a:solidFill>
                          <a:latin typeface="Calibri"/>
                        </a:rPr>
                        <a:t>repeats the outdated fact when present (MQuAKE-T)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0.16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1" i="0">
                          <a:solidFill>
                            <a:srgbClr val="0F766E"/>
                          </a:solidFill>
                          <a:latin typeface="Calibri"/>
                        </a:rPr>
                        <a:t>0.08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l"/>
                      <a:r>
                        <a:rPr sz="1200" b="0" i="0">
                          <a:solidFill>
                            <a:srgbClr val="1F2933"/>
                          </a:solidFill>
                          <a:latin typeface="Calibri"/>
                        </a:rPr>
                        <a:t>accuracy spread inside the good region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0.026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1" i="0">
                          <a:solidFill>
                            <a:srgbClr val="0F766E"/>
                          </a:solidFill>
                          <a:latin typeface="Calibri"/>
                        </a:rPr>
                        <a:t>0.009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l"/>
                      <a:r>
                        <a:rPr sz="1200" b="0" i="0">
                          <a:solidFill>
                            <a:srgbClr val="1F2933"/>
                          </a:solidFill>
                          <a:latin typeface="Calibri"/>
                        </a:rPr>
                        <a:t>mean accuracy, MQuAKE-T / ConvoMem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0.74 / 0.23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200" b="0" i="0">
                          <a:solidFill>
                            <a:srgbClr val="1F2933"/>
                          </a:solidFill>
                          <a:latin typeface="Calibri"/>
                        </a:rPr>
                        <a:t>0.83 / 0.28</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384048">
                <a:tc>
                  <a:txBody>
                    <a:bodyPr wrap="square"/>
                    <a:lstStyle/>
                    <a:p>
                      <a:pPr algn="l"/>
                      <a:r>
                        <a:rPr sz="1200" b="0" i="0">
                          <a:solidFill>
                            <a:srgbClr val="1F2933"/>
                          </a:solidFill>
                          <a:latin typeface="Calibri"/>
                        </a:rPr>
                        <a:t>rank agreement between the two models (MQuAKE-T / ConvoMem)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gridSpan="2">
                  <a:txBody>
                    <a:bodyPr wrap="square"/>
                    <a:lstStyle/>
                    <a:p>
                      <a:pPr algn="ctr"/>
                      <a:r>
                        <a:rPr sz="1200" b="0" i="0">
                          <a:solidFill>
                            <a:srgbClr val="1F2933"/>
                          </a:solidFill>
                          <a:latin typeface="Calibri"/>
                        </a:rPr>
                        <a:t>0.91 / 0.76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hMerge="1">
                  <a:txBody>
                    <a:bodyPr wrap="square"/>
                    <a:lstStyle/>
                    <a:p>
                      <a:pPr algn="ctr"/>
                      <a:r>
                        <a:rPr sz="1200" b="0" i="0">
                          <a:solidFill>
                            <a:srgbClr val="1F2933"/>
                          </a:solidFill>
                          <a:latin typeface="Calibri"/>
                        </a:rPr>
                        <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5" name="TextBox 4"/>
          <p:cNvSpPr txBox="1"/>
          <p:nvPr/>
        </p:nvSpPr>
        <p:spPr>
          <a:xfrm>
            <a:off x="7726679" y="1463040"/>
            <a:ext cx="3840480" cy="3200400"/>
          </a:xfrm>
          <a:prstGeom prst="rect">
            <a:avLst/>
          </a:prstGeom>
          <a:noFill/>
        </p:spPr>
        <p:txBody>
          <a:bodyPr wrap="square" lIns="91425" rIns="91425" tIns="45700" bIns="45700" anchor="t"/>
          <a:lstStyle/>
          <a:p>
            <a:pPr algn="l" marL="342900" indent="-342900">
              <a:lnSpc>
                <a:spcPct val="125000"/>
              </a:lnSpc>
              <a:spcBef>
                <a:spcPts val="600"/>
              </a:spcBef>
              <a:spcAft>
                <a:spcPts val="0"/>
              </a:spcAft>
              <a:buClr>
                <a:srgbClr val="1F2933"/>
              </a:buClr>
              <a:buFont typeface="Calibri"/>
              <a:buChar char="•"/>
            </a:pPr>
            <a:r>
              <a:rPr sz="1250" b="1" i="0">
                <a:solidFill>
                  <a:srgbClr val="1F2933"/>
                </a:solidFill>
                <a:latin typeface="Calibri"/>
              </a:rPr>
              <a:t>A better reader </a:t>
            </a:r>
            <a:r>
              <a:rPr sz="1250" b="0" i="0">
                <a:solidFill>
                  <a:srgbClr val="1F2933"/>
                </a:solidFill>
                <a:latin typeface="Calibri"/>
              </a:rPr>
              <a:t>is three times less sensitive to the exact weights.</a:t>
            </a:r>
          </a:p>
          <a:p>
            <a:pPr algn="l" marL="342900" indent="-342900">
              <a:lnSpc>
                <a:spcPct val="125000"/>
              </a:lnSpc>
              <a:spcBef>
                <a:spcPts val="600"/>
              </a:spcBef>
              <a:spcAft>
                <a:spcPts val="0"/>
              </a:spcAft>
              <a:buClr>
                <a:srgbClr val="1F2933"/>
              </a:buClr>
              <a:buFont typeface="Calibri"/>
              <a:buChar char="•"/>
            </a:pPr>
            <a:r>
              <a:rPr sz="1250" b="1" i="0">
                <a:solidFill>
                  <a:srgbClr val="1F2933"/>
                </a:solidFill>
                <a:latin typeface="Calibri"/>
              </a:rPr>
              <a:t>Both fail the same way </a:t>
            </a:r>
            <a:r>
              <a:rPr sz="1250" b="0" i="0">
                <a:solidFill>
                  <a:srgbClr val="1F2933"/>
                </a:solidFill>
                <a:latin typeface="Calibri"/>
              </a:rPr>
              <a:t>when the correct fact is missing.</a:t>
            </a:r>
          </a:p>
          <a:p>
            <a:pPr algn="l" marL="342900" indent="-342900">
              <a:lnSpc>
                <a:spcPct val="125000"/>
              </a:lnSpc>
              <a:spcBef>
                <a:spcPts val="600"/>
              </a:spcBef>
              <a:spcAft>
                <a:spcPts val="0"/>
              </a:spcAft>
              <a:buClr>
                <a:srgbClr val="1F2933"/>
              </a:buClr>
              <a:buFont typeface="Calibri"/>
              <a:buChar char="•"/>
            </a:pPr>
            <a:r>
              <a:rPr sz="1250" b="1" i="0">
                <a:solidFill>
                  <a:srgbClr val="1F2933"/>
                </a:solidFill>
                <a:latin typeface="Calibri"/>
              </a:rPr>
              <a:t>Answers the frontier question: </a:t>
            </a:r>
            <a:r>
              <a:rPr sz="1250" b="0" i="0">
                <a:solidFill>
                  <a:srgbClr val="1F2933"/>
                </a:solidFill>
                <a:latin typeface="Calibri"/>
              </a:rPr>
              <a:t>stronger models help, but retrieval and forgetting stay the bottleneck.</a:t>
            </a:r>
          </a:p>
        </p:txBody>
      </p:sp>
      <p:sp>
        <p:nvSpPr>
          <p:cNvPr id="6" name="Rectangle 5"/>
          <p:cNvSpPr/>
          <p:nvPr/>
        </p:nvSpPr>
        <p:spPr>
          <a:xfrm>
            <a:off x="640080" y="4983480"/>
            <a:ext cx="10881360" cy="1143000"/>
          </a:xfrm>
          <a:prstGeom prst="rect">
            <a:avLst/>
          </a:prstGeom>
          <a:solidFill>
            <a:srgbClr val="F7F8F9"/>
          </a:solidFill>
          <a:ln>
            <a:noFill/>
          </a:ln>
        </p:spPr>
        <p:txBody>
          <a:bodyPr rtlCol="0" anchor="ctr"/>
          <a:lstStyle/>
          <a:p>
            <a:pPr algn="ctr"/>
          </a:p>
        </p:txBody>
      </p:sp>
      <p:sp>
        <p:nvSpPr>
          <p:cNvPr id="7" name="Rectangle 6"/>
          <p:cNvSpPr/>
          <p:nvPr/>
        </p:nvSpPr>
        <p:spPr>
          <a:xfrm>
            <a:off x="640080" y="4983480"/>
            <a:ext cx="36576" cy="1143000"/>
          </a:xfrm>
          <a:prstGeom prst="rect">
            <a:avLst/>
          </a:prstGeom>
          <a:solidFill>
            <a:srgbClr val="0F766E"/>
          </a:solidFill>
          <a:ln>
            <a:noFill/>
          </a:ln>
        </p:spPr>
        <p:txBody>
          <a:bodyPr rtlCol="0" anchor="ctr"/>
          <a:lstStyle/>
          <a:p>
            <a:pPr algn="ctr"/>
          </a:p>
        </p:txBody>
      </p:sp>
      <p:sp>
        <p:nvSpPr>
          <p:cNvPr id="8" name="TextBox 7"/>
          <p:cNvSpPr txBox="1"/>
          <p:nvPr/>
        </p:nvSpPr>
        <p:spPr>
          <a:xfrm>
            <a:off x="914400" y="5111496"/>
            <a:ext cx="10332720" cy="88696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Why this matters for the final runs. </a:t>
            </a:r>
            <a:r>
              <a:rPr sz="1250" b="0" i="0">
                <a:solidFill>
                  <a:srgbClr val="1F2933"/>
                </a:solidFill>
                <a:latin typeface="Calibri"/>
              </a:rPr>
              <a:t>Testing across model sizes should show the forgetting-policy effect holding as models get stronger, while the gap between policies narrows only where reading, not retrieval, was the weakness.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How to choose the weights, by scenario</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12</a:t>
            </a:r>
          </a:p>
        </p:txBody>
      </p:sp>
      <p:graphicFrame>
        <p:nvGraphicFramePr>
          <p:cNvPr id="4" name="Table 3"/>
          <p:cNvGraphicFramePr>
            <a:graphicFrameLocks noGrp="1"/>
          </p:cNvGraphicFramePr>
          <p:nvPr/>
        </p:nvGraphicFramePr>
        <p:xfrm>
          <a:off x="640080" y="1371600"/>
          <a:ext cx="10881360" cy="2944368"/>
        </p:xfrm>
        <a:graphic>
          <a:graphicData uri="http://schemas.openxmlformats.org/drawingml/2006/table">
            <a:tbl>
              <a:tblPr firstRow="0" bandRow="0" firstCol="0" lastRow="0" lastCol="0" bandCol="0">
                <a:tableStyleId>{40A756E0-BA81-4B3E-BAA3-1FF234794D32}</a:tableStyleId>
              </a:tblPr>
              <a:tblGrid>
                <a:gridCol w="3200400"/>
                <a:gridCol w="3291840"/>
                <a:gridCol w="4389120"/>
              </a:tblGrid>
              <a:tr h="420624">
                <a:tc>
                  <a:txBody>
                    <a:bodyPr wrap="square"/>
                    <a:lstStyle/>
                    <a:p>
                      <a:pPr algn="l"/>
                      <a:r>
                        <a:rPr sz="1150" b="1" i="0">
                          <a:solidFill>
                            <a:srgbClr val="1F2933"/>
                          </a:solidFill>
                          <a:latin typeface="Calibri"/>
                        </a:rPr>
                        <a:t>scenario</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recommended weights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why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420624">
                <a:tc>
                  <a:txBody>
                    <a:bodyPr wrap="square"/>
                    <a:lstStyle/>
                    <a:p>
                      <a:pPr algn="l"/>
                      <a:r>
                        <a:rPr sz="1150" b="0" i="0">
                          <a:solidFill>
                            <a:srgbClr val="1F2933"/>
                          </a:solidFill>
                          <a:latin typeface="Calibri"/>
                        </a:rPr>
                        <a:t>memory with invalidation (P2)</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recency share about 0.1</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invalidation already removes outdated facts; recency only loses correct ones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20624">
                <a:tc>
                  <a:txBody>
                    <a:bodyPr wrap="square"/>
                    <a:lstStyle/>
                    <a:p>
                      <a:pPr algn="l"/>
                      <a:r>
                        <a:rPr sz="1150" b="0" i="0">
                          <a:solidFill>
                            <a:srgbClr val="1F2933"/>
                          </a:solidFill>
                          <a:latin typeface="Calibri"/>
                        </a:rPr>
                        <a:t>memory without invalidation, staleness costly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recency share 0.2 to 0.3, or add invalidation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recency is the only defence there, and costs accuracy fast past 0.3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20624">
                <a:tc>
                  <a:txBody>
                    <a:bodyPr wrap="square"/>
                    <a:lstStyle/>
                    <a:p>
                      <a:pPr algn="l"/>
                      <a:r>
                        <a:rPr sz="1150" b="0" i="0">
                          <a:solidFill>
                            <a:srgbClr val="1F2933"/>
                          </a:solidFill>
                          <a:latin typeface="Calibri"/>
                        </a:rPr>
                        <a:t>conversational, paraphrase-heavy memory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semantic share 0.6 to 0.8, lexical low</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semantic worth about 7 points on ConvoMem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20624">
                <a:tc>
                  <a:txBody>
                    <a:bodyPr wrap="square"/>
                    <a:lstStyle/>
                    <a:p>
                      <a:pPr algn="l"/>
                      <a:r>
                        <a:rPr sz="1150" b="0" i="0">
                          <a:solidFill>
                            <a:srgbClr val="1F2933"/>
                          </a:solidFill>
                          <a:latin typeface="Calibri"/>
                        </a:rPr>
                        <a:t>templated, entity-keyed facts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any semantic / lexical balance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the balance does not matter on MQuAKE-T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20624">
                <a:tc>
                  <a:txBody>
                    <a:bodyPr wrap="square"/>
                    <a:lstStyle/>
                    <a:p>
                      <a:pPr algn="l"/>
                      <a:r>
                        <a:rPr sz="1150" b="0" i="0">
                          <a:solidFill>
                            <a:srgbClr val="1F2933"/>
                          </a:solidFill>
                          <a:latin typeface="Calibri"/>
                        </a:rPr>
                        <a:t>small or weak answer model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stay well inside the good region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three times more sensitive to the exact weights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20624">
                <a:tc>
                  <a:txBody>
                    <a:bodyPr wrap="square"/>
                    <a:lstStyle/>
                    <a:p>
                      <a:pPr algn="l"/>
                      <a:r>
                        <a:rPr sz="1150" b="0" i="0">
                          <a:solidFill>
                            <a:srgbClr val="1F2933"/>
                          </a:solidFill>
                          <a:latin typeface="Calibri"/>
                        </a:rPr>
                        <a:t>prompt-cost constrained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1" i="0">
                          <a:solidFill>
                            <a:srgbClr val="0F766E"/>
                          </a:solidFill>
                          <a:latin typeface="Calibri"/>
                        </a:rPr>
                        <a:t>ignore the weights for cost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they move prompt size by under 50 tokens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5" name="Rectangle 4"/>
          <p:cNvSpPr/>
          <p:nvPr/>
        </p:nvSpPr>
        <p:spPr>
          <a:xfrm>
            <a:off x="640080" y="4526280"/>
            <a:ext cx="10881360" cy="1600200"/>
          </a:xfrm>
          <a:prstGeom prst="rect">
            <a:avLst/>
          </a:prstGeom>
          <a:solidFill>
            <a:srgbClr val="F7F8F9"/>
          </a:solidFill>
          <a:ln>
            <a:noFill/>
          </a:ln>
        </p:spPr>
        <p:txBody>
          <a:bodyPr rtlCol="0" anchor="ctr"/>
          <a:lstStyle/>
          <a:p>
            <a:pPr algn="ctr"/>
          </a:p>
        </p:txBody>
      </p:sp>
      <p:sp>
        <p:nvSpPr>
          <p:cNvPr id="6" name="Rectangle 5"/>
          <p:cNvSpPr/>
          <p:nvPr/>
        </p:nvSpPr>
        <p:spPr>
          <a:xfrm>
            <a:off x="640080" y="4526280"/>
            <a:ext cx="36576" cy="1600200"/>
          </a:xfrm>
          <a:prstGeom prst="rect">
            <a:avLst/>
          </a:prstGeom>
          <a:solidFill>
            <a:srgbClr val="0F766E"/>
          </a:solidFill>
          <a:ln>
            <a:noFill/>
          </a:ln>
        </p:spPr>
        <p:txBody>
          <a:bodyPr rtlCol="0" anchor="ctr"/>
          <a:lstStyle/>
          <a:p>
            <a:pPr algn="ctr"/>
          </a:p>
        </p:txBody>
      </p:sp>
      <p:sp>
        <p:nvSpPr>
          <p:cNvPr id="7" name="TextBox 6"/>
          <p:cNvSpPr txBox="1"/>
          <p:nvPr/>
        </p:nvSpPr>
        <p:spPr>
          <a:xfrm>
            <a:off x="914400" y="4654296"/>
            <a:ext cx="10332720" cy="134416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The good region, on both benchmarks and both models: </a:t>
            </a:r>
            <a:r>
              <a:rPr sz="1250" b="0" i="0">
                <a:solidFill>
                  <a:srgbClr val="1F2933"/>
                </a:solidFill>
                <a:latin typeface="Calibri"/>
              </a:rPr>
              <a:t>recency at most 20% of the total, and semantic at least equal to lexical. Inside it, MQuAKE-T averages 0.90 and ConvoMem 0.33; outside, 0.77 and 0.25.</a:t>
            </a:r>
          </a:p>
          <a:p>
            <a:pPr algn="l">
              <a:spcBef>
                <a:spcPts val="600"/>
              </a:spcBef>
              <a:spcAft>
                <a:spcPts val="0"/>
              </a:spcAft>
            </a:pPr>
            <a:r>
              <a:rPr sz="1250" b="1" i="0">
                <a:solidFill>
                  <a:srgbClr val="1F2933"/>
                </a:solidFill>
                <a:latin typeface="Calibri"/>
              </a:rPr>
              <a:t>For the thesis, keep 0.6 / 0.3 / 0.1. </a:t>
            </a:r>
            <a:r>
              <a:rPr sz="1250" b="0" i="0">
                <a:solidFill>
                  <a:srgbClr val="1F2933"/>
                </a:solidFill>
                <a:latin typeface="Calibri"/>
              </a:rPr>
              <a:t>It was fixed before these results and sits inside the region. Changing it now would be choosing on test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Three benchmarks, three different tests</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13</a:t>
            </a:r>
          </a:p>
        </p:txBody>
      </p:sp>
      <p:graphicFrame>
        <p:nvGraphicFramePr>
          <p:cNvPr id="4" name="Table 3"/>
          <p:cNvGraphicFramePr>
            <a:graphicFrameLocks noGrp="1"/>
          </p:cNvGraphicFramePr>
          <p:nvPr/>
        </p:nvGraphicFramePr>
        <p:xfrm>
          <a:off x="640080" y="1371600"/>
          <a:ext cx="10881360" cy="3968496"/>
        </p:xfrm>
        <a:graphic>
          <a:graphicData uri="http://schemas.openxmlformats.org/drawingml/2006/table">
            <a:tbl>
              <a:tblPr firstRow="0" bandRow="0" firstCol="0" lastRow="0" lastCol="0" bandCol="0">
                <a:tableStyleId>{40A756E0-BA81-4B3E-BAA3-1FF234794D32}</a:tableStyleId>
              </a:tblPr>
              <a:tblGrid>
                <a:gridCol w="1828800"/>
                <a:gridCol w="3017520"/>
                <a:gridCol w="3017520"/>
                <a:gridCol w="3017520"/>
              </a:tblGrid>
              <a:tr h="566928">
                <a:tc>
                  <a:txBody>
                    <a:bodyPr wrap="square"/>
                    <a:lstStyle/>
                    <a:p>
                      <a:pPr algn="l"/>
                      <a:r>
                        <a:rPr sz="1100" b="1" i="0">
                          <a:solidFill>
                            <a:srgbClr val="1F2933"/>
                          </a:solidFill>
                          <a:latin typeface="Calibri"/>
                        </a:rPr>
                        <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00" b="1" i="0">
                          <a:solidFill>
                            <a:srgbClr val="1F2933"/>
                          </a:solidFill>
                          <a:latin typeface="Calibri"/>
                        </a:rPr>
                        <a:t>MQuAKE-T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00" b="1" i="0">
                          <a:solidFill>
                            <a:srgbClr val="1F2933"/>
                          </a:solidFill>
                          <a:latin typeface="Calibri"/>
                        </a:rPr>
                        <a:t>FactConsolidation</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00" b="1" i="0">
                          <a:solidFill>
                            <a:srgbClr val="1F2933"/>
                          </a:solidFill>
                          <a:latin typeface="Calibri"/>
                        </a:rPr>
                        <a:t>ConvoMem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566928">
                <a:tc>
                  <a:txBody>
                    <a:bodyPr wrap="square"/>
                    <a:lstStyle/>
                    <a:p>
                      <a:pPr algn="l"/>
                      <a:r>
                        <a:rPr sz="1100" b="1" i="0">
                          <a:solidFill>
                            <a:srgbClr val="1F2933"/>
                          </a:solidFill>
                          <a:latin typeface="Calibri"/>
                        </a:rPr>
                        <a:t>source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temporal knowledge edits (MQuAKE)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MemoryAgentBench, single-hop</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changing-facts subset of ConvoMem</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566928">
                <a:tc>
                  <a:txBody>
                    <a:bodyPr wrap="square"/>
                    <a:lstStyle/>
                    <a:p>
                      <a:pPr algn="l"/>
                      <a:r>
                        <a:rPr sz="1100" b="1" i="0">
                          <a:solidFill>
                            <a:srgbClr val="1F2933"/>
                          </a:solidFill>
                          <a:latin typeface="Calibri"/>
                        </a:rPr>
                        <a:t>made of</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real Wikidata facts that changed between snapshots (heads of government, CEOs)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templated facts, each later overwritten by a counterfactual edit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multi-session user and assistant conversations where a detail (time, day, number) changes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566928">
                <a:tc>
                  <a:txBody>
                    <a:bodyPr wrap="square"/>
                    <a:lstStyle/>
                    <a:p>
                      <a:pPr algn="l"/>
                      <a:r>
                        <a:rPr sz="1100" b="1" i="0">
                          <a:solidFill>
                            <a:srgbClr val="1F2933"/>
                          </a:solidFill>
                          <a:latin typeface="Calibri"/>
                        </a:rPr>
                        <a:t>size in our runs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96 questions, 38 sessions, ~380 facts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100 questions, 38 sessions, ~380 facts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100 questions, 10 conversations, 200 sessions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566928">
                <a:tc>
                  <a:txBody>
                    <a:bodyPr wrap="square"/>
                    <a:lstStyle/>
                    <a:p>
                      <a:pPr algn="l"/>
                      <a:r>
                        <a:rPr sz="1100" b="1" i="0">
                          <a:solidFill>
                            <a:srgbClr val="1F2933"/>
                          </a:solidFill>
                          <a:latin typeface="Calibri"/>
                        </a:rPr>
                        <a:t>outdated answer known for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96 of 96 questions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65 of 100 questions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100 of 100 questions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566928">
                <a:tc>
                  <a:txBody>
                    <a:bodyPr wrap="square"/>
                    <a:lstStyle/>
                    <a:p>
                      <a:pPr algn="l"/>
                      <a:r>
                        <a:rPr sz="1100" b="1" i="0">
                          <a:solidFill>
                            <a:srgbClr val="1F2933"/>
                          </a:solidFill>
                          <a:latin typeface="Calibri"/>
                        </a:rPr>
                        <a:t>what it tests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returning the current value after a real-world change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maximum staleness pressure: nearly every fact is superseded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realistic dialogue: extraction, paraphrase, noisy updates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566928">
                <a:tc>
                  <a:txBody>
                    <a:bodyPr wrap="square"/>
                    <a:lstStyle/>
                    <a:p>
                      <a:pPr algn="l"/>
                      <a:r>
                        <a:rPr sz="1100" b="1" i="0">
                          <a:solidFill>
                            <a:srgbClr val="1F2933"/>
                          </a:solidFill>
                          <a:latin typeface="Calibri"/>
                        </a:rPr>
                        <a:t>how it helps the thesis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clean, templated facts isolate the policy effect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counterfactual, so the model cannot answer from pretraining</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00" b="0" i="0">
                          <a:solidFill>
                            <a:srgbClr val="1F2933"/>
                          </a:solidFill>
                          <a:latin typeface="Calibri"/>
                        </a:rPr>
                        <a:t>shows where invalidation breaks (fact naming) and still helps (staleness)</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5" name="Rectangle 4"/>
          <p:cNvSpPr/>
          <p:nvPr/>
        </p:nvSpPr>
        <p:spPr>
          <a:xfrm>
            <a:off x="640080" y="5532120"/>
            <a:ext cx="10881360" cy="685800"/>
          </a:xfrm>
          <a:prstGeom prst="rect">
            <a:avLst/>
          </a:prstGeom>
          <a:solidFill>
            <a:srgbClr val="F7F8F9"/>
          </a:solidFill>
          <a:ln>
            <a:noFill/>
          </a:ln>
        </p:spPr>
        <p:txBody>
          <a:bodyPr rtlCol="0" anchor="ctr"/>
          <a:lstStyle/>
          <a:p>
            <a:pPr algn="ctr"/>
          </a:p>
        </p:txBody>
      </p:sp>
      <p:sp>
        <p:nvSpPr>
          <p:cNvPr id="6" name="Rectangle 5"/>
          <p:cNvSpPr/>
          <p:nvPr/>
        </p:nvSpPr>
        <p:spPr>
          <a:xfrm>
            <a:off x="640080" y="5532120"/>
            <a:ext cx="36576" cy="685800"/>
          </a:xfrm>
          <a:prstGeom prst="rect">
            <a:avLst/>
          </a:prstGeom>
          <a:solidFill>
            <a:srgbClr val="0F766E"/>
          </a:solidFill>
          <a:ln>
            <a:noFill/>
          </a:ln>
        </p:spPr>
        <p:txBody>
          <a:bodyPr rtlCol="0" anchor="ctr"/>
          <a:lstStyle/>
          <a:p>
            <a:pPr algn="ctr"/>
          </a:p>
        </p:txBody>
      </p:sp>
      <p:sp>
        <p:nvSpPr>
          <p:cNvPr id="7" name="TextBox 6"/>
          <p:cNvSpPr txBox="1"/>
          <p:nvPr/>
        </p:nvSpPr>
        <p:spPr>
          <a:xfrm>
            <a:off x="914400" y="5660136"/>
            <a:ext cx="10332720" cy="429768"/>
          </a:xfrm>
          <a:prstGeom prst="rect">
            <a:avLst/>
          </a:prstGeom>
          <a:noFill/>
        </p:spPr>
        <p:txBody>
          <a:bodyPr wrap="square" lIns="91425" rIns="91425" tIns="45700" bIns="45700" anchor="ctr"/>
          <a:lstStyle/>
          <a:p>
            <a:pPr algn="l">
              <a:spcBef>
                <a:spcPts val="0"/>
              </a:spcBef>
              <a:spcAft>
                <a:spcPts val="0"/>
              </a:spcAft>
            </a:pPr>
            <a:r>
              <a:rPr sz="1200" b="1" i="0">
                <a:solidFill>
                  <a:srgbClr val="1F2933"/>
                </a:solidFill>
                <a:latin typeface="Calibri"/>
              </a:rPr>
              <a:t>Together: </a:t>
            </a:r>
            <a:r>
              <a:rPr sz="1200" b="0" i="0">
                <a:solidFill>
                  <a:srgbClr val="1F2933"/>
                </a:solidFill>
                <a:latin typeface="Calibri"/>
              </a:rPr>
              <a:t>one real-world, one adversarial, one conversational. A result that holds on all three is not an artefact of one data format.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Proposed model line-up for the final thesis experiments</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14</a:t>
            </a:r>
          </a:p>
        </p:txBody>
      </p:sp>
      <p:graphicFrame>
        <p:nvGraphicFramePr>
          <p:cNvPr id="4" name="Table 3"/>
          <p:cNvGraphicFramePr>
            <a:graphicFrameLocks noGrp="1"/>
          </p:cNvGraphicFramePr>
          <p:nvPr/>
        </p:nvGraphicFramePr>
        <p:xfrm>
          <a:off x="640080" y="1371600"/>
          <a:ext cx="10881360" cy="2880360"/>
        </p:xfrm>
        <a:graphic>
          <a:graphicData uri="http://schemas.openxmlformats.org/drawingml/2006/table">
            <a:tbl>
              <a:tblPr firstRow="0" bandRow="0" firstCol="0" lastRow="0" lastCol="0" bandCol="0">
                <a:tableStyleId>{40A756E0-BA81-4B3E-BAA3-1FF234794D32}</a:tableStyleId>
              </a:tblPr>
              <a:tblGrid>
                <a:gridCol w="1417320"/>
                <a:gridCol w="2651760"/>
                <a:gridCol w="2377440"/>
                <a:gridCol w="2743200"/>
                <a:gridCol w="1691640"/>
              </a:tblGrid>
              <a:tr h="411480">
                <a:tc>
                  <a:txBody>
                    <a:bodyPr wrap="square"/>
                    <a:lstStyle/>
                    <a:p>
                      <a:pPr algn="l"/>
                      <a:r>
                        <a:rPr sz="1150" b="1" i="0">
                          <a:solidFill>
                            <a:srgbClr val="1F2933"/>
                          </a:solidFill>
                          <a:latin typeface="Calibri"/>
                        </a:rPr>
                        <a:t>tier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model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price per 1M tokens (in / out)</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why this one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c>
                  <a:txBody>
                    <a:bodyPr wrap="square"/>
                    <a:lstStyle/>
                    <a:p>
                      <a:pPr algn="ctr"/>
                      <a:r>
                        <a:rPr sz="1150" b="1" i="0">
                          <a:solidFill>
                            <a:srgbClr val="1F2933"/>
                          </a:solidFill>
                          <a:latin typeface="Calibri"/>
                        </a:rPr>
                        <a:t>est. cost, full matrix</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7F8F9"/>
                    </a:solidFill>
                  </a:tcPr>
                </a:tc>
              </a:tr>
              <a:tr h="411480">
                <a:tc>
                  <a:txBody>
                    <a:bodyPr wrap="square"/>
                    <a:lstStyle/>
                    <a:p>
                      <a:pPr algn="l"/>
                      <a:r>
                        <a:rPr sz="1150" b="1" i="0">
                          <a:solidFill>
                            <a:srgbClr val="1F2933"/>
                          </a:solidFill>
                          <a:latin typeface="Calibri"/>
                        </a:rPr>
                        <a:t>frontier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OpenAI GPT-6.1 Sol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$2 / $10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frontier tier at 1/5 the flagship price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$3 to $9</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11480">
                <a:tc>
                  <a:txBody>
                    <a:bodyPr wrap="square"/>
                    <a:lstStyle/>
                    <a:p>
                      <a:pPr algn="l"/>
                      <a:r>
                        <a:rPr sz="1150" b="1" i="0">
                          <a:solidFill>
                            <a:srgbClr val="1F2933"/>
                          </a:solidFill>
                          <a:latin typeface="Calibri"/>
                        </a:rPr>
                        <a:t>frontier</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Anthropic Claude Sonnet 5.5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$2 / $10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frontier tier from a second family</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about $3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11480">
                <a:tc>
                  <a:txBody>
                    <a:bodyPr wrap="square"/>
                    <a:lstStyle/>
                    <a:p>
                      <a:pPr algn="l"/>
                      <a:r>
                        <a:rPr sz="1150" b="1" i="0">
                          <a:solidFill>
                            <a:srgbClr val="1F2933"/>
                          </a:solidFill>
                          <a:latin typeface="Calibri"/>
                        </a:rPr>
                        <a:t>mid</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Google Gemini 3.8 Flash</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$0.75 / $3.75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third family, strong and cheap</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$1 to $3</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11480">
                <a:tc>
                  <a:txBody>
                    <a:bodyPr wrap="square"/>
                    <a:lstStyle/>
                    <a:p>
                      <a:pPr algn="l"/>
                      <a:r>
                        <a:rPr sz="1150" b="1" i="0">
                          <a:solidFill>
                            <a:srgbClr val="1F2933"/>
                          </a:solidFill>
                          <a:latin typeface="Calibri"/>
                        </a:rPr>
                        <a:t>small</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Meta Llama 3.1 8B</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$0.02 / $0.04</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already run; fast, no reasoning</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under $0.05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11480">
                <a:tc>
                  <a:txBody>
                    <a:bodyPr wrap="square"/>
                    <a:lstStyle/>
                    <a:p>
                      <a:pPr algn="l"/>
                      <a:r>
                        <a:rPr sz="1150" b="1" i="0">
                          <a:solidFill>
                            <a:srgbClr val="1F2933"/>
                          </a:solidFill>
                          <a:latin typeface="Calibri"/>
                        </a:rPr>
                        <a:t>small, reasoning</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Qwen3 8B</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$0.12 / $0.46</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already run; shows the effect of thinking</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about $0.55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r h="411480">
                <a:tc>
                  <a:txBody>
                    <a:bodyPr wrap="square"/>
                    <a:lstStyle/>
                    <a:p>
                      <a:pPr algn="l"/>
                      <a:r>
                        <a:rPr sz="1150" b="1" i="0">
                          <a:solidFill>
                            <a:srgbClr val="1F2933"/>
                          </a:solidFill>
                          <a:latin typeface="Calibri"/>
                        </a:rPr>
                        <a:t>judge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DeepSeek V4.1 Flash</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$0.03 / $0.60</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a family none of the answer models share</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c>
                  <a:txBody>
                    <a:bodyPr wrap="square"/>
                    <a:lstStyle/>
                    <a:p>
                      <a:pPr algn="ctr"/>
                      <a:r>
                        <a:rPr sz="1150" b="0" i="0">
                          <a:solidFill>
                            <a:srgbClr val="1F2933"/>
                          </a:solidFill>
                          <a:latin typeface="Calibri"/>
                        </a:rPr>
                        <a:t>about $0.25</a:t>
                      </a:r>
                    </a:p>
                  </a:txBody>
                  <a:tcPr marL="91450" marR="91450" marT="45725" marB="45725" anchor="ctr">
                    <a:lnL w="9525" cap="flat" cmpd="sng">
                      <a:solidFill>
                        <a:srgbClr val="E4E7EB"/>
                      </a:solidFill>
                      <a:prstDash val="solid"/>
                    </a:lnL>
                    <a:lnR w="9525" cap="flat" cmpd="sng">
                      <a:solidFill>
                        <a:srgbClr val="E4E7EB"/>
                      </a:solidFill>
                      <a:prstDash val="solid"/>
                    </a:lnR>
                    <a:lnT w="9525" cap="flat" cmpd="sng">
                      <a:solidFill>
                        <a:srgbClr val="E4E7EB"/>
                      </a:solidFill>
                      <a:prstDash val="solid"/>
                    </a:lnT>
                    <a:lnB w="9525" cap="flat" cmpd="sng">
                      <a:solidFill>
                        <a:srgbClr val="E4E7EB"/>
                      </a:solidFill>
                      <a:prstDash val="solid"/>
                    </a:lnB>
                    <a:solidFill>
                      <a:srgbClr val="FFFFFF"/>
                    </a:solidFill>
                  </a:tcPr>
                </a:tc>
              </a:tr>
            </a:tbl>
          </a:graphicData>
        </a:graphic>
      </p:graphicFrame>
      <p:sp>
        <p:nvSpPr>
          <p:cNvPr id="5" name="TextBox 4"/>
          <p:cNvSpPr txBox="1"/>
          <p:nvPr/>
        </p:nvSpPr>
        <p:spPr>
          <a:xfrm>
            <a:off x="640080" y="4434840"/>
            <a:ext cx="10881360" cy="731520"/>
          </a:xfrm>
          <a:prstGeom prst="rect">
            <a:avLst/>
          </a:prstGeom>
          <a:noFill/>
        </p:spPr>
        <p:txBody>
          <a:bodyPr wrap="square" lIns="91425" rIns="91425" tIns="45700" bIns="45700" anchor="t"/>
          <a:lstStyle/>
          <a:p>
            <a:pPr algn="l" marL="342900" indent="-342900">
              <a:lnSpc>
                <a:spcPct val="120000"/>
              </a:lnSpc>
              <a:spcBef>
                <a:spcPts val="0"/>
              </a:spcBef>
              <a:spcAft>
                <a:spcPts val="0"/>
              </a:spcAft>
              <a:buClr>
                <a:srgbClr val="1F2933"/>
              </a:buClr>
              <a:buFont typeface="Calibri"/>
              <a:buChar char="•"/>
            </a:pPr>
            <a:r>
              <a:rPr sz="1200" b="1" i="0">
                <a:solidFill>
                  <a:srgbClr val="1F2933"/>
                </a:solidFill>
                <a:latin typeface="Calibri"/>
              </a:rPr>
              <a:t>Full matrix per model: </a:t>
            </a:r>
            <a:r>
              <a:rPr sz="1200" b="0" i="0">
                <a:solidFill>
                  <a:srgbClr val="1F2933"/>
                </a:solidFill>
                <a:latin typeface="Calibri"/>
              </a:rPr>
              <a:t>7 policies x 296 questions across the three benchmarks = 2,072 answers. Extraction is already cached and reused, so only answering and grading cost money.</a:t>
            </a:r>
          </a:p>
        </p:txBody>
      </p:sp>
      <p:sp>
        <p:nvSpPr>
          <p:cNvPr id="6" name="Rectangle 5"/>
          <p:cNvSpPr/>
          <p:nvPr/>
        </p:nvSpPr>
        <p:spPr>
          <a:xfrm>
            <a:off x="640080" y="5257800"/>
            <a:ext cx="10881360" cy="914400"/>
          </a:xfrm>
          <a:prstGeom prst="rect">
            <a:avLst/>
          </a:prstGeom>
          <a:solidFill>
            <a:srgbClr val="F7F8F9"/>
          </a:solidFill>
          <a:ln>
            <a:noFill/>
          </a:ln>
        </p:spPr>
        <p:txBody>
          <a:bodyPr rtlCol="0" anchor="ctr"/>
          <a:lstStyle/>
          <a:p>
            <a:pPr algn="ctr"/>
          </a:p>
        </p:txBody>
      </p:sp>
      <p:sp>
        <p:nvSpPr>
          <p:cNvPr id="7" name="Rectangle 6"/>
          <p:cNvSpPr/>
          <p:nvPr/>
        </p:nvSpPr>
        <p:spPr>
          <a:xfrm>
            <a:off x="640080" y="5257800"/>
            <a:ext cx="36576" cy="914400"/>
          </a:xfrm>
          <a:prstGeom prst="rect">
            <a:avLst/>
          </a:prstGeom>
          <a:solidFill>
            <a:srgbClr val="0F766E"/>
          </a:solidFill>
          <a:ln>
            <a:noFill/>
          </a:ln>
        </p:spPr>
        <p:txBody>
          <a:bodyPr rtlCol="0" anchor="ctr"/>
          <a:lstStyle/>
          <a:p>
            <a:pPr algn="ctr"/>
          </a:p>
        </p:txBody>
      </p:sp>
      <p:sp>
        <p:nvSpPr>
          <p:cNvPr id="8" name="TextBox 7"/>
          <p:cNvSpPr txBox="1"/>
          <p:nvPr/>
        </p:nvSpPr>
        <p:spPr>
          <a:xfrm>
            <a:off x="914400" y="5385816"/>
            <a:ext cx="10332720" cy="658368"/>
          </a:xfrm>
          <a:prstGeom prst="rect">
            <a:avLst/>
          </a:prstGeom>
          <a:noFill/>
        </p:spPr>
        <p:txBody>
          <a:bodyPr wrap="square" lIns="91425" rIns="91425" tIns="45700" bIns="45700" anchor="ctr"/>
          <a:lstStyle/>
          <a:p>
            <a:pPr algn="l">
              <a:spcBef>
                <a:spcPts val="0"/>
              </a:spcBef>
              <a:spcAft>
                <a:spcPts val="0"/>
              </a:spcAft>
            </a:pPr>
            <a:r>
              <a:rPr sz="1250" b="1" i="0">
                <a:solidFill>
                  <a:srgbClr val="1F2933"/>
                </a:solidFill>
                <a:latin typeface="Calibri"/>
              </a:rPr>
              <a:t>Total: about $8 to $16 for every model on every benchmark. </a:t>
            </a:r>
            <a:r>
              <a:rPr sz="1250" b="0" i="0">
                <a:solidFill>
                  <a:srgbClr val="1F2933"/>
                </a:solidFill>
                <a:latin typeface="Calibri"/>
              </a:rPr>
              <a:t>Before the full run, the new judge would be checked against Claude Opus on 200 answers. Prices are OpenRouter's as of 1 October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676656"/>
            <a:ext cx="10881360" cy="548640"/>
          </a:xfrm>
          <a:prstGeom prst="rect">
            <a:avLst/>
          </a:prstGeom>
          <a:noFill/>
        </p:spPr>
        <p:txBody>
          <a:bodyPr wrap="square" lIns="91425" rIns="91425" tIns="45700" bIns="45700" anchor="ctr"/>
          <a:lstStyle/>
          <a:p>
            <a:pPr algn="l">
              <a:spcBef>
                <a:spcPts val="0"/>
              </a:spcBef>
              <a:spcAft>
                <a:spcPts val="0"/>
              </a:spcAft>
            </a:pPr>
            <a:r>
              <a:rPr sz="2500" b="1" i="0">
                <a:solidFill>
                  <a:srgbClr val="1F2933"/>
                </a:solidFill>
                <a:latin typeface="Calibri"/>
              </a:rPr>
              <a:t>What I learned this week</a:t>
            </a:r>
          </a:p>
        </p:txBody>
      </p:sp>
      <p:sp>
        <p:nvSpPr>
          <p:cNvPr id="3" name="TextBox 2"/>
          <p:cNvSpPr txBox="1"/>
          <p:nvPr/>
        </p:nvSpPr>
        <p:spPr>
          <a:xfrm>
            <a:off x="11064240" y="6355080"/>
            <a:ext cx="457200" cy="256032"/>
          </a:xfrm>
          <a:prstGeom prst="rect">
            <a:avLst/>
          </a:prstGeom>
          <a:noFill/>
        </p:spPr>
        <p:txBody>
          <a:bodyPr wrap="square" lIns="91425" rIns="91425" tIns="45700" bIns="45700" anchor="t"/>
          <a:lstStyle/>
          <a:p>
            <a:pPr algn="r">
              <a:spcBef>
                <a:spcPts val="0"/>
              </a:spcBef>
              <a:spcAft>
                <a:spcPts val="0"/>
              </a:spcAft>
            </a:pPr>
            <a:r>
              <a:rPr sz="900" b="0" i="0">
                <a:solidFill>
                  <a:srgbClr val="7B8794"/>
                </a:solidFill>
                <a:latin typeface="Calibri"/>
              </a:rPr>
              <a:t>15</a:t>
            </a:r>
          </a:p>
        </p:txBody>
      </p:sp>
      <p:sp>
        <p:nvSpPr>
          <p:cNvPr id="4" name="TextBox 3"/>
          <p:cNvSpPr txBox="1"/>
          <p:nvPr/>
        </p:nvSpPr>
        <p:spPr>
          <a:xfrm>
            <a:off x="640080" y="1463040"/>
            <a:ext cx="10881360" cy="3657600"/>
          </a:xfrm>
          <a:prstGeom prst="rect">
            <a:avLst/>
          </a:prstGeom>
          <a:noFill/>
        </p:spPr>
        <p:txBody>
          <a:bodyPr wrap="square" lIns="91425" rIns="91425" tIns="45700" bIns="45700" anchor="t"/>
          <a:lstStyle/>
          <a:p>
            <a:pPr algn="l" marL="342900" indent="-342900">
              <a:lnSpc>
                <a:spcPct val="135000"/>
              </a:lnSpc>
              <a:spcBef>
                <a:spcPts val="400"/>
              </a:spcBef>
              <a:spcAft>
                <a:spcPts val="0"/>
              </a:spcAft>
              <a:buClr>
                <a:srgbClr val="1F2933"/>
              </a:buClr>
              <a:buFont typeface="Calibri"/>
              <a:buChar char="•"/>
            </a:pPr>
            <a:r>
              <a:rPr sz="1450" b="1" i="0">
                <a:solidFill>
                  <a:srgbClr val="1F2933"/>
                </a:solidFill>
                <a:latin typeface="Calibri"/>
              </a:rPr>
              <a:t>Accuracy is retrieval times reading. </a:t>
            </a:r>
            <a:r>
              <a:rPr sz="1450" b="0" i="0">
                <a:solidFill>
                  <a:srgbClr val="1F2933"/>
                </a:solidFill>
                <a:latin typeface="Calibri"/>
              </a:rPr>
              <a:t>The weights only control whether the right fact arrives; that predicts accuracy at r = 0.99.</a:t>
            </a:r>
          </a:p>
          <a:p>
            <a:pPr algn="l" marL="342900" indent="-342900">
              <a:lnSpc>
                <a:spcPct val="135000"/>
              </a:lnSpc>
              <a:spcBef>
                <a:spcPts val="400"/>
              </a:spcBef>
              <a:spcAft>
                <a:spcPts val="0"/>
              </a:spcAft>
              <a:buClr>
                <a:srgbClr val="1F2933"/>
              </a:buClr>
              <a:buFont typeface="Calibri"/>
              <a:buChar char="•"/>
            </a:pPr>
            <a:r>
              <a:rPr sz="1450" b="1" i="0">
                <a:solidFill>
                  <a:srgbClr val="1F2933"/>
                </a:solidFill>
                <a:latin typeface="Calibri"/>
              </a:rPr>
              <a:t>Recency is the only weight that really matters, </a:t>
            </a:r>
            <a:r>
              <a:rPr sz="1450" b="0" i="0">
                <a:solidFill>
                  <a:srgbClr val="1F2933"/>
                </a:solidFill>
                <a:latin typeface="Calibri"/>
              </a:rPr>
              <a:t>and past 20% of the total it costs accuracy fast.</a:t>
            </a:r>
          </a:p>
          <a:p>
            <a:pPr algn="l" marL="342900" indent="-342900">
              <a:lnSpc>
                <a:spcPct val="135000"/>
              </a:lnSpc>
              <a:spcBef>
                <a:spcPts val="400"/>
              </a:spcBef>
              <a:spcAft>
                <a:spcPts val="0"/>
              </a:spcAft>
              <a:buClr>
                <a:srgbClr val="1F2933"/>
              </a:buClr>
              <a:buFont typeface="Calibri"/>
              <a:buChar char="•"/>
            </a:pPr>
            <a:r>
              <a:rPr sz="1450" b="1" i="0">
                <a:solidFill>
                  <a:srgbClr val="1F2933"/>
                </a:solidFill>
                <a:latin typeface="Calibri"/>
              </a:rPr>
              <a:t>No weighting replaces forgetting. </a:t>
            </a:r>
            <a:r>
              <a:rPr sz="1450" b="0" i="0">
                <a:solidFill>
                  <a:srgbClr val="1F2933"/>
                </a:solidFill>
                <a:latin typeface="Calibri"/>
              </a:rPr>
              <a:t>Recency removes outdated facts only by removing correct ones too; P2 removes just the outdated ones.</a:t>
            </a:r>
          </a:p>
          <a:p>
            <a:pPr algn="l" marL="342900" indent="-342900">
              <a:lnSpc>
                <a:spcPct val="135000"/>
              </a:lnSpc>
              <a:spcBef>
                <a:spcPts val="400"/>
              </a:spcBef>
              <a:spcAft>
                <a:spcPts val="0"/>
              </a:spcAft>
              <a:buClr>
                <a:srgbClr val="1F2933"/>
              </a:buClr>
              <a:buFont typeface="Calibri"/>
              <a:buChar char="•"/>
            </a:pPr>
            <a:r>
              <a:rPr sz="1450" b="1" i="0">
                <a:solidFill>
                  <a:srgbClr val="1F2933"/>
                </a:solidFill>
                <a:latin typeface="Calibri"/>
              </a:rPr>
              <a:t>0.6 / 0.3 / 0.1 is defensible, not optimal: </a:t>
            </a:r>
            <a:r>
              <a:rPr sz="1450" b="0" i="0">
                <a:solidFill>
                  <a:srgbClr val="1F2933"/>
                </a:solidFill>
                <a:latin typeface="Calibri"/>
              </a:rPr>
              <a:t>never beaten after correction, top 7 to 8% on both benchmarks.</a:t>
            </a:r>
          </a:p>
          <a:p>
            <a:pPr algn="l" marL="342900" indent="-342900">
              <a:lnSpc>
                <a:spcPct val="135000"/>
              </a:lnSpc>
              <a:spcBef>
                <a:spcPts val="400"/>
              </a:spcBef>
              <a:spcAft>
                <a:spcPts val="0"/>
              </a:spcAft>
              <a:buClr>
                <a:srgbClr val="1F2933"/>
              </a:buClr>
              <a:buFont typeface="Calibri"/>
              <a:buChar char="•"/>
            </a:pPr>
            <a:r>
              <a:rPr sz="1450" b="1" i="0">
                <a:solidFill>
                  <a:srgbClr val="1F2933"/>
                </a:solidFill>
                <a:latin typeface="Calibri"/>
              </a:rPr>
              <a:t>Stronger models read better but cannot fix missing facts, </a:t>
            </a:r>
            <a:r>
              <a:rPr sz="1450" b="0" i="0">
                <a:solidFill>
                  <a:srgbClr val="1F2933"/>
                </a:solidFill>
                <a:latin typeface="Calibri"/>
              </a:rPr>
              <a:t>so retrieval and forgetting remain the bottleneck as models improve.</a:t>
            </a:r>
          </a:p>
          <a:p>
            <a:pPr algn="l" marL="342900" indent="-342900">
              <a:lnSpc>
                <a:spcPct val="135000"/>
              </a:lnSpc>
              <a:spcBef>
                <a:spcPts val="400"/>
              </a:spcBef>
              <a:spcAft>
                <a:spcPts val="0"/>
              </a:spcAft>
              <a:buClr>
                <a:srgbClr val="1F2933"/>
              </a:buClr>
              <a:buFont typeface="Calibri"/>
              <a:buChar char="•"/>
            </a:pPr>
            <a:r>
              <a:rPr sz="1450" b="1" i="0">
                <a:solidFill>
                  <a:srgbClr val="1F2933"/>
                </a:solidFill>
                <a:latin typeface="Calibri"/>
              </a:rPr>
              <a:t>Engineering lesson: </a:t>
            </a:r>
            <a:r>
              <a:rPr sz="1450" b="0" i="0">
                <a:solidFill>
                  <a:srgbClr val="1F2933"/>
                </a:solidFill>
                <a:latin typeface="Calibri"/>
              </a:rPr>
              <a:t>deduplicating prompts and moving answers to hosted models turned a 55-day experiment into a 10-hour, $5 one.</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