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822960" y="2286000"/>
            <a:ext cx="822960" cy="45720"/>
          </a:xfrm>
          <a:prstGeom prst="rect">
            <a:avLst/>
          </a:prstGeom>
          <a:solidFill>
            <a:srgbClr val="C8811A"/>
          </a:solidFill>
          <a:ln/>
        </p:spPr>
      </p:sp>
      <p:sp>
        <p:nvSpPr>
          <p:cNvPr id="3" name="Text 1"/>
          <p:cNvSpPr/>
          <p:nvPr/>
        </p:nvSpPr>
        <p:spPr>
          <a:xfrm>
            <a:off x="822960" y="2514600"/>
            <a:ext cx="10058400" cy="73152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Weekly update</a:t>
            </a:r>
            <a:endParaRPr lang="en-US" sz="4000" dirty="0"/>
          </a:p>
        </p:txBody>
      </p:sp>
      <p:sp>
        <p:nvSpPr>
          <p:cNvPr id="4" name="Text 2"/>
          <p:cNvSpPr/>
          <p:nvPr/>
        </p:nvSpPr>
        <p:spPr>
          <a:xfrm>
            <a:off x="822960" y="3291840"/>
            <a:ext cx="10058400" cy="457200"/>
          </a:xfrm>
          <a:prstGeom prst="rect">
            <a:avLst/>
          </a:prstGeom>
          <a:noFill/>
          <a:ln/>
        </p:spPr>
        <p:txBody>
          <a:bodyPr wrap="square" rtlCol="0" anchor="ctr"/>
          <a:lstStyle/>
          <a:p>
            <a:pPr indent="0" marL="0">
              <a:buNone/>
            </a:pPr>
            <a:r>
              <a:rPr lang="en-US" sz="1700" dirty="0">
                <a:solidFill>
                  <a:srgbClr val="C9D2E4"/>
                </a:solidFill>
                <a:latin typeface="Calibri" pitchFamily="34" charset="0"/>
                <a:ea typeface="Calibri" pitchFamily="34" charset="-122"/>
                <a:cs typeface="Calibri" pitchFamily="34" charset="-120"/>
              </a:rPr>
              <a:t>Progress against the seven-item completion checklist</a:t>
            </a:r>
            <a:endParaRPr lang="en-US" sz="1700" dirty="0"/>
          </a:p>
        </p:txBody>
      </p:sp>
      <p:sp>
        <p:nvSpPr>
          <p:cNvPr id="5" name="Text 3"/>
          <p:cNvSpPr/>
          <p:nvPr/>
        </p:nvSpPr>
        <p:spPr>
          <a:xfrm>
            <a:off x="822960" y="4114800"/>
            <a:ext cx="10058400" cy="365760"/>
          </a:xfrm>
          <a:prstGeom prst="rect">
            <a:avLst/>
          </a:prstGeom>
          <a:noFill/>
          <a:ln/>
        </p:spPr>
        <p:txBody>
          <a:bodyPr wrap="square" rtlCol="0" anchor="ctr"/>
          <a:lstStyle/>
          <a:p>
            <a:pPr indent="0" marL="0">
              <a:buNone/>
            </a:pPr>
            <a:r>
              <a:rPr lang="en-US" sz="1300" dirty="0">
                <a:solidFill>
                  <a:srgbClr val="9FB0CC"/>
                </a:solidFill>
                <a:latin typeface="Calibri" pitchFamily="34" charset="0"/>
                <a:ea typeface="Calibri" pitchFamily="34" charset="-122"/>
                <a:cs typeface="Calibri" pitchFamily="34" charset="-120"/>
              </a:rPr>
              <a:t>Nandan Hemanth  ·  10 September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rtlCol="0" anchor="ctr"/>
          <a:lstStyle/>
          <a:p>
            <a:pPr indent="0" marL="0">
              <a:buNone/>
            </a:pPr>
            <a:r>
              <a:rPr lang="en-US" sz="1100" b="1" spc="120" kern="0" dirty="0">
                <a:solidFill>
                  <a:srgbClr val="C8811A"/>
                </a:solidFill>
                <a:latin typeface="Calibri" pitchFamily="34" charset="0"/>
                <a:ea typeface="Calibri" pitchFamily="34" charset="-122"/>
                <a:cs typeface="Calibri" pitchFamily="34" charset="-120"/>
              </a:rPr>
              <a:t>STATUS</a:t>
            </a:r>
            <a:endParaRPr lang="en-US" sz="1100" dirty="0"/>
          </a:p>
        </p:txBody>
      </p:sp>
      <p:sp>
        <p:nvSpPr>
          <p:cNvPr id="3" name="Text 1"/>
          <p:cNvSpPr/>
          <p:nvPr/>
        </p:nvSpPr>
        <p:spPr>
          <a:xfrm>
            <a:off x="548640" y="658368"/>
            <a:ext cx="11064240" cy="685800"/>
          </a:xfrm>
          <a:prstGeom prst="rect">
            <a:avLst/>
          </a:prstGeom>
          <a:noFill/>
          <a:ln/>
        </p:spPr>
        <p:txBody>
          <a:bodyPr wrap="square" rtlCol="0" anchor="ctr"/>
          <a:lstStyle/>
          <a:p>
            <a:pPr indent="0" marL="0">
              <a:buNone/>
            </a:pPr>
            <a:r>
              <a:rPr lang="en-US" sz="2600" b="1" dirty="0">
                <a:solidFill>
                  <a:srgbClr val="1B2A4A"/>
                </a:solidFill>
                <a:latin typeface="Cambria" pitchFamily="34" charset="0"/>
                <a:ea typeface="Cambria" pitchFamily="34" charset="-122"/>
                <a:cs typeface="Cambria" pitchFamily="34" charset="-120"/>
              </a:rPr>
              <a:t>Where each checklist item stands</a:t>
            </a:r>
            <a:endParaRPr lang="en-US" sz="2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457200"/>
                <a:gridCol w="3931920"/>
                <a:gridCol w="2651760"/>
                <a:gridCol w="4023360"/>
              </a:tblGrid>
              <a:tr h="420624">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1B2A4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item</a:t>
                      </a:r>
                      <a:endParaRPr lang="en-US" sz="12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1B2A4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status</a:t>
                      </a:r>
                      <a:endParaRPr lang="en-US" sz="12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1B2A4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what is left</a:t>
                      </a:r>
                      <a:endParaRPr lang="en-US" sz="12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1B2A4A"/>
                    </a:solidFill>
                  </a:tcPr>
                </a:tc>
              </a:tr>
              <a:tr h="420624">
                <a:tc>
                  <a:txBody>
                    <a:bodyPr/>
                    <a:lstStyle/>
                    <a:p>
                      <a:pPr algn="ctr" indent="0" marL="0">
                        <a:buNone/>
                      </a:pPr>
                      <a:r>
                        <a:rPr lang="en-US" sz="1200" dirty="0">
                          <a:solidFill>
                            <a:srgbClr val="222222"/>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Experiments for RQ4</a:t>
                      </a:r>
                      <a:endParaRPr lang="en-US" sz="12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A33A3A"/>
                          </a:solidFill>
                          <a:latin typeface="Calibri" pitchFamily="34" charset="0"/>
                          <a:ea typeface="Calibri" pitchFamily="34" charset="-122"/>
                          <a:cs typeface="Calibri" pitchFamily="34" charset="-120"/>
                        </a:rPr>
                        <a:t>5 of 21 cells</a:t>
                      </a:r>
                      <a:endParaRPr lang="en-US" sz="12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run 16 cells, decide canonicalisation first</a:t>
                      </a:r>
                      <a:endParaRPr lang="en-US" sz="12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r>
              <a:tr h="420624">
                <a:tc>
                  <a:txBody>
                    <a:bodyPr/>
                    <a:lstStyle/>
                    <a:p>
                      <a:pPr algn="ctr" indent="0" marL="0">
                        <a:buNone/>
                      </a:pPr>
                      <a:r>
                        <a:rPr lang="en-US" sz="1200" b="1" dirty="0">
                          <a:solidFill>
                            <a:srgbClr val="222222"/>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c>
                  <a:txBody>
                    <a:bodyPr/>
                    <a:lstStyle/>
                    <a:p>
                      <a:pPr algn="l" indent="0" marL="0">
                        <a:buNone/>
                      </a:pPr>
                      <a:r>
                        <a:rPr lang="en-US" sz="1200" b="1" dirty="0">
                          <a:solidFill>
                            <a:srgbClr val="222222"/>
                          </a:solidFill>
                          <a:latin typeface="Calibri" pitchFamily="34" charset="0"/>
                          <a:ea typeface="Calibri" pitchFamily="34" charset="-122"/>
                          <a:cs typeface="Calibri" pitchFamily="34" charset="-120"/>
                        </a:rPr>
                        <a:t>Best grace period for P2, 1 to 21 days</a:t>
                      </a:r>
                      <a:endParaRPr lang="en-US" sz="12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c>
                  <a:txBody>
                    <a:bodyPr/>
                    <a:lstStyle/>
                    <a:p>
                      <a:pPr algn="ctr" indent="0" marL="0">
                        <a:buNone/>
                      </a:pPr>
                      <a:r>
                        <a:rPr lang="en-US" sz="1200" b="1" dirty="0">
                          <a:solidFill>
                            <a:srgbClr val="C8811A"/>
                          </a:solidFill>
                          <a:latin typeface="Calibri" pitchFamily="34" charset="0"/>
                          <a:ea typeface="Calibri" pitchFamily="34" charset="-122"/>
                          <a:cs typeface="Calibri" pitchFamily="34" charset="-120"/>
                        </a:rPr>
                        <a:t>search space characterised</a:t>
                      </a:r>
                      <a:endParaRPr lang="en-US" sz="12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confirm end to end at 5 values, built</a:t>
                      </a:r>
                      <a:endParaRPr lang="en-US" sz="12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r>
              <a:tr h="420624">
                <a:tc>
                  <a:txBody>
                    <a:bodyPr/>
                    <a:lstStyle/>
                    <a:p>
                      <a:pPr algn="ctr" indent="0" marL="0">
                        <a:buNone/>
                      </a:pPr>
                      <a:r>
                        <a:rPr lang="en-US" sz="1200" b="1" dirty="0">
                          <a:solidFill>
                            <a:srgbClr val="222222"/>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222222"/>
                          </a:solidFill>
                          <a:latin typeface="Calibri" pitchFamily="34" charset="0"/>
                          <a:ea typeface="Calibri" pitchFamily="34" charset="-122"/>
                          <a:cs typeface="Calibri" pitchFamily="34" charset="-120"/>
                        </a:rPr>
                        <a:t>Best weights for cosine, lexical, recency</a:t>
                      </a:r>
                      <a:endParaRPr lang="en-US" sz="12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8811A"/>
                          </a:solidFill>
                          <a:latin typeface="Calibri" pitchFamily="34" charset="0"/>
                          <a:ea typeface="Calibri" pitchFamily="34" charset="-122"/>
                          <a:cs typeface="Calibri" pitchFamily="34" charset="-120"/>
                        </a:rPr>
                        <a:t>all 66 evaluated</a:t>
                      </a:r>
                      <a:endParaRPr lang="en-US" sz="12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confirm end to end at 6 candidates, built</a:t>
                      </a:r>
                      <a:endParaRPr lang="en-US" sz="12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r>
              <a:tr h="420624">
                <a:tc>
                  <a:txBody>
                    <a:bodyPr/>
                    <a:lstStyle/>
                    <a:p>
                      <a:pPr algn="ctr" indent="0" marL="0">
                        <a:buNone/>
                      </a:pPr>
                      <a:r>
                        <a:rPr lang="en-US" sz="1200" dirty="0">
                          <a:solidFill>
                            <a:srgbClr val="222222"/>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Small models against frontier models</a:t>
                      </a:r>
                      <a:endParaRPr lang="en-US" sz="12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c>
                  <a:txBody>
                    <a:bodyPr/>
                    <a:lstStyle/>
                    <a:p>
                      <a:pPr algn="ctr" indent="0" marL="0">
                        <a:buNone/>
                      </a:pPr>
                      <a:r>
                        <a:rPr lang="en-US" sz="1200" dirty="0">
                          <a:solidFill>
                            <a:srgbClr val="C8811A"/>
                          </a:solidFill>
                          <a:latin typeface="Calibri" pitchFamily="34" charset="0"/>
                          <a:ea typeface="Calibri" pitchFamily="34" charset="-122"/>
                          <a:cs typeface="Calibri" pitchFamily="34" charset="-120"/>
                        </a:rPr>
                        <a:t>configured</a:t>
                      </a:r>
                      <a:endParaRPr lang="en-US" sz="12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run 4 cells plus a judge regrade</a:t>
                      </a:r>
                      <a:endParaRPr lang="en-US" sz="12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r>
              <a:tr h="420624">
                <a:tc>
                  <a:txBody>
                    <a:bodyPr/>
                    <a:lstStyle/>
                    <a:p>
                      <a:pPr algn="ctr" indent="0" marL="0">
                        <a:buNone/>
                      </a:pPr>
                      <a:r>
                        <a:rPr lang="en-US" sz="1200" dirty="0">
                          <a:solidFill>
                            <a:srgbClr val="222222"/>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Full revision of the thesis document</a:t>
                      </a:r>
                      <a:endParaRPr lang="en-US" sz="12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C8811A"/>
                          </a:solidFill>
                          <a:latin typeface="Calibri" pitchFamily="34" charset="0"/>
                          <a:ea typeface="Calibri" pitchFamily="34" charset="-122"/>
                          <a:cs typeface="Calibri" pitchFamily="34" charset="-120"/>
                        </a:rPr>
                        <a:t>Chapter 1 redrafted</a:t>
                      </a:r>
                      <a:endParaRPr lang="en-US" sz="12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Chapters 2 to 6, then appendices</a:t>
                      </a:r>
                      <a:endParaRPr lang="en-US" sz="12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r>
              <a:tr h="420624">
                <a:tc>
                  <a:txBody>
                    <a:bodyPr/>
                    <a:lstStyle/>
                    <a:p>
                      <a:pPr algn="ctr" indent="0" marL="0">
                        <a:buNone/>
                      </a:pPr>
                      <a:r>
                        <a:rPr lang="en-US" sz="1200" dirty="0">
                          <a:solidFill>
                            <a:srgbClr val="222222"/>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New RQ4 content once experiments finish</a:t>
                      </a:r>
                      <a:endParaRPr lang="en-US" sz="12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c>
                  <a:txBody>
                    <a:bodyPr/>
                    <a:lstStyle/>
                    <a:p>
                      <a:pPr algn="ctr" indent="0" marL="0">
                        <a:buNone/>
                      </a:pPr>
                      <a:r>
                        <a:rPr lang="en-US" sz="1200" dirty="0">
                          <a:solidFill>
                            <a:srgbClr val="A33A3A"/>
                          </a:solidFill>
                          <a:latin typeface="Calibri" pitchFamily="34" charset="0"/>
                          <a:ea typeface="Calibri" pitchFamily="34" charset="-122"/>
                          <a:cs typeface="Calibri" pitchFamily="34" charset="-120"/>
                        </a:rPr>
                        <a:t>blocked on item 1</a:t>
                      </a:r>
                      <a:endParaRPr lang="en-US" sz="12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write after the cells land</a:t>
                      </a:r>
                      <a:endParaRPr lang="en-US" sz="12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r>
              <a:tr h="420624">
                <a:tc>
                  <a:txBody>
                    <a:bodyPr/>
                    <a:lstStyle/>
                    <a:p>
                      <a:pPr algn="ctr" indent="0" marL="0">
                        <a:buNone/>
                      </a:pPr>
                      <a:r>
                        <a:rPr lang="en-US" sz="1200" dirty="0">
                          <a:solidFill>
                            <a:srgbClr val="222222"/>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Anything else found along the way</a:t>
                      </a:r>
                      <a:endParaRPr lang="en-US" sz="12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F6F4E"/>
                          </a:solidFill>
                          <a:latin typeface="Calibri" pitchFamily="34" charset="0"/>
                          <a:ea typeface="Calibri" pitchFamily="34" charset="-122"/>
                          <a:cs typeface="Calibri" pitchFamily="34" charset="-120"/>
                        </a:rPr>
                        <a:t>ongoing</a:t>
                      </a:r>
                      <a:endParaRPr lang="en-US" sz="12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two issues found and fixed this week</a:t>
                      </a:r>
                      <a:endParaRPr lang="en-US" sz="12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4983480"/>
            <a:ext cx="11064240" cy="868680"/>
          </a:xfrm>
          <a:prstGeom prst="rect">
            <a:avLst/>
          </a:prstGeom>
          <a:solidFill>
            <a:srgbClr val="F4F6FA"/>
          </a:solidFill>
          <a:ln/>
        </p:spPr>
      </p:sp>
      <p:sp>
        <p:nvSpPr>
          <p:cNvPr id="6" name="Text 3"/>
          <p:cNvSpPr/>
          <p:nvPr/>
        </p:nvSpPr>
        <p:spPr>
          <a:xfrm>
            <a:off x="822960" y="5148072"/>
            <a:ext cx="10515600" cy="594360"/>
          </a:xfrm>
          <a:prstGeom prst="rect">
            <a:avLst/>
          </a:prstGeom>
          <a:noFill/>
          <a:ln/>
        </p:spPr>
        <p:txBody>
          <a:bodyPr wrap="square" rtlCol="0" anchor="t"/>
          <a:lstStyle/>
          <a:p>
            <a:pPr indent="0" marL="0">
              <a:buNone/>
            </a:pPr>
            <a:r>
              <a:rPr lang="en-US" sz="1350" b="1" dirty="0">
                <a:solidFill>
                  <a:srgbClr val="222222"/>
                </a:solidFill>
                <a:latin typeface="Calibri" pitchFamily="34" charset="0"/>
                <a:ea typeface="Calibri" pitchFamily="34" charset="-122"/>
                <a:cs typeface="Calibri" pitchFamily="34" charset="-120"/>
              </a:rPr>
              <a:t>This week went entirely into items 2 and 3. </a:t>
            </a:r>
            <a:pPr indent="0" marL="0">
              <a:buNone/>
            </a:pPr>
            <a:r>
              <a:rPr lang="en-US" sz="1350" dirty="0">
                <a:solidFill>
                  <a:srgbClr val="222222"/>
                </a:solidFill>
                <a:latin typeface="Calibri" pitchFamily="34" charset="0"/>
                <a:ea typeface="Calibri" pitchFamily="34" charset="-122"/>
                <a:cs typeface="Calibri" pitchFamily="34" charset="-120"/>
              </a:rPr>
              <a:t>Both search spaces are now fully characterised for free, and the confirming runs are built and tested. Neither has been run against the real pipeline yet.</a:t>
            </a:r>
            <a:endParaRPr lang="en-US" sz="1350" dirty="0"/>
          </a:p>
        </p:txBody>
      </p:sp>
      <p:sp>
        <p:nvSpPr>
          <p:cNvPr id="7" name="Text 4"/>
          <p:cNvSpPr/>
          <p:nvPr/>
        </p:nvSpPr>
        <p:spPr>
          <a:xfrm>
            <a:off x="548640" y="6327648"/>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DRIFT  ·  Weekly update  ·  10 September 2026</a:t>
            </a:r>
            <a:endParaRPr lang="en-US" sz="900" dirty="0"/>
          </a:p>
        </p:txBody>
      </p:sp>
      <p:sp>
        <p:nvSpPr>
          <p:cNvPr id="8" name="Text 5"/>
          <p:cNvSpPr/>
          <p:nvPr/>
        </p:nvSpPr>
        <p:spPr>
          <a:xfrm>
            <a:off x="11155680" y="6327648"/>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rtlCol="0" anchor="ctr"/>
          <a:lstStyle/>
          <a:p>
            <a:pPr indent="0" marL="0">
              <a:buNone/>
            </a:pPr>
            <a:r>
              <a:rPr lang="en-US" sz="1100" b="1" spc="120" kern="0" dirty="0">
                <a:solidFill>
                  <a:srgbClr val="C8811A"/>
                </a:solidFill>
                <a:latin typeface="Calibri" pitchFamily="34" charset="0"/>
                <a:ea typeface="Calibri" pitchFamily="34" charset="-122"/>
                <a:cs typeface="Calibri" pitchFamily="34" charset="-120"/>
              </a:rPr>
              <a:t>HOW ITEMS 2 AND 3 ARE BEING ANSWERED</a:t>
            </a:r>
            <a:endParaRPr lang="en-US" sz="1100" dirty="0"/>
          </a:p>
        </p:txBody>
      </p:sp>
      <p:sp>
        <p:nvSpPr>
          <p:cNvPr id="3" name="Text 1"/>
          <p:cNvSpPr/>
          <p:nvPr/>
        </p:nvSpPr>
        <p:spPr>
          <a:xfrm>
            <a:off x="548640" y="658368"/>
            <a:ext cx="11064240" cy="685800"/>
          </a:xfrm>
          <a:prstGeom prst="rect">
            <a:avLst/>
          </a:prstGeom>
          <a:noFill/>
          <a:ln/>
        </p:spPr>
        <p:txBody>
          <a:bodyPr wrap="square" rtlCol="0" anchor="ctr"/>
          <a:lstStyle/>
          <a:p>
            <a:pPr indent="0" marL="0">
              <a:buNone/>
            </a:pPr>
            <a:r>
              <a:rPr lang="en-US" sz="2600" b="1" dirty="0">
                <a:solidFill>
                  <a:srgbClr val="1B2A4A"/>
                </a:solidFill>
                <a:latin typeface="Cambria" pitchFamily="34" charset="0"/>
                <a:ea typeface="Cambria" pitchFamily="34" charset="-122"/>
                <a:cs typeface="Cambria" pitchFamily="34" charset="-120"/>
              </a:rPr>
              <a:t>Screen for free, then confirm on the real pipeline</a:t>
            </a:r>
            <a:endParaRPr lang="en-US" sz="2600" dirty="0"/>
          </a:p>
        </p:txBody>
      </p:sp>
      <p:sp>
        <p:nvSpPr>
          <p:cNvPr id="4" name="Text 2"/>
          <p:cNvSpPr/>
          <p:nvPr/>
        </p:nvSpPr>
        <p:spPr>
          <a:xfrm>
            <a:off x="548640" y="1645920"/>
            <a:ext cx="11064240" cy="3108960"/>
          </a:xfrm>
          <a:prstGeom prst="rect">
            <a:avLst/>
          </a:prstGeom>
          <a:noFill/>
          <a:ln/>
        </p:spPr>
        <p:txBody>
          <a:bodyPr wrap="square" rtlCol="0" anchor="t"/>
          <a:lstStyle/>
          <a:p>
            <a:pPr marL="342900" indent="-342900">
              <a:lnSpc>
                <a:spcPts val="2100"/>
              </a:lnSpc>
              <a:spcAft>
                <a:spcPts val="1000"/>
              </a:spcAft>
              <a:buSzPct val="100000"/>
              <a:buChar char="•"/>
            </a:pPr>
            <a:r>
              <a:rPr lang="en-US" sz="1450" dirty="0">
                <a:solidFill>
                  <a:srgbClr val="222222"/>
                </a:solidFill>
                <a:latin typeface="Calibri" pitchFamily="34" charset="0"/>
                <a:ea typeface="Calibri" pitchFamily="34" charset="-122"/>
                <a:cs typeface="Calibri" pitchFamily="34" charset="-120"/>
              </a:rPr>
              <a:t>Step one, free: sweep every candidate value and measure the retrieval step directly, before any model runs. 66 weightings, 6 grace values, 4 depths. No paid calls, no judge noise.</a:t>
            </a:r>
            <a:endParaRPr lang="en-US" sz="1450" dirty="0"/>
          </a:p>
          <a:p>
            <a:pPr marL="342900" indent="-342900">
              <a:lnSpc>
                <a:spcPts val="2100"/>
              </a:lnSpc>
              <a:spcAft>
                <a:spcPts val="1000"/>
              </a:spcAft>
              <a:buSzPct val="100000"/>
              <a:buChar char="•"/>
            </a:pPr>
            <a:r>
              <a:rPr lang="en-US" sz="1450" dirty="0">
                <a:solidFill>
                  <a:srgbClr val="222222"/>
                </a:solidFill>
                <a:latin typeface="Calibri" pitchFamily="34" charset="0"/>
                <a:ea typeface="Calibri" pitchFamily="34" charset="-122"/>
                <a:cs typeface="Calibri" pitchFamily="34" charset="-120"/>
              </a:rPr>
              <a:t>Step two, paid: run only the candidates that survive the screen through the full pipeline and compare accuracy, staleness, and tokens.</a:t>
            </a:r>
            <a:endParaRPr lang="en-US" sz="1450" dirty="0"/>
          </a:p>
          <a:p>
            <a:pPr marL="342900" indent="-342900">
              <a:lnSpc>
                <a:spcPts val="2100"/>
              </a:lnSpc>
              <a:spcAft>
                <a:spcPts val="1000"/>
              </a:spcAft>
              <a:buSzPct val="100000"/>
              <a:buChar char="•"/>
            </a:pPr>
            <a:r>
              <a:rPr lang="en-US" sz="1450" dirty="0">
                <a:solidFill>
                  <a:srgbClr val="222222"/>
                </a:solidFill>
                <a:latin typeface="Calibri" pitchFamily="34" charset="0"/>
                <a:ea typeface="Calibri" pitchFamily="34" charset="-122"/>
                <a:cs typeface="Calibri" pitchFamily="34" charset="-120"/>
              </a:rPr>
              <a:t>The screen matters because gold support, whether the correct answer reaches the context at all, is a hard ceiling on accuracy. A memory-only prompt cannot produce a fact that was never retrieved.</a:t>
            </a:r>
            <a:endParaRPr lang="en-US" sz="1450" dirty="0"/>
          </a:p>
          <a:p>
            <a:pPr marL="342900" indent="-342900">
              <a:lnSpc>
                <a:spcPts val="2100"/>
              </a:lnSpc>
              <a:spcAft>
                <a:spcPts val="1000"/>
              </a:spcAft>
              <a:buSzPct val="100000"/>
              <a:buChar char="•"/>
            </a:pPr>
            <a:r>
              <a:rPr lang="en-US" sz="1450" dirty="0">
                <a:solidFill>
                  <a:srgbClr val="222222"/>
                </a:solidFill>
                <a:latin typeface="Calibri" pitchFamily="34" charset="0"/>
                <a:ea typeface="Calibri" pitchFamily="34" charset="-122"/>
                <a:cs typeface="Calibri" pitchFamily="34" charset="-120"/>
              </a:rPr>
              <a:t>So any candidate that lowers gold support cannot beat the current setting, and does not need a paid run to rule out.</a:t>
            </a:r>
            <a:endParaRPr lang="en-US" sz="1450" dirty="0"/>
          </a:p>
        </p:txBody>
      </p:sp>
      <p:sp>
        <p:nvSpPr>
          <p:cNvPr id="5" name="Shape 3"/>
          <p:cNvSpPr/>
          <p:nvPr/>
        </p:nvSpPr>
        <p:spPr>
          <a:xfrm>
            <a:off x="548640" y="4892040"/>
            <a:ext cx="11064240" cy="1005840"/>
          </a:xfrm>
          <a:prstGeom prst="rect">
            <a:avLst/>
          </a:prstGeom>
          <a:solidFill>
            <a:srgbClr val="F4F6FA"/>
          </a:solidFill>
          <a:ln/>
        </p:spPr>
      </p:sp>
      <p:sp>
        <p:nvSpPr>
          <p:cNvPr id="6" name="Text 4"/>
          <p:cNvSpPr/>
          <p:nvPr/>
        </p:nvSpPr>
        <p:spPr>
          <a:xfrm>
            <a:off x="822960" y="5056632"/>
            <a:ext cx="10515600" cy="731520"/>
          </a:xfrm>
          <a:prstGeom prst="rect">
            <a:avLst/>
          </a:prstGeom>
          <a:noFill/>
          <a:ln/>
        </p:spPr>
        <p:txBody>
          <a:bodyPr wrap="square" rtlCol="0" anchor="t"/>
          <a:lstStyle/>
          <a:p>
            <a:pPr indent="0" marL="0">
              <a:buNone/>
            </a:pPr>
            <a:r>
              <a:rPr lang="en-US" sz="1350" b="1" dirty="0">
                <a:solidFill>
                  <a:srgbClr val="222222"/>
                </a:solidFill>
                <a:latin typeface="Calibri" pitchFamily="34" charset="0"/>
                <a:ea typeface="Calibri" pitchFamily="34" charset="-122"/>
                <a:cs typeface="Calibri" pitchFamily="34" charset="-120"/>
              </a:rPr>
              <a:t>Validation: </a:t>
            </a:r>
            <a:pPr indent="0" marL="0">
              <a:buNone/>
            </a:pPr>
            <a:r>
              <a:rPr lang="en-US" sz="1350" dirty="0">
                <a:solidFill>
                  <a:srgbClr val="222222"/>
                </a:solidFill>
                <a:latin typeface="Calibri" pitchFamily="34" charset="0"/>
                <a:ea typeface="Calibri" pitchFamily="34" charset="-122"/>
                <a:cs typeface="Calibri" pitchFamily="34" charset="-120"/>
              </a:rPr>
              <a:t>the harness recomputes P0, P2, P1 and P3 memory footprints as 382, 357, 251 and 351, matching Chapter 5 to the unit. Gold support also tracks measured accuracy within about five points for four of five policies.</a:t>
            </a:r>
            <a:endParaRPr lang="en-US" sz="1350" dirty="0"/>
          </a:p>
        </p:txBody>
      </p:sp>
      <p:sp>
        <p:nvSpPr>
          <p:cNvPr id="7" name="Text 5"/>
          <p:cNvSpPr/>
          <p:nvPr/>
        </p:nvSpPr>
        <p:spPr>
          <a:xfrm>
            <a:off x="548640" y="6327648"/>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DRIFT  ·  Weekly update  ·  10 September 2026</a:t>
            </a:r>
            <a:endParaRPr lang="en-US" sz="900" dirty="0"/>
          </a:p>
        </p:txBody>
      </p:sp>
      <p:sp>
        <p:nvSpPr>
          <p:cNvPr id="8" name="Text 6"/>
          <p:cNvSpPr/>
          <p:nvPr/>
        </p:nvSpPr>
        <p:spPr>
          <a:xfrm>
            <a:off x="11155680" y="6327648"/>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rtlCol="0" anchor="ctr"/>
          <a:lstStyle/>
          <a:p>
            <a:pPr indent="0" marL="0">
              <a:buNone/>
            </a:pPr>
            <a:r>
              <a:rPr lang="en-US" sz="1100" b="1" spc="120" kern="0" dirty="0">
                <a:solidFill>
                  <a:srgbClr val="C8811A"/>
                </a:solidFill>
                <a:latin typeface="Calibri" pitchFamily="34" charset="0"/>
                <a:ea typeface="Calibri" pitchFamily="34" charset="-122"/>
                <a:cs typeface="Calibri" pitchFamily="34" charset="-120"/>
              </a:rPr>
              <a:t>ITEM 2  ·  GRACE PERIOD</a:t>
            </a:r>
            <a:endParaRPr lang="en-US" sz="1100" dirty="0"/>
          </a:p>
        </p:txBody>
      </p:sp>
      <p:sp>
        <p:nvSpPr>
          <p:cNvPr id="3" name="Text 1"/>
          <p:cNvSpPr/>
          <p:nvPr/>
        </p:nvSpPr>
        <p:spPr>
          <a:xfrm>
            <a:off x="548640" y="658368"/>
            <a:ext cx="11064240" cy="685800"/>
          </a:xfrm>
          <a:prstGeom prst="rect">
            <a:avLst/>
          </a:prstGeom>
          <a:noFill/>
          <a:ln/>
        </p:spPr>
        <p:txBody>
          <a:bodyPr wrap="square" rtlCol="0" anchor="ctr"/>
          <a:lstStyle/>
          <a:p>
            <a:pPr indent="0" marL="0">
              <a:buNone/>
            </a:pPr>
            <a:r>
              <a:rPr lang="en-US" sz="2600" b="1" dirty="0">
                <a:solidFill>
                  <a:srgbClr val="1B2A4A"/>
                </a:solidFill>
                <a:latin typeface="Cambria" pitchFamily="34" charset="0"/>
                <a:ea typeface="Cambria" pitchFamily="34" charset="-122"/>
                <a:cs typeface="Cambria" pitchFamily="34" charset="-120"/>
              </a:rPr>
              <a:t>Correctness is flat across the whole 1 to 21 day range</a:t>
            </a:r>
            <a:endParaRPr lang="en-US" sz="2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1844040"/>
                <a:gridCol w="1844040"/>
                <a:gridCol w="1844040"/>
                <a:gridCol w="1844040"/>
                <a:gridCol w="1844040"/>
                <a:gridCol w="1844040"/>
              </a:tblGrid>
              <a:tr h="329184">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grace (days)</a:t>
                      </a:r>
                      <a:endParaRPr lang="en-US" sz="125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1B2A4A"/>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gold support</a:t>
                      </a:r>
                      <a:endParaRPr lang="en-US" sz="125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1B2A4A"/>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stale exposure</a:t>
                      </a:r>
                      <a:endParaRPr lang="en-US" sz="125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1B2A4A"/>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clean</a:t>
                      </a:r>
                      <a:endParaRPr lang="en-US" sz="125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1B2A4A"/>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wasted slots</a:t>
                      </a:r>
                      <a:endParaRPr lang="en-US" sz="125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1B2A4A"/>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facts pruned</a:t>
                      </a:r>
                      <a:endParaRPr lang="en-US" sz="125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1B2A4A"/>
                    </a:solidFill>
                  </a:tcPr>
                </a:tc>
              </a:tr>
              <a:tr h="329184">
                <a:tc>
                  <a:txBody>
                    <a:bodyPr/>
                    <a:lstStyle/>
                    <a:p>
                      <a:pPr algn="ctr" indent="0" marL="0">
                        <a:buNone/>
                      </a:pPr>
                      <a:r>
                        <a:rPr lang="en-US" sz="1250" dirty="0">
                          <a:solidFill>
                            <a:srgbClr val="222222"/>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22222"/>
                          </a:solidFill>
                          <a:latin typeface="Calibri" pitchFamily="34" charset="0"/>
                          <a:ea typeface="Calibri" pitchFamily="34" charset="-122"/>
                          <a:cs typeface="Calibri" pitchFamily="34" charset="-120"/>
                        </a:rPr>
                        <a:t>1.000</a:t>
                      </a:r>
                      <a:endParaRPr lang="en-US" sz="125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22222"/>
                          </a:solidFill>
                          <a:latin typeface="Calibri" pitchFamily="34" charset="0"/>
                          <a:ea typeface="Calibri" pitchFamily="34" charset="-122"/>
                          <a:cs typeface="Calibri" pitchFamily="34" charset="-120"/>
                        </a:rPr>
                        <a:t>0.427</a:t>
                      </a:r>
                      <a:endParaRPr lang="en-US" sz="125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22222"/>
                          </a:solidFill>
                          <a:latin typeface="Calibri" pitchFamily="34" charset="0"/>
                          <a:ea typeface="Calibri" pitchFamily="34" charset="-122"/>
                          <a:cs typeface="Calibri" pitchFamily="34" charset="-120"/>
                        </a:rPr>
                        <a:t>0.573</a:t>
                      </a:r>
                      <a:endParaRPr lang="en-US" sz="125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22222"/>
                          </a:solidFill>
                          <a:latin typeface="Calibri" pitchFamily="34" charset="0"/>
                          <a:ea typeface="Calibri" pitchFamily="34" charset="-122"/>
                          <a:cs typeface="Calibri" pitchFamily="34" charset="-120"/>
                        </a:rPr>
                        <a:t>2.63</a:t>
                      </a:r>
                      <a:endParaRPr lang="en-US" sz="125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22222"/>
                          </a:solidFill>
                          <a:latin typeface="Calibri" pitchFamily="34" charset="0"/>
                          <a:ea typeface="Calibri" pitchFamily="34" charset="-122"/>
                          <a:cs typeface="Calibri" pitchFamily="34" charset="-120"/>
                        </a:rPr>
                        <a:t>42</a:t>
                      </a:r>
                      <a:endParaRPr lang="en-US" sz="125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r>
              <a:tr h="329184">
                <a:tc>
                  <a:txBody>
                    <a:bodyPr/>
                    <a:lstStyle/>
                    <a:p>
                      <a:pPr algn="ctr" indent="0" marL="0">
                        <a:buNone/>
                      </a:pPr>
                      <a:r>
                        <a:rPr lang="en-US" sz="1250" dirty="0">
                          <a:solidFill>
                            <a:srgbClr val="222222"/>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c>
                  <a:txBody>
                    <a:bodyPr/>
                    <a:lstStyle/>
                    <a:p>
                      <a:pPr algn="ctr" indent="0" marL="0">
                        <a:buNone/>
                      </a:pPr>
                      <a:r>
                        <a:rPr lang="en-US" sz="1250" dirty="0">
                          <a:solidFill>
                            <a:srgbClr val="222222"/>
                          </a:solidFill>
                          <a:latin typeface="Calibri" pitchFamily="34" charset="0"/>
                          <a:ea typeface="Calibri" pitchFamily="34" charset="-122"/>
                          <a:cs typeface="Calibri" pitchFamily="34" charset="-120"/>
                        </a:rPr>
                        <a:t>1.000</a:t>
                      </a:r>
                      <a:endParaRPr lang="en-US" sz="125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c>
                  <a:txBody>
                    <a:bodyPr/>
                    <a:lstStyle/>
                    <a:p>
                      <a:pPr algn="ctr" indent="0" marL="0">
                        <a:buNone/>
                      </a:pPr>
                      <a:r>
                        <a:rPr lang="en-US" sz="1250" dirty="0">
                          <a:solidFill>
                            <a:srgbClr val="222222"/>
                          </a:solidFill>
                          <a:latin typeface="Calibri" pitchFamily="34" charset="0"/>
                          <a:ea typeface="Calibri" pitchFamily="34" charset="-122"/>
                          <a:cs typeface="Calibri" pitchFamily="34" charset="-120"/>
                        </a:rPr>
                        <a:t>0.427</a:t>
                      </a:r>
                      <a:endParaRPr lang="en-US" sz="125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c>
                  <a:txBody>
                    <a:bodyPr/>
                    <a:lstStyle/>
                    <a:p>
                      <a:pPr algn="ctr" indent="0" marL="0">
                        <a:buNone/>
                      </a:pPr>
                      <a:r>
                        <a:rPr lang="en-US" sz="1250" dirty="0">
                          <a:solidFill>
                            <a:srgbClr val="222222"/>
                          </a:solidFill>
                          <a:latin typeface="Calibri" pitchFamily="34" charset="0"/>
                          <a:ea typeface="Calibri" pitchFamily="34" charset="-122"/>
                          <a:cs typeface="Calibri" pitchFamily="34" charset="-120"/>
                        </a:rPr>
                        <a:t>0.573</a:t>
                      </a:r>
                      <a:endParaRPr lang="en-US" sz="125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c>
                  <a:txBody>
                    <a:bodyPr/>
                    <a:lstStyle/>
                    <a:p>
                      <a:pPr algn="ctr" indent="0" marL="0">
                        <a:buNone/>
                      </a:pPr>
                      <a:r>
                        <a:rPr lang="en-US" sz="1250" dirty="0">
                          <a:solidFill>
                            <a:srgbClr val="222222"/>
                          </a:solidFill>
                          <a:latin typeface="Calibri" pitchFamily="34" charset="0"/>
                          <a:ea typeface="Calibri" pitchFamily="34" charset="-122"/>
                          <a:cs typeface="Calibri" pitchFamily="34" charset="-120"/>
                        </a:rPr>
                        <a:t>2.78</a:t>
                      </a:r>
                      <a:endParaRPr lang="en-US" sz="125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c>
                  <a:txBody>
                    <a:bodyPr/>
                    <a:lstStyle/>
                    <a:p>
                      <a:pPr algn="ctr" indent="0" marL="0">
                        <a:buNone/>
                      </a:pPr>
                      <a:r>
                        <a:rPr lang="en-US" sz="1250" dirty="0">
                          <a:solidFill>
                            <a:srgbClr val="222222"/>
                          </a:solidFill>
                          <a:latin typeface="Calibri" pitchFamily="34" charset="0"/>
                          <a:ea typeface="Calibri" pitchFamily="34" charset="-122"/>
                          <a:cs typeface="Calibri" pitchFamily="34" charset="-120"/>
                        </a:rPr>
                        <a:t>37</a:t>
                      </a:r>
                      <a:endParaRPr lang="en-US" sz="125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r>
              <a:tr h="329184">
                <a:tc>
                  <a:txBody>
                    <a:bodyPr/>
                    <a:lstStyle/>
                    <a:p>
                      <a:pPr algn="ctr" indent="0" marL="0">
                        <a:buNone/>
                      </a:pPr>
                      <a:r>
                        <a:rPr lang="en-US" sz="1250" b="1" dirty="0">
                          <a:solidFill>
                            <a:srgbClr val="222222"/>
                          </a:solidFill>
                          <a:latin typeface="Calibri" pitchFamily="34" charset="0"/>
                          <a:ea typeface="Calibri" pitchFamily="34" charset="-122"/>
                          <a:cs typeface="Calibri" pitchFamily="34" charset="-120"/>
                        </a:rPr>
                        <a:t>7  (current)</a:t>
                      </a:r>
                      <a:endParaRPr lang="en-US" sz="125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222222"/>
                          </a:solidFill>
                          <a:latin typeface="Calibri" pitchFamily="34" charset="0"/>
                          <a:ea typeface="Calibri" pitchFamily="34" charset="-122"/>
                          <a:cs typeface="Calibri" pitchFamily="34" charset="-120"/>
                        </a:rPr>
                        <a:t>1.000</a:t>
                      </a:r>
                      <a:endParaRPr lang="en-US" sz="125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222222"/>
                          </a:solidFill>
                          <a:latin typeface="Calibri" pitchFamily="34" charset="0"/>
                          <a:ea typeface="Calibri" pitchFamily="34" charset="-122"/>
                          <a:cs typeface="Calibri" pitchFamily="34" charset="-120"/>
                        </a:rPr>
                        <a:t>0.427</a:t>
                      </a:r>
                      <a:endParaRPr lang="en-US" sz="125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222222"/>
                          </a:solidFill>
                          <a:latin typeface="Calibri" pitchFamily="34" charset="0"/>
                          <a:ea typeface="Calibri" pitchFamily="34" charset="-122"/>
                          <a:cs typeface="Calibri" pitchFamily="34" charset="-120"/>
                        </a:rPr>
                        <a:t>0.573</a:t>
                      </a:r>
                      <a:endParaRPr lang="en-US" sz="125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222222"/>
                          </a:solidFill>
                          <a:latin typeface="Calibri" pitchFamily="34" charset="0"/>
                          <a:ea typeface="Calibri" pitchFamily="34" charset="-122"/>
                          <a:cs typeface="Calibri" pitchFamily="34" charset="-120"/>
                        </a:rPr>
                        <a:t>3.51</a:t>
                      </a:r>
                      <a:endParaRPr lang="en-US" sz="125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222222"/>
                          </a:solidFill>
                          <a:latin typeface="Calibri" pitchFamily="34" charset="0"/>
                          <a:ea typeface="Calibri" pitchFamily="34" charset="-122"/>
                          <a:cs typeface="Calibri" pitchFamily="34" charset="-120"/>
                        </a:rPr>
                        <a:t>25</a:t>
                      </a:r>
                      <a:endParaRPr lang="en-US" sz="125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r>
              <a:tr h="329184">
                <a:tc>
                  <a:txBody>
                    <a:bodyPr/>
                    <a:lstStyle/>
                    <a:p>
                      <a:pPr algn="ctr" indent="0" marL="0">
                        <a:buNone/>
                      </a:pPr>
                      <a:r>
                        <a:rPr lang="en-US" sz="1250" dirty="0">
                          <a:solidFill>
                            <a:srgbClr val="222222"/>
                          </a:solidFill>
                          <a:latin typeface="Calibri" pitchFamily="34" charset="0"/>
                          <a:ea typeface="Calibri" pitchFamily="34" charset="-122"/>
                          <a:cs typeface="Calibri" pitchFamily="34" charset="-120"/>
                        </a:rPr>
                        <a:t>14</a:t>
                      </a:r>
                      <a:endParaRPr lang="en-US" sz="125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c>
                  <a:txBody>
                    <a:bodyPr/>
                    <a:lstStyle/>
                    <a:p>
                      <a:pPr algn="ctr" indent="0" marL="0">
                        <a:buNone/>
                      </a:pPr>
                      <a:r>
                        <a:rPr lang="en-US" sz="1250" dirty="0">
                          <a:solidFill>
                            <a:srgbClr val="222222"/>
                          </a:solidFill>
                          <a:latin typeface="Calibri" pitchFamily="34" charset="0"/>
                          <a:ea typeface="Calibri" pitchFamily="34" charset="-122"/>
                          <a:cs typeface="Calibri" pitchFamily="34" charset="-120"/>
                        </a:rPr>
                        <a:t>1.000</a:t>
                      </a:r>
                      <a:endParaRPr lang="en-US" sz="125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c>
                  <a:txBody>
                    <a:bodyPr/>
                    <a:lstStyle/>
                    <a:p>
                      <a:pPr algn="ctr" indent="0" marL="0">
                        <a:buNone/>
                      </a:pPr>
                      <a:r>
                        <a:rPr lang="en-US" sz="1250" dirty="0">
                          <a:solidFill>
                            <a:srgbClr val="222222"/>
                          </a:solidFill>
                          <a:latin typeface="Calibri" pitchFamily="34" charset="0"/>
                          <a:ea typeface="Calibri" pitchFamily="34" charset="-122"/>
                          <a:cs typeface="Calibri" pitchFamily="34" charset="-120"/>
                        </a:rPr>
                        <a:t>0.427</a:t>
                      </a:r>
                      <a:endParaRPr lang="en-US" sz="125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c>
                  <a:txBody>
                    <a:bodyPr/>
                    <a:lstStyle/>
                    <a:p>
                      <a:pPr algn="ctr" indent="0" marL="0">
                        <a:buNone/>
                      </a:pPr>
                      <a:r>
                        <a:rPr lang="en-US" sz="1250" dirty="0">
                          <a:solidFill>
                            <a:srgbClr val="222222"/>
                          </a:solidFill>
                          <a:latin typeface="Calibri" pitchFamily="34" charset="0"/>
                          <a:ea typeface="Calibri" pitchFamily="34" charset="-122"/>
                          <a:cs typeface="Calibri" pitchFamily="34" charset="-120"/>
                        </a:rPr>
                        <a:t>0.573</a:t>
                      </a:r>
                      <a:endParaRPr lang="en-US" sz="125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c>
                  <a:txBody>
                    <a:bodyPr/>
                    <a:lstStyle/>
                    <a:p>
                      <a:pPr algn="ctr" indent="0" marL="0">
                        <a:buNone/>
                      </a:pPr>
                      <a:r>
                        <a:rPr lang="en-US" sz="1250" dirty="0">
                          <a:solidFill>
                            <a:srgbClr val="222222"/>
                          </a:solidFill>
                          <a:latin typeface="Calibri" pitchFamily="34" charset="0"/>
                          <a:ea typeface="Calibri" pitchFamily="34" charset="-122"/>
                          <a:cs typeface="Calibri" pitchFamily="34" charset="-120"/>
                        </a:rPr>
                        <a:t>4.46</a:t>
                      </a:r>
                      <a:endParaRPr lang="en-US" sz="125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c>
                  <a:txBody>
                    <a:bodyPr/>
                    <a:lstStyle/>
                    <a:p>
                      <a:pPr algn="ctr" indent="0" marL="0">
                        <a:buNone/>
                      </a:pPr>
                      <a:r>
                        <a:rPr lang="en-US" sz="1250" dirty="0">
                          <a:solidFill>
                            <a:srgbClr val="222222"/>
                          </a:solidFill>
                          <a:latin typeface="Calibri" pitchFamily="34" charset="0"/>
                          <a:ea typeface="Calibri" pitchFamily="34" charset="-122"/>
                          <a:cs typeface="Calibri" pitchFamily="34" charset="-120"/>
                        </a:rPr>
                        <a:t>12</a:t>
                      </a:r>
                      <a:endParaRPr lang="en-US" sz="125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r>
              <a:tr h="329184">
                <a:tc>
                  <a:txBody>
                    <a:bodyPr/>
                    <a:lstStyle/>
                    <a:p>
                      <a:pPr algn="ctr" indent="0" marL="0">
                        <a:buNone/>
                      </a:pPr>
                      <a:r>
                        <a:rPr lang="en-US" sz="1250" dirty="0">
                          <a:solidFill>
                            <a:srgbClr val="222222"/>
                          </a:solidFill>
                          <a:latin typeface="Calibri" pitchFamily="34" charset="0"/>
                          <a:ea typeface="Calibri" pitchFamily="34" charset="-122"/>
                          <a:cs typeface="Calibri" pitchFamily="34" charset="-120"/>
                        </a:rPr>
                        <a:t>21 to 30</a:t>
                      </a:r>
                      <a:endParaRPr lang="en-US" sz="125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22222"/>
                          </a:solidFill>
                          <a:latin typeface="Calibri" pitchFamily="34" charset="0"/>
                          <a:ea typeface="Calibri" pitchFamily="34" charset="-122"/>
                          <a:cs typeface="Calibri" pitchFamily="34" charset="-120"/>
                        </a:rPr>
                        <a:t>1.000</a:t>
                      </a:r>
                      <a:endParaRPr lang="en-US" sz="125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22222"/>
                          </a:solidFill>
                          <a:latin typeface="Calibri" pitchFamily="34" charset="0"/>
                          <a:ea typeface="Calibri" pitchFamily="34" charset="-122"/>
                          <a:cs typeface="Calibri" pitchFamily="34" charset="-120"/>
                        </a:rPr>
                        <a:t>0.427</a:t>
                      </a:r>
                      <a:endParaRPr lang="en-US" sz="125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22222"/>
                          </a:solidFill>
                          <a:latin typeface="Calibri" pitchFamily="34" charset="0"/>
                          <a:ea typeface="Calibri" pitchFamily="34" charset="-122"/>
                          <a:cs typeface="Calibri" pitchFamily="34" charset="-120"/>
                        </a:rPr>
                        <a:t>0.573</a:t>
                      </a:r>
                      <a:endParaRPr lang="en-US" sz="125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22222"/>
                          </a:solidFill>
                          <a:latin typeface="Calibri" pitchFamily="34" charset="0"/>
                          <a:ea typeface="Calibri" pitchFamily="34" charset="-122"/>
                          <a:cs typeface="Calibri" pitchFamily="34" charset="-120"/>
                        </a:rPr>
                        <a:t>4.80</a:t>
                      </a:r>
                      <a:endParaRPr lang="en-US" sz="125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22222"/>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3794760"/>
            <a:ext cx="11064240" cy="1874520"/>
          </a:xfrm>
          <a:prstGeom prst="rect">
            <a:avLst/>
          </a:prstGeom>
          <a:solidFill>
            <a:srgbClr val="F4F6FA"/>
          </a:solidFill>
          <a:ln/>
        </p:spPr>
      </p:sp>
      <p:sp>
        <p:nvSpPr>
          <p:cNvPr id="6" name="Text 3"/>
          <p:cNvSpPr/>
          <p:nvPr/>
        </p:nvSpPr>
        <p:spPr>
          <a:xfrm>
            <a:off x="822960" y="3959352"/>
            <a:ext cx="10515600" cy="1600200"/>
          </a:xfrm>
          <a:prstGeom prst="rect">
            <a:avLst/>
          </a:prstGeom>
          <a:noFill/>
          <a:ln/>
        </p:spPr>
        <p:txBody>
          <a:bodyPr wrap="square" rtlCol="0" anchor="t"/>
          <a:lstStyle/>
          <a:p>
            <a:pPr indent="0" marL="0">
              <a:buNone/>
            </a:pPr>
            <a:r>
              <a:rPr lang="en-US" sz="1300" b="1" dirty="0">
                <a:solidFill>
                  <a:srgbClr val="222222"/>
                </a:solidFill>
                <a:latin typeface="Calibri" pitchFamily="34" charset="0"/>
                <a:ea typeface="Calibri" pitchFamily="34" charset="-122"/>
                <a:cs typeface="Calibri" pitchFamily="34" charset="-120"/>
              </a:rPr>
              <a:t>The mechanism explains why. </a:t>
            </a:r>
            <a:pPr indent="0" marL="0">
              <a:buNone/>
            </a:pPr>
            <a:r>
              <a:rPr lang="en-US" sz="1300" dirty="0">
                <a:solidFill>
                  <a:srgbClr val="222222"/>
                </a:solidFill>
                <a:latin typeface="Calibri" pitchFamily="34" charset="0"/>
                <a:ea typeface="Calibri" pitchFamily="34" charset="-122"/>
                <a:cs typeface="Calibri" pitchFamily="34" charset="-120"/>
              </a:rPr>
              <a:t>P2 already excludes invalidated facts at retrieval regardless of their age, so the grace period can never decide whether a stale fact reaches the model. All it decides is how long a dead fact keeps occupying one of the 25 retrieval slots before being pruned. That makes it a cost parameter.</a:t>
            </a:r>
            <a:endParaRPr lang="en-US" sz="1300" dirty="0"/>
          </a:p>
          <a:p>
            <a:pPr indent="0" marL="0">
              <a:buNone/>
            </a:pPr>
            <a:endParaRPr lang="en-US" sz="1300" dirty="0"/>
          </a:p>
          <a:p>
            <a:pPr indent="0" marL="0">
              <a:buNone/>
            </a:pPr>
            <a:r>
              <a:rPr lang="en-US" sz="1300" dirty="0">
                <a:solidFill>
                  <a:srgbClr val="222222"/>
                </a:solidFill>
                <a:latin typeface="Calibri" pitchFamily="34" charset="0"/>
                <a:ea typeface="Calibri" pitchFamily="34" charset="-122"/>
                <a:cs typeface="Calibri" pitchFamily="34" charset="-120"/>
              </a:rPr>
              <a:t>On cost alone the shortest value wins: at 1 day, 2.63 slots are wasted per question against 4.80 at 21 days, so more live facts reach the model. The end-to-end runs at 1, 3, 7, 14 and 21 days will confirm whether that translates into measured accuracy.</a:t>
            </a:r>
            <a:endParaRPr lang="en-US" sz="1300" dirty="0"/>
          </a:p>
        </p:txBody>
      </p:sp>
      <p:sp>
        <p:nvSpPr>
          <p:cNvPr id="7" name="Text 4"/>
          <p:cNvSpPr/>
          <p:nvPr/>
        </p:nvSpPr>
        <p:spPr>
          <a:xfrm>
            <a:off x="548640" y="6327648"/>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DRIFT  ·  Weekly update  ·  10 September 2026</a:t>
            </a:r>
            <a:endParaRPr lang="en-US" sz="900" dirty="0"/>
          </a:p>
        </p:txBody>
      </p:sp>
      <p:sp>
        <p:nvSpPr>
          <p:cNvPr id="8" name="Text 5"/>
          <p:cNvSpPr/>
          <p:nvPr/>
        </p:nvSpPr>
        <p:spPr>
          <a:xfrm>
            <a:off x="11155680" y="6327648"/>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rtlCol="0" anchor="ctr"/>
          <a:lstStyle/>
          <a:p>
            <a:pPr indent="0" marL="0">
              <a:buNone/>
            </a:pPr>
            <a:r>
              <a:rPr lang="en-US" sz="1100" b="1" spc="120" kern="0" dirty="0">
                <a:solidFill>
                  <a:srgbClr val="C8811A"/>
                </a:solidFill>
                <a:latin typeface="Calibri" pitchFamily="34" charset="0"/>
                <a:ea typeface="Calibri" pitchFamily="34" charset="-122"/>
                <a:cs typeface="Calibri" pitchFamily="34" charset="-120"/>
              </a:rPr>
              <a:t>ITEM 3  ·  WEIGHTS</a:t>
            </a:r>
            <a:endParaRPr lang="en-US" sz="1100" dirty="0"/>
          </a:p>
        </p:txBody>
      </p:sp>
      <p:sp>
        <p:nvSpPr>
          <p:cNvPr id="3" name="Text 1"/>
          <p:cNvSpPr/>
          <p:nvPr/>
        </p:nvSpPr>
        <p:spPr>
          <a:xfrm>
            <a:off x="548640" y="658368"/>
            <a:ext cx="11064240" cy="685800"/>
          </a:xfrm>
          <a:prstGeom prst="rect">
            <a:avLst/>
          </a:prstGeom>
          <a:noFill/>
          <a:ln/>
        </p:spPr>
        <p:txBody>
          <a:bodyPr wrap="square" rtlCol="0" anchor="ctr"/>
          <a:lstStyle/>
          <a:p>
            <a:pPr indent="0" marL="0">
              <a:buNone/>
            </a:pPr>
            <a:r>
              <a:rPr lang="en-US" sz="2600" b="1" dirty="0">
                <a:solidFill>
                  <a:srgbClr val="1B2A4A"/>
                </a:solidFill>
                <a:latin typeface="Cambria" pitchFamily="34" charset="0"/>
                <a:ea typeface="Cambria" pitchFamily="34" charset="-122"/>
                <a:cs typeface="Cambria" pitchFamily="34" charset="-120"/>
              </a:rPr>
              <a:t>The highest-scoring weighting is a trap</a:t>
            </a:r>
            <a:endParaRPr lang="en-US" sz="2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4023360"/>
                <a:gridCol w="2377440"/>
                <a:gridCol w="2377440"/>
                <a:gridCol w="2286000"/>
              </a:tblGrid>
              <a:tr h="384048">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weighting (sem / lex / rec)</a:t>
                      </a:r>
                      <a:endParaRPr lang="en-US" sz="125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1B2A4A"/>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gold support</a:t>
                      </a:r>
                      <a:endParaRPr lang="en-US" sz="125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1B2A4A"/>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stale exposure</a:t>
                      </a:r>
                      <a:endParaRPr lang="en-US" sz="125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1B2A4A"/>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composite score</a:t>
                      </a:r>
                      <a:endParaRPr lang="en-US" sz="125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1B2A4A"/>
                    </a:solidFill>
                  </a:tcPr>
                </a:tc>
              </a:tr>
              <a:tr h="384048">
                <a:tc>
                  <a:txBody>
                    <a:bodyPr/>
                    <a:lstStyle/>
                    <a:p>
                      <a:pPr algn="ctr" indent="0" marL="0">
                        <a:buNone/>
                      </a:pPr>
                      <a:r>
                        <a:rPr lang="en-US" sz="1250" b="1" dirty="0">
                          <a:solidFill>
                            <a:srgbClr val="222222"/>
                          </a:solidFill>
                          <a:latin typeface="Calibri" pitchFamily="34" charset="0"/>
                          <a:ea typeface="Calibri" pitchFamily="34" charset="-122"/>
                          <a:cs typeface="Calibri" pitchFamily="34" charset="-120"/>
                        </a:rPr>
                        <a:t>0.6 / 0.3 / 0.1   (current)</a:t>
                      </a:r>
                      <a:endParaRPr lang="en-US" sz="125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2F6F4E"/>
                          </a:solidFill>
                          <a:latin typeface="Calibri" pitchFamily="34" charset="0"/>
                          <a:ea typeface="Calibri" pitchFamily="34" charset="-122"/>
                          <a:cs typeface="Calibri" pitchFamily="34" charset="-120"/>
                        </a:rPr>
                        <a:t>1.000</a:t>
                      </a:r>
                      <a:endParaRPr lang="en-US" sz="125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222222"/>
                          </a:solidFill>
                          <a:latin typeface="Calibri" pitchFamily="34" charset="0"/>
                          <a:ea typeface="Calibri" pitchFamily="34" charset="-122"/>
                          <a:cs typeface="Calibri" pitchFamily="34" charset="-120"/>
                        </a:rPr>
                        <a:t>0.427</a:t>
                      </a:r>
                      <a:endParaRPr lang="en-US" sz="125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222222"/>
                          </a:solidFill>
                          <a:latin typeface="Calibri" pitchFamily="34" charset="0"/>
                          <a:ea typeface="Calibri" pitchFamily="34" charset="-122"/>
                          <a:cs typeface="Calibri" pitchFamily="34" charset="-120"/>
                        </a:rPr>
                        <a:t>0.573</a:t>
                      </a:r>
                      <a:endParaRPr lang="en-US" sz="125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r>
              <a:tr h="384048">
                <a:tc>
                  <a:txBody>
                    <a:bodyPr/>
                    <a:lstStyle/>
                    <a:p>
                      <a:pPr algn="ctr" indent="0" marL="0">
                        <a:buNone/>
                      </a:pPr>
                      <a:r>
                        <a:rPr lang="en-US" sz="1250" dirty="0">
                          <a:solidFill>
                            <a:srgbClr val="222222"/>
                          </a:solidFill>
                          <a:latin typeface="Calibri" pitchFamily="34" charset="0"/>
                          <a:ea typeface="Calibri" pitchFamily="34" charset="-122"/>
                          <a:cs typeface="Calibri" pitchFamily="34" charset="-120"/>
                        </a:rPr>
                        <a:t>0.3 / 0.4 / 0.3   (best composite)</a:t>
                      </a:r>
                      <a:endParaRPr lang="en-US" sz="125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c>
                  <a:txBody>
                    <a:bodyPr/>
                    <a:lstStyle/>
                    <a:p>
                      <a:pPr algn="ctr" indent="0" marL="0">
                        <a:buNone/>
                      </a:pPr>
                      <a:r>
                        <a:rPr lang="en-US" sz="1250" dirty="0">
                          <a:solidFill>
                            <a:srgbClr val="A33A3A"/>
                          </a:solidFill>
                          <a:latin typeface="Calibri" pitchFamily="34" charset="0"/>
                          <a:ea typeface="Calibri" pitchFamily="34" charset="-122"/>
                          <a:cs typeface="Calibri" pitchFamily="34" charset="-120"/>
                        </a:rPr>
                        <a:t>0.927</a:t>
                      </a:r>
                      <a:endParaRPr lang="en-US" sz="125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c>
                  <a:txBody>
                    <a:bodyPr/>
                    <a:lstStyle/>
                    <a:p>
                      <a:pPr algn="ctr" indent="0" marL="0">
                        <a:buNone/>
                      </a:pPr>
                      <a:r>
                        <a:rPr lang="en-US" sz="1250" dirty="0">
                          <a:solidFill>
                            <a:srgbClr val="222222"/>
                          </a:solidFill>
                          <a:latin typeface="Calibri" pitchFamily="34" charset="0"/>
                          <a:ea typeface="Calibri" pitchFamily="34" charset="-122"/>
                          <a:cs typeface="Calibri" pitchFamily="34" charset="-120"/>
                        </a:rPr>
                        <a:t>0.240</a:t>
                      </a:r>
                      <a:endParaRPr lang="en-US" sz="125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c>
                  <a:txBody>
                    <a:bodyPr/>
                    <a:lstStyle/>
                    <a:p>
                      <a:pPr algn="ctr" indent="0" marL="0">
                        <a:buNone/>
                      </a:pPr>
                      <a:r>
                        <a:rPr lang="en-US" sz="1250" dirty="0">
                          <a:solidFill>
                            <a:srgbClr val="2F6F4E"/>
                          </a:solidFill>
                          <a:latin typeface="Calibri" pitchFamily="34" charset="0"/>
                          <a:ea typeface="Calibri" pitchFamily="34" charset="-122"/>
                          <a:cs typeface="Calibri" pitchFamily="34" charset="-120"/>
                        </a:rPr>
                        <a:t>0.698</a:t>
                      </a:r>
                      <a:endParaRPr lang="en-US" sz="125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r>
              <a:tr h="384048">
                <a:tc>
                  <a:txBody>
                    <a:bodyPr/>
                    <a:lstStyle/>
                    <a:p>
                      <a:pPr algn="ctr" indent="0" marL="0">
                        <a:buNone/>
                      </a:pPr>
                      <a:r>
                        <a:rPr lang="en-US" sz="1250" dirty="0">
                          <a:solidFill>
                            <a:srgbClr val="222222"/>
                          </a:solidFill>
                          <a:latin typeface="Calibri" pitchFamily="34" charset="0"/>
                          <a:ea typeface="Calibri" pitchFamily="34" charset="-122"/>
                          <a:cs typeface="Calibri" pitchFamily="34" charset="-120"/>
                        </a:rPr>
                        <a:t>0.0 / 0.0 / 1.0   (recency only)</a:t>
                      </a:r>
                      <a:endParaRPr lang="en-US" sz="125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A33A3A"/>
                          </a:solidFill>
                          <a:latin typeface="Calibri" pitchFamily="34" charset="0"/>
                          <a:ea typeface="Calibri" pitchFamily="34" charset="-122"/>
                          <a:cs typeface="Calibri" pitchFamily="34" charset="-120"/>
                        </a:rPr>
                        <a:t>0.240</a:t>
                      </a:r>
                      <a:endParaRPr lang="en-US" sz="125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22222"/>
                          </a:solidFill>
                          <a:latin typeface="Calibri" pitchFamily="34" charset="0"/>
                          <a:ea typeface="Calibri" pitchFamily="34" charset="-122"/>
                          <a:cs typeface="Calibri" pitchFamily="34" charset="-120"/>
                        </a:rPr>
                        <a:t>0.010</a:t>
                      </a:r>
                      <a:endParaRPr lang="en-US" sz="125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A33A3A"/>
                          </a:solidFill>
                          <a:latin typeface="Calibri" pitchFamily="34" charset="0"/>
                          <a:ea typeface="Calibri" pitchFamily="34" charset="-122"/>
                          <a:cs typeface="Calibri" pitchFamily="34" charset="-120"/>
                        </a:rPr>
                        <a:t>0.229</a:t>
                      </a:r>
                      <a:endParaRPr lang="en-US" sz="125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3429000"/>
            <a:ext cx="11064240" cy="2240280"/>
          </a:xfrm>
          <a:prstGeom prst="rect">
            <a:avLst/>
          </a:prstGeom>
          <a:solidFill>
            <a:srgbClr val="F4F6FA"/>
          </a:solidFill>
          <a:ln/>
        </p:spPr>
      </p:sp>
      <p:sp>
        <p:nvSpPr>
          <p:cNvPr id="6" name="Text 3"/>
          <p:cNvSpPr/>
          <p:nvPr/>
        </p:nvSpPr>
        <p:spPr>
          <a:xfrm>
            <a:off x="822960" y="3593592"/>
            <a:ext cx="10515600" cy="1965960"/>
          </a:xfrm>
          <a:prstGeom prst="rect">
            <a:avLst/>
          </a:prstGeom>
          <a:noFill/>
          <a:ln/>
        </p:spPr>
        <p:txBody>
          <a:bodyPr wrap="square" rtlCol="0" anchor="t"/>
          <a:lstStyle/>
          <a:p>
            <a:pPr indent="0" marL="0">
              <a:buNone/>
            </a:pPr>
            <a:r>
              <a:rPr lang="en-US" sz="1300" b="1" dirty="0">
                <a:solidFill>
                  <a:srgbClr val="222222"/>
                </a:solidFill>
                <a:latin typeface="Calibri" pitchFamily="34" charset="0"/>
                <a:ea typeface="Calibri" pitchFamily="34" charset="-122"/>
                <a:cs typeface="Calibri" pitchFamily="34" charset="-120"/>
              </a:rPr>
              <a:t>Optimising the composite score would have made the thesis worse. </a:t>
            </a:r>
            <a:pPr indent="0" marL="0">
              <a:buNone/>
            </a:pPr>
            <a:r>
              <a:rPr lang="en-US" sz="1300" dirty="0">
                <a:solidFill>
                  <a:srgbClr val="222222"/>
                </a:solidFill>
                <a:latin typeface="Calibri" pitchFamily="34" charset="0"/>
                <a:ea typeface="Calibri" pitchFamily="34" charset="-122"/>
                <a:cs typeface="Calibri" pitchFamily="34" charset="-120"/>
              </a:rPr>
              <a:t>The weighting 0.3 / 0.4 / 0.3 scores 12.5 points higher because it excludes more stale material, but it does that by dropping gold support to 0.927, which caps accuracy about seven points below what P2 currently achieves at 0.969.</a:t>
            </a:r>
            <a:endParaRPr lang="en-US" sz="1300" dirty="0"/>
          </a:p>
          <a:p>
            <a:pPr indent="0" marL="0">
              <a:buNone/>
            </a:pPr>
            <a:endParaRPr lang="en-US" sz="1300" dirty="0"/>
          </a:p>
          <a:p>
            <a:pPr indent="0" marL="0">
              <a:buNone/>
            </a:pPr>
            <a:r>
              <a:rPr lang="en-US" sz="1300" dirty="0">
                <a:solidFill>
                  <a:srgbClr val="222222"/>
                </a:solidFill>
                <a:latin typeface="Calibri" pitchFamily="34" charset="0"/>
                <a:ea typeface="Calibri" pitchFamily="34" charset="-122"/>
                <a:cs typeface="Calibri" pitchFamily="34" charset="-120"/>
              </a:rPr>
              <a:t>The reason is asymmetry. Missing the gold fact is fatal, since the model has nothing else to answer from. Seeing a stale fact often is not, because the answer model frequently picks the current one anyway. P0 proves it: stale exposure of 1.000 and accuracy of 0.969.</a:t>
            </a:r>
            <a:endParaRPr lang="en-US" sz="1300" dirty="0"/>
          </a:p>
          <a:p>
            <a:pPr indent="0" marL="0">
              <a:buNone/>
            </a:pPr>
            <a:endParaRPr lang="en-US" sz="1300" dirty="0"/>
          </a:p>
          <a:p>
            <a:pPr indent="0" marL="0">
              <a:buNone/>
            </a:pPr>
            <a:r>
              <a:rPr lang="en-US" sz="1300" dirty="0">
                <a:solidFill>
                  <a:srgbClr val="222222"/>
                </a:solidFill>
                <a:latin typeface="Calibri" pitchFamily="34" charset="0"/>
                <a:ea typeface="Calibri" pitchFamily="34" charset="-122"/>
                <a:cs typeface="Calibri" pitchFamily="34" charset="-120"/>
              </a:rPr>
              <a:t>So the selection rule is gold support first, everything else as a tiebreak.</a:t>
            </a:r>
            <a:endParaRPr lang="en-US" sz="1300" dirty="0"/>
          </a:p>
        </p:txBody>
      </p:sp>
      <p:sp>
        <p:nvSpPr>
          <p:cNvPr id="7" name="Text 4"/>
          <p:cNvSpPr/>
          <p:nvPr/>
        </p:nvSpPr>
        <p:spPr>
          <a:xfrm>
            <a:off x="548640" y="6327648"/>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DRIFT  ·  Weekly update  ·  10 September 2026</a:t>
            </a:r>
            <a:endParaRPr lang="en-US" sz="900" dirty="0"/>
          </a:p>
        </p:txBody>
      </p:sp>
      <p:sp>
        <p:nvSpPr>
          <p:cNvPr id="8" name="Text 5"/>
          <p:cNvSpPr/>
          <p:nvPr/>
        </p:nvSpPr>
        <p:spPr>
          <a:xfrm>
            <a:off x="11155680" y="6327648"/>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rtlCol="0" anchor="ctr"/>
          <a:lstStyle/>
          <a:p>
            <a:pPr indent="0" marL="0">
              <a:buNone/>
            </a:pPr>
            <a:r>
              <a:rPr lang="en-US" sz="1100" b="1" spc="120" kern="0" dirty="0">
                <a:solidFill>
                  <a:srgbClr val="C8811A"/>
                </a:solidFill>
                <a:latin typeface="Calibri" pitchFamily="34" charset="0"/>
                <a:ea typeface="Calibri" pitchFamily="34" charset="-122"/>
                <a:cs typeface="Calibri" pitchFamily="34" charset="-120"/>
              </a:rPr>
              <a:t>ITEM 3  ·  WEIGHTS</a:t>
            </a:r>
            <a:endParaRPr lang="en-US" sz="1100" dirty="0"/>
          </a:p>
        </p:txBody>
      </p:sp>
      <p:sp>
        <p:nvSpPr>
          <p:cNvPr id="3" name="Text 1"/>
          <p:cNvSpPr/>
          <p:nvPr/>
        </p:nvSpPr>
        <p:spPr>
          <a:xfrm>
            <a:off x="548640" y="658368"/>
            <a:ext cx="11064240" cy="685800"/>
          </a:xfrm>
          <a:prstGeom prst="rect">
            <a:avLst/>
          </a:prstGeom>
          <a:noFill/>
          <a:ln/>
        </p:spPr>
        <p:txBody>
          <a:bodyPr wrap="square" rtlCol="0" anchor="ctr"/>
          <a:lstStyle/>
          <a:p>
            <a:pPr indent="0" marL="0">
              <a:buNone/>
            </a:pPr>
            <a:r>
              <a:rPr lang="en-US" sz="2600" b="1" dirty="0">
                <a:solidFill>
                  <a:srgbClr val="1B2A4A"/>
                </a:solidFill>
                <a:latin typeface="Cambria" pitchFamily="34" charset="0"/>
                <a:ea typeface="Cambria" pitchFamily="34" charset="-122"/>
                <a:cs typeface="Cambria" pitchFamily="34" charset="-120"/>
              </a:rPr>
              <a:t>26 of 66 weightings tie at the accuracy ceiling</a:t>
            </a:r>
            <a:endParaRPr lang="en-US" sz="2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8686800" cy="914400"/>
        </p:xfrm>
        <a:graphic>
          <a:graphicData uri="http://schemas.openxmlformats.org/drawingml/2006/table">
            <a:tbl>
              <a:tblPr/>
              <a:tblGrid>
                <a:gridCol w="2377440"/>
                <a:gridCol w="2103120"/>
                <a:gridCol w="2103120"/>
                <a:gridCol w="2103120"/>
              </a:tblGrid>
              <a:tr h="384048">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group</a:t>
                      </a:r>
                      <a:endParaRPr lang="en-US" sz="125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1B2A4A"/>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weightings</a:t>
                      </a:r>
                      <a:endParaRPr lang="en-US" sz="125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1B2A4A"/>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gold support</a:t>
                      </a:r>
                      <a:endParaRPr lang="en-US" sz="125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1B2A4A"/>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composite spread</a:t>
                      </a:r>
                      <a:endParaRPr lang="en-US" sz="125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1B2A4A"/>
                    </a:solidFill>
                  </a:tcPr>
                </a:tc>
              </a:tr>
              <a:tr h="384048">
                <a:tc>
                  <a:txBody>
                    <a:bodyPr/>
                    <a:lstStyle/>
                    <a:p>
                      <a:pPr algn="ctr" indent="0" marL="0">
                        <a:buNone/>
                      </a:pPr>
                      <a:r>
                        <a:rPr lang="en-US" sz="1250" b="1" dirty="0">
                          <a:solidFill>
                            <a:srgbClr val="222222"/>
                          </a:solidFill>
                          <a:latin typeface="Calibri" pitchFamily="34" charset="0"/>
                          <a:ea typeface="Calibri" pitchFamily="34" charset="-122"/>
                          <a:cs typeface="Calibri" pitchFamily="34" charset="-120"/>
                        </a:rPr>
                        <a:t>hold the ceiling</a:t>
                      </a:r>
                      <a:endParaRPr lang="en-US" sz="125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222222"/>
                          </a:solidFill>
                          <a:latin typeface="Calibri" pitchFamily="34" charset="0"/>
                          <a:ea typeface="Calibri" pitchFamily="34" charset="-122"/>
                          <a:cs typeface="Calibri" pitchFamily="34" charset="-120"/>
                        </a:rPr>
                        <a:t>26 of 66</a:t>
                      </a:r>
                      <a:endParaRPr lang="en-US" sz="125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2F6F4E"/>
                          </a:solidFill>
                          <a:latin typeface="Calibri" pitchFamily="34" charset="0"/>
                          <a:ea typeface="Calibri" pitchFamily="34" charset="-122"/>
                          <a:cs typeface="Calibri" pitchFamily="34" charset="-120"/>
                        </a:rPr>
                        <a:t>1.000</a:t>
                      </a:r>
                      <a:endParaRPr lang="en-US" sz="125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222222"/>
                          </a:solidFill>
                          <a:latin typeface="Calibri" pitchFamily="34" charset="0"/>
                          <a:ea typeface="Calibri" pitchFamily="34" charset="-122"/>
                          <a:cs typeface="Calibri" pitchFamily="34" charset="-120"/>
                        </a:rPr>
                        <a:t>0.562 to 0.594</a:t>
                      </a:r>
                      <a:endParaRPr lang="en-US" sz="125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r>
              <a:tr h="384048">
                <a:tc>
                  <a:txBody>
                    <a:bodyPr/>
                    <a:lstStyle/>
                    <a:p>
                      <a:pPr algn="ctr" indent="0" marL="0">
                        <a:buNone/>
                      </a:pPr>
                      <a:r>
                        <a:rPr lang="en-US" sz="1250" dirty="0">
                          <a:solidFill>
                            <a:srgbClr val="222222"/>
                          </a:solidFill>
                          <a:latin typeface="Calibri" pitchFamily="34" charset="0"/>
                          <a:ea typeface="Calibri" pitchFamily="34" charset="-122"/>
                          <a:cs typeface="Calibri" pitchFamily="34" charset="-120"/>
                        </a:rPr>
                        <a:t>below the ceiling</a:t>
                      </a:r>
                      <a:endParaRPr lang="en-US" sz="125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c>
                  <a:txBody>
                    <a:bodyPr/>
                    <a:lstStyle/>
                    <a:p>
                      <a:pPr algn="ctr" indent="0" marL="0">
                        <a:buNone/>
                      </a:pPr>
                      <a:r>
                        <a:rPr lang="en-US" sz="1250" dirty="0">
                          <a:solidFill>
                            <a:srgbClr val="222222"/>
                          </a:solidFill>
                          <a:latin typeface="Calibri" pitchFamily="34" charset="0"/>
                          <a:ea typeface="Calibri" pitchFamily="34" charset="-122"/>
                          <a:cs typeface="Calibri" pitchFamily="34" charset="-120"/>
                        </a:rPr>
                        <a:t>40 of 66</a:t>
                      </a:r>
                      <a:endParaRPr lang="en-US" sz="125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c>
                  <a:txBody>
                    <a:bodyPr/>
                    <a:lstStyle/>
                    <a:p>
                      <a:pPr algn="ctr" indent="0" marL="0">
                        <a:buNone/>
                      </a:pPr>
                      <a:r>
                        <a:rPr lang="en-US" sz="1250" dirty="0">
                          <a:solidFill>
                            <a:srgbClr val="222222"/>
                          </a:solidFill>
                          <a:latin typeface="Calibri" pitchFamily="34" charset="0"/>
                          <a:ea typeface="Calibri" pitchFamily="34" charset="-122"/>
                          <a:cs typeface="Calibri" pitchFamily="34" charset="-120"/>
                        </a:rPr>
                        <a:t>0.240 to 0.990</a:t>
                      </a:r>
                      <a:endParaRPr lang="en-US" sz="125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c>
                  <a:txBody>
                    <a:bodyPr/>
                    <a:lstStyle/>
                    <a:p>
                      <a:pPr algn="ctr" indent="0" marL="0">
                        <a:buNone/>
                      </a:pPr>
                      <a:r>
                        <a:rPr lang="en-US" sz="1250" dirty="0">
                          <a:solidFill>
                            <a:srgbClr val="222222"/>
                          </a:solidFill>
                          <a:latin typeface="Calibri" pitchFamily="34" charset="0"/>
                          <a:ea typeface="Calibri" pitchFamily="34" charset="-122"/>
                          <a:cs typeface="Calibri" pitchFamily="34" charset="-120"/>
                        </a:rPr>
                        <a:t>0.229 to 0.698</a:t>
                      </a:r>
                      <a:endParaRPr lang="en-US" sz="125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r>
            </a:tbl>
          </a:graphicData>
        </a:graphic>
      </p:graphicFrame>
      <p:sp>
        <p:nvSpPr>
          <p:cNvPr id="5" name="Shape 2"/>
          <p:cNvSpPr/>
          <p:nvPr/>
        </p:nvSpPr>
        <p:spPr>
          <a:xfrm>
            <a:off x="548640" y="2743200"/>
            <a:ext cx="11064240" cy="1417320"/>
          </a:xfrm>
          <a:prstGeom prst="rect">
            <a:avLst/>
          </a:prstGeom>
          <a:solidFill>
            <a:srgbClr val="F4F6FA"/>
          </a:solidFill>
          <a:ln/>
        </p:spPr>
      </p:sp>
      <p:sp>
        <p:nvSpPr>
          <p:cNvPr id="6" name="Text 3"/>
          <p:cNvSpPr/>
          <p:nvPr/>
        </p:nvSpPr>
        <p:spPr>
          <a:xfrm>
            <a:off x="822960" y="2907792"/>
            <a:ext cx="10515600" cy="1143000"/>
          </a:xfrm>
          <a:prstGeom prst="rect">
            <a:avLst/>
          </a:prstGeom>
          <a:noFill/>
          <a:ln/>
        </p:spPr>
        <p:txBody>
          <a:bodyPr wrap="square" rtlCol="0" anchor="t"/>
          <a:lstStyle/>
          <a:p>
            <a:pPr indent="0" marL="0">
              <a:buNone/>
            </a:pPr>
            <a:r>
              <a:rPr lang="en-US" sz="1350" b="1" dirty="0">
                <a:solidFill>
                  <a:srgbClr val="222222"/>
                </a:solidFill>
                <a:latin typeface="Calibri" pitchFamily="34" charset="0"/>
                <a:ea typeface="Calibri" pitchFamily="34" charset="-122"/>
                <a:cs typeface="Calibri" pitchFamily="34" charset="-120"/>
              </a:rPr>
              <a:t>The spread inside the tied group is 0.031. The judge noise floor established in the audit is 0.030. </a:t>
            </a:r>
            <a:pPr indent="0" marL="0">
              <a:buNone/>
            </a:pPr>
            <a:r>
              <a:rPr lang="en-US" sz="1350" dirty="0">
                <a:solidFill>
                  <a:srgbClr val="222222"/>
                </a:solidFill>
                <a:latin typeface="Calibri" pitchFamily="34" charset="0"/>
                <a:ea typeface="Calibri" pitchFamily="34" charset="-122"/>
                <a:cs typeface="Calibri" pitchFamily="34" charset="-120"/>
              </a:rPr>
              <a:t>Nothing in that group is distinguishable from anything else in it at this sample size, and the current setting sits inside it.</a:t>
            </a:r>
            <a:endParaRPr lang="en-US" sz="1350" dirty="0"/>
          </a:p>
        </p:txBody>
      </p:sp>
      <p:sp>
        <p:nvSpPr>
          <p:cNvPr id="7" name="Text 4"/>
          <p:cNvSpPr/>
          <p:nvPr/>
        </p:nvSpPr>
        <p:spPr>
          <a:xfrm>
            <a:off x="548640" y="4343400"/>
            <a:ext cx="11064240" cy="274320"/>
          </a:xfrm>
          <a:prstGeom prst="rect">
            <a:avLst/>
          </a:prstGeom>
          <a:noFill/>
          <a:ln/>
        </p:spPr>
        <p:txBody>
          <a:bodyPr wrap="square"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Six candidates going to the real pipeline, chosen to be as far apart as the ceiling constraint allows:</a:t>
            </a:r>
            <a:endParaRPr lang="en-US" sz="1300" dirty="0"/>
          </a:p>
        </p:txBody>
      </p:sp>
      <p:sp>
        <p:nvSpPr>
          <p:cNvPr id="8" name="Text 5"/>
          <p:cNvSpPr/>
          <p:nvPr/>
        </p:nvSpPr>
        <p:spPr>
          <a:xfrm>
            <a:off x="548640" y="4663440"/>
            <a:ext cx="11064240" cy="731520"/>
          </a:xfrm>
          <a:prstGeom prst="rect">
            <a:avLst/>
          </a:prstGeom>
          <a:noFill/>
          <a:ln/>
        </p:spPr>
        <p:txBody>
          <a:bodyPr wrap="square" rtlCol="0" anchor="ctr"/>
          <a:lstStyle/>
          <a:p>
            <a:pPr indent="0" marL="0">
              <a:buNone/>
            </a:pPr>
            <a:r>
              <a:rPr lang="en-US" sz="1250" dirty="0">
                <a:solidFill>
                  <a:srgbClr val="222222"/>
                </a:solidFill>
                <a:latin typeface="Calibri" pitchFamily="34" charset="0"/>
                <a:ea typeface="Calibri" pitchFamily="34" charset="-122"/>
                <a:cs typeface="Calibri" pitchFamily="34" charset="-120"/>
              </a:rPr>
              <a:t>0.6 / 0.3 / 0.1 current      0.4 / 0.4 / 0.2 best in group      0.0 / 1.0 / 0.0 pure lexical      1.0 / 0.0 / 0.0 pure semantic      0.5 / 0.3 / 0.2 more recency      0.3 / 0.4 / 0.3 falsification test</a:t>
            </a:r>
            <a:endParaRPr lang="en-US" sz="1250" dirty="0"/>
          </a:p>
        </p:txBody>
      </p:sp>
      <p:sp>
        <p:nvSpPr>
          <p:cNvPr id="9" name="Text 6"/>
          <p:cNvSpPr/>
          <p:nvPr/>
        </p:nvSpPr>
        <p:spPr>
          <a:xfrm>
            <a:off x="548640" y="5440680"/>
            <a:ext cx="11064240" cy="457200"/>
          </a:xfrm>
          <a:prstGeom prst="rect">
            <a:avLst/>
          </a:prstGeom>
          <a:noFill/>
          <a:ln/>
        </p:spPr>
        <p:txBody>
          <a:bodyPr wrap="square" rtlCol="0" anchor="ctr"/>
          <a:lstStyle/>
          <a:p>
            <a:pPr indent="0" marL="0">
              <a:buNone/>
            </a:pPr>
            <a:r>
              <a:rPr lang="en-US" sz="1250" i="1" dirty="0">
                <a:solidFill>
                  <a:srgbClr val="222222"/>
                </a:solidFill>
                <a:latin typeface="Calibri" pitchFamily="34" charset="0"/>
                <a:ea typeface="Calibri" pitchFamily="34" charset="-122"/>
                <a:cs typeface="Calibri" pitchFamily="34" charset="-120"/>
              </a:rPr>
              <a:t>The last one is included on purpose. If it wins despite lower gold support, the ceiling argument above is wrong and needs rewriting.</a:t>
            </a:r>
            <a:endParaRPr lang="en-US" sz="1250" dirty="0"/>
          </a:p>
        </p:txBody>
      </p:sp>
      <p:sp>
        <p:nvSpPr>
          <p:cNvPr id="10" name="Text 7"/>
          <p:cNvSpPr/>
          <p:nvPr/>
        </p:nvSpPr>
        <p:spPr>
          <a:xfrm>
            <a:off x="548640" y="6327648"/>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DRIFT  ·  Weekly update  ·  10 September 2026</a:t>
            </a:r>
            <a:endParaRPr lang="en-US" sz="900" dirty="0"/>
          </a:p>
        </p:txBody>
      </p:sp>
      <p:sp>
        <p:nvSpPr>
          <p:cNvPr id="11" name="Text 8"/>
          <p:cNvSpPr/>
          <p:nvPr/>
        </p:nvSpPr>
        <p:spPr>
          <a:xfrm>
            <a:off x="11155680" y="6327648"/>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rtlCol="0" anchor="ctr"/>
          <a:lstStyle/>
          <a:p>
            <a:pPr indent="0" marL="0">
              <a:buNone/>
            </a:pPr>
            <a:r>
              <a:rPr lang="en-US" sz="1100" b="1" spc="120" kern="0" dirty="0">
                <a:solidFill>
                  <a:srgbClr val="C8811A"/>
                </a:solidFill>
                <a:latin typeface="Calibri" pitchFamily="34" charset="0"/>
                <a:ea typeface="Calibri" pitchFamily="34" charset="-122"/>
                <a:cs typeface="Calibri" pitchFamily="34" charset="-120"/>
              </a:rPr>
              <a:t>ITEM 4  ·  SMALL AGAINST FRONTIER</a:t>
            </a:r>
            <a:endParaRPr lang="en-US" sz="1100" dirty="0"/>
          </a:p>
        </p:txBody>
      </p:sp>
      <p:sp>
        <p:nvSpPr>
          <p:cNvPr id="3" name="Text 1"/>
          <p:cNvSpPr/>
          <p:nvPr/>
        </p:nvSpPr>
        <p:spPr>
          <a:xfrm>
            <a:off x="548640" y="658368"/>
            <a:ext cx="11064240" cy="685800"/>
          </a:xfrm>
          <a:prstGeom prst="rect">
            <a:avLst/>
          </a:prstGeom>
          <a:noFill/>
          <a:ln/>
        </p:spPr>
        <p:txBody>
          <a:bodyPr wrap="square" rtlCol="0" anchor="ctr"/>
          <a:lstStyle/>
          <a:p>
            <a:pPr indent="0" marL="0">
              <a:buNone/>
            </a:pPr>
            <a:r>
              <a:rPr lang="en-US" sz="2600" b="1" dirty="0">
                <a:solidFill>
                  <a:srgbClr val="1B2A4A"/>
                </a:solidFill>
                <a:latin typeface="Cambria" pitchFamily="34" charset="0"/>
                <a:ea typeface="Cambria" pitchFamily="34" charset="-122"/>
                <a:cs typeface="Cambria" pitchFamily="34" charset="-120"/>
              </a:rPr>
              <a:t>Configured and ready, with the prediction written down first</a:t>
            </a:r>
            <a:endParaRPr lang="en-US" sz="2600" dirty="0"/>
          </a:p>
        </p:txBody>
      </p:sp>
      <p:sp>
        <p:nvSpPr>
          <p:cNvPr id="4" name="Text 2"/>
          <p:cNvSpPr/>
          <p:nvPr/>
        </p:nvSpPr>
        <p:spPr>
          <a:xfrm>
            <a:off x="548640" y="1645920"/>
            <a:ext cx="11064240" cy="3291840"/>
          </a:xfrm>
          <a:prstGeom prst="rect">
            <a:avLst/>
          </a:prstGeom>
          <a:noFill/>
          <a:ln/>
        </p:spPr>
        <p:txBody>
          <a:bodyPr wrap="square" rtlCol="0" anchor="t"/>
          <a:lstStyle/>
          <a:p>
            <a:pPr marL="342900" indent="-342900">
              <a:lnSpc>
                <a:spcPts val="2100"/>
              </a:lnSpc>
              <a:spcAft>
                <a:spcPts val="1000"/>
              </a:spcAft>
              <a:buSzPct val="100000"/>
              <a:buChar char="•"/>
            </a:pPr>
            <a:r>
              <a:rPr lang="en-US" sz="1450" dirty="0">
                <a:solidFill>
                  <a:srgbClr val="222222"/>
                </a:solidFill>
                <a:latin typeface="Calibri" pitchFamily="34" charset="0"/>
                <a:ea typeface="Calibri" pitchFamily="34" charset="-122"/>
                <a:cs typeface="Calibri" pitchFamily="34" charset="-120"/>
              </a:rPr>
              <a:t>Four cells on MQuAKE-T with a frontier answer model, plus a regrade of the existing matrix with a frontier judge. The regrade is nearly free because the answers are already cached and only judge calls are new.</a:t>
            </a:r>
            <a:endParaRPr lang="en-US" sz="1450" dirty="0"/>
          </a:p>
          <a:p>
            <a:pPr marL="342900" indent="-342900">
              <a:lnSpc>
                <a:spcPts val="2100"/>
              </a:lnSpc>
              <a:spcAft>
                <a:spcPts val="1000"/>
              </a:spcAft>
              <a:buSzPct val="100000"/>
              <a:buChar char="•"/>
            </a:pPr>
            <a:r>
              <a:rPr lang="en-US" sz="1450" dirty="0">
                <a:solidFill>
                  <a:srgbClr val="222222"/>
                </a:solidFill>
                <a:latin typeface="Calibri" pitchFamily="34" charset="0"/>
                <a:ea typeface="Calibri" pitchFamily="34" charset="-122"/>
                <a:cs typeface="Calibri" pitchFamily="34" charset="-120"/>
              </a:rPr>
              <a:t>Prediction one: the no-memory floor rises on MQuAKE-T, because a frontier model knows many real office holders already, and stays at zero on FactConsolidation, whose gold answers are counterfactual by construction.</a:t>
            </a:r>
            <a:endParaRPr lang="en-US" sz="1450" dirty="0"/>
          </a:p>
          <a:p>
            <a:pPr marL="342900" indent="-342900">
              <a:lnSpc>
                <a:spcPts val="2100"/>
              </a:lnSpc>
              <a:spcAft>
                <a:spcPts val="1000"/>
              </a:spcAft>
              <a:buSzPct val="100000"/>
              <a:buChar char="•"/>
            </a:pPr>
            <a:r>
              <a:rPr lang="en-US" sz="1450" dirty="0">
                <a:solidFill>
                  <a:srgbClr val="222222"/>
                </a:solidFill>
                <a:latin typeface="Calibri" pitchFamily="34" charset="0"/>
                <a:ea typeface="Calibri" pitchFamily="34" charset="-122"/>
                <a:cs typeface="Calibri" pitchFamily="34" charset="-120"/>
              </a:rPr>
              <a:t>Prediction two: the append-only ceiling rises toward 1.000, which compresses the room any policy has to differ. This is the real risk to the results.</a:t>
            </a:r>
            <a:endParaRPr lang="en-US" sz="1450" dirty="0"/>
          </a:p>
          <a:p>
            <a:pPr marL="342900" indent="-342900">
              <a:lnSpc>
                <a:spcPts val="2100"/>
              </a:lnSpc>
              <a:spcAft>
                <a:spcPts val="1000"/>
              </a:spcAft>
              <a:buSzPct val="100000"/>
              <a:buChar char="•"/>
            </a:pPr>
            <a:r>
              <a:rPr lang="en-US" sz="1450" dirty="0">
                <a:solidFill>
                  <a:srgbClr val="222222"/>
                </a:solidFill>
                <a:latin typeface="Calibri" pitchFamily="34" charset="0"/>
                <a:ea typeface="Calibri" pitchFamily="34" charset="-122"/>
                <a:cs typeface="Calibri" pitchFamily="34" charset="-120"/>
              </a:rPr>
              <a:t>Prediction three: retrieved-invalidated does not move at all, since it is measured before the answer model is called. No model can change it.</a:t>
            </a:r>
            <a:endParaRPr lang="en-US" sz="1450" dirty="0"/>
          </a:p>
        </p:txBody>
      </p:sp>
      <p:sp>
        <p:nvSpPr>
          <p:cNvPr id="5" name="Shape 3"/>
          <p:cNvSpPr/>
          <p:nvPr/>
        </p:nvSpPr>
        <p:spPr>
          <a:xfrm>
            <a:off x="548640" y="5074920"/>
            <a:ext cx="11064240" cy="822960"/>
          </a:xfrm>
          <a:prstGeom prst="rect">
            <a:avLst/>
          </a:prstGeom>
          <a:solidFill>
            <a:srgbClr val="F4F6FA"/>
          </a:solidFill>
          <a:ln/>
        </p:spPr>
      </p:sp>
      <p:sp>
        <p:nvSpPr>
          <p:cNvPr id="6" name="Text 4"/>
          <p:cNvSpPr/>
          <p:nvPr/>
        </p:nvSpPr>
        <p:spPr>
          <a:xfrm>
            <a:off x="822960" y="5239512"/>
            <a:ext cx="10515600" cy="548640"/>
          </a:xfrm>
          <a:prstGeom prst="rect">
            <a:avLst/>
          </a:prstGeom>
          <a:noFill/>
          <a:ln/>
        </p:spPr>
        <p:txBody>
          <a:bodyPr wrap="square" rtlCol="0" anchor="t"/>
          <a:lstStyle/>
          <a:p>
            <a:pPr indent="0" marL="0">
              <a:buNone/>
            </a:pPr>
            <a:r>
              <a:rPr lang="en-US" sz="1350" dirty="0">
                <a:solidFill>
                  <a:srgbClr val="222222"/>
                </a:solidFill>
                <a:latin typeface="Calibri" pitchFamily="34" charset="0"/>
                <a:ea typeface="Calibri" pitchFamily="34" charset="-122"/>
                <a:cs typeface="Calibri" pitchFamily="34" charset="-120"/>
              </a:rPr>
              <a:t>If the P2 over P5 gap shrinks at frontier scale, the honest finding is that bitemporal invalidation matters most when the answer model is weakest. That is still publishable and still the right default.</a:t>
            </a:r>
            <a:endParaRPr lang="en-US" sz="1350" dirty="0"/>
          </a:p>
        </p:txBody>
      </p:sp>
      <p:sp>
        <p:nvSpPr>
          <p:cNvPr id="7" name="Text 5"/>
          <p:cNvSpPr/>
          <p:nvPr/>
        </p:nvSpPr>
        <p:spPr>
          <a:xfrm>
            <a:off x="548640" y="6327648"/>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DRIFT  ·  Weekly update  ·  10 September 2026</a:t>
            </a:r>
            <a:endParaRPr lang="en-US" sz="900" dirty="0"/>
          </a:p>
        </p:txBody>
      </p:sp>
      <p:sp>
        <p:nvSpPr>
          <p:cNvPr id="8" name="Text 6"/>
          <p:cNvSpPr/>
          <p:nvPr/>
        </p:nvSpPr>
        <p:spPr>
          <a:xfrm>
            <a:off x="11155680" y="6327648"/>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rtlCol="0" anchor="ctr"/>
          <a:lstStyle/>
          <a:p>
            <a:pPr indent="0" marL="0">
              <a:buNone/>
            </a:pPr>
            <a:r>
              <a:rPr lang="en-US" sz="1100" b="1" spc="120" kern="0" dirty="0">
                <a:solidFill>
                  <a:srgbClr val="C8811A"/>
                </a:solidFill>
                <a:latin typeface="Calibri" pitchFamily="34" charset="0"/>
                <a:ea typeface="Calibri" pitchFamily="34" charset="-122"/>
                <a:cs typeface="Calibri" pitchFamily="34" charset="-120"/>
              </a:rPr>
              <a:t>QUESTIONS FOR YOU</a:t>
            </a:r>
            <a:endParaRPr lang="en-US" sz="1100" dirty="0"/>
          </a:p>
        </p:txBody>
      </p:sp>
      <p:sp>
        <p:nvSpPr>
          <p:cNvPr id="3" name="Text 1"/>
          <p:cNvSpPr/>
          <p:nvPr/>
        </p:nvSpPr>
        <p:spPr>
          <a:xfrm>
            <a:off x="548640" y="658368"/>
            <a:ext cx="11064240" cy="685800"/>
          </a:xfrm>
          <a:prstGeom prst="rect">
            <a:avLst/>
          </a:prstGeom>
          <a:noFill/>
          <a:ln/>
        </p:spPr>
        <p:txBody>
          <a:bodyPr wrap="square" rtlCol="0" anchor="ctr"/>
          <a:lstStyle/>
          <a:p>
            <a:pPr indent="0" marL="0">
              <a:buNone/>
            </a:pPr>
            <a:r>
              <a:rPr lang="en-US" sz="2600" b="1" dirty="0">
                <a:solidFill>
                  <a:srgbClr val="1B2A4A"/>
                </a:solidFill>
                <a:latin typeface="Cambria" pitchFamily="34" charset="0"/>
                <a:ea typeface="Cambria" pitchFamily="34" charset="-122"/>
                <a:cs typeface="Cambria" pitchFamily="34" charset="-120"/>
              </a:rPr>
              <a:t>Five decisions I need before running the paid cells</a:t>
            </a:r>
            <a:endParaRPr lang="en-US" sz="2600" dirty="0"/>
          </a:p>
        </p:txBody>
      </p:sp>
      <p:sp>
        <p:nvSpPr>
          <p:cNvPr id="4" name="Text 2"/>
          <p:cNvSpPr/>
          <p:nvPr/>
        </p:nvSpPr>
        <p:spPr>
          <a:xfrm>
            <a:off x="548640" y="1554480"/>
            <a:ext cx="11064240" cy="4297680"/>
          </a:xfrm>
          <a:prstGeom prst="rect">
            <a:avLst/>
          </a:prstGeom>
          <a:noFill/>
          <a:ln/>
        </p:spPr>
        <p:txBody>
          <a:bodyPr wrap="square" rtlCol="0" anchor="t"/>
          <a:lstStyle/>
          <a:p>
            <a:pPr marL="342900" indent="-342900">
              <a:lnSpc>
                <a:spcPts val="2100"/>
              </a:lnSpc>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Item 1. The RQ4 pilot found that five different extraction models fragment predicate strings, which defeats P2's exact-match invalidation. Do I run the remaining 16 cells as they stand and document the boundary, or add predicate canonicalisation first so RQ4 tests the mechanism as intended? Those are two different experiments.</a:t>
            </a:r>
            <a:endParaRPr lang="en-US" sz="1300" dirty="0"/>
          </a:p>
          <a:p>
            <a:pPr marL="342900" indent="-342900">
              <a:lnSpc>
                <a:spcPts val="2100"/>
              </a:lnSpc>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Item 1. If budget forces a choice, is one topology with all seven policies worth more than three topologies with five?</a:t>
            </a:r>
            <a:endParaRPr lang="en-US" sz="1300" dirty="0"/>
          </a:p>
          <a:p>
            <a:pPr marL="342900" indent="-342900">
              <a:lnSpc>
                <a:spcPts val="2100"/>
              </a:lnSpc>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Item 3. Selecting the weighting on the same benchmark I report results on is tuning on the test set. Do you want selection on FactConsolidation and validation on MQuAKE-T, or both reported separately with no single winner declared?</a:t>
            </a:r>
            <a:endParaRPr lang="en-US" sz="1300" dirty="0"/>
          </a:p>
          <a:p>
            <a:pPr marL="342900" indent="-342900">
              <a:lnSpc>
                <a:spcPts val="2100"/>
              </a:lnSpc>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Item 3. If no weighting beats the current one by more than the noise floor, is "no change, search documented" an acceptable answer for this item?</a:t>
            </a:r>
            <a:endParaRPr lang="en-US" sz="1300" dirty="0"/>
          </a:p>
          <a:p>
            <a:pPr marL="342900" indent="-342900">
              <a:lnSpc>
                <a:spcPts val="2100"/>
              </a:lnSpc>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Item 2. If the end-to-end runs are also flat across 1 to 21 days, is a recommendation on cost alone acceptable, meaning pick the shortest grace because it wastes the fewest retrieval slots?</a:t>
            </a:r>
            <a:endParaRPr lang="en-US" sz="1300" dirty="0"/>
          </a:p>
        </p:txBody>
      </p:sp>
      <p:sp>
        <p:nvSpPr>
          <p:cNvPr id="5" name="Text 3"/>
          <p:cNvSpPr/>
          <p:nvPr/>
        </p:nvSpPr>
        <p:spPr>
          <a:xfrm>
            <a:off x="548640" y="6327648"/>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DRIFT  ·  Weekly update  ·  10 September 2026</a:t>
            </a:r>
            <a:endParaRPr lang="en-US" sz="900" dirty="0"/>
          </a:p>
        </p:txBody>
      </p:sp>
      <p:sp>
        <p:nvSpPr>
          <p:cNvPr id="6" name="Text 4"/>
          <p:cNvSpPr/>
          <p:nvPr/>
        </p:nvSpPr>
        <p:spPr>
          <a:xfrm>
            <a:off x="11155680" y="6327648"/>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rtlCol="0" anchor="ctr"/>
          <a:lstStyle/>
          <a:p>
            <a:pPr indent="0" marL="0">
              <a:buNone/>
            </a:pPr>
            <a:r>
              <a:rPr lang="en-US" sz="1100" b="1" spc="120" kern="0" dirty="0">
                <a:solidFill>
                  <a:srgbClr val="C8811A"/>
                </a:solidFill>
                <a:latin typeface="Calibri" pitchFamily="34" charset="0"/>
                <a:ea typeface="Calibri" pitchFamily="34" charset="-122"/>
                <a:cs typeface="Calibri" pitchFamily="34" charset="-120"/>
              </a:rPr>
              <a:t>NEXT WEEK</a:t>
            </a:r>
            <a:endParaRPr lang="en-US" sz="1100" dirty="0"/>
          </a:p>
        </p:txBody>
      </p:sp>
      <p:sp>
        <p:nvSpPr>
          <p:cNvPr id="3" name="Text 1"/>
          <p:cNvSpPr/>
          <p:nvPr/>
        </p:nvSpPr>
        <p:spPr>
          <a:xfrm>
            <a:off x="548640" y="658368"/>
            <a:ext cx="11064240" cy="685800"/>
          </a:xfrm>
          <a:prstGeom prst="rect">
            <a:avLst/>
          </a:prstGeom>
          <a:noFill/>
          <a:ln/>
        </p:spPr>
        <p:txBody>
          <a:bodyPr wrap="square" rtlCol="0" anchor="ctr"/>
          <a:lstStyle/>
          <a:p>
            <a:pPr indent="0" marL="0">
              <a:buNone/>
            </a:pPr>
            <a:r>
              <a:rPr lang="en-US" sz="2600" b="1" dirty="0">
                <a:solidFill>
                  <a:srgbClr val="1B2A4A"/>
                </a:solidFill>
                <a:latin typeface="Cambria" pitchFamily="34" charset="0"/>
                <a:ea typeface="Cambria" pitchFamily="34" charset="-122"/>
                <a:cs typeface="Cambria" pitchFamily="34" charset="-120"/>
              </a:rPr>
              <a:t>Plan</a:t>
            </a:r>
            <a:endParaRPr lang="en-US" sz="2600" dirty="0"/>
          </a:p>
        </p:txBody>
      </p:sp>
      <p:sp>
        <p:nvSpPr>
          <p:cNvPr id="4" name="Text 2"/>
          <p:cNvSpPr/>
          <p:nvPr/>
        </p:nvSpPr>
        <p:spPr>
          <a:xfrm>
            <a:off x="548640" y="1645920"/>
            <a:ext cx="11064240" cy="3108960"/>
          </a:xfrm>
          <a:prstGeom prst="rect">
            <a:avLst/>
          </a:prstGeom>
          <a:noFill/>
          <a:ln/>
        </p:spPr>
        <p:txBody>
          <a:bodyPr wrap="square" rtlCol="0" anchor="t"/>
          <a:lstStyle/>
          <a:p>
            <a:pPr marL="342900" indent="-342900">
              <a:lnSpc>
                <a:spcPts val="2100"/>
              </a:lnSpc>
              <a:spcAft>
                <a:spcPts val="1000"/>
              </a:spcAft>
              <a:buSzPct val="100000"/>
              <a:buChar char="•"/>
            </a:pPr>
            <a:r>
              <a:rPr lang="en-US" sz="1500" dirty="0">
                <a:solidFill>
                  <a:srgbClr val="222222"/>
                </a:solidFill>
                <a:latin typeface="Calibri" pitchFamily="34" charset="0"/>
                <a:ea typeface="Calibri" pitchFamily="34" charset="-122"/>
                <a:cs typeface="Calibri" pitchFamily="34" charset="-120"/>
              </a:rPr>
              <a:t>Run the grace search and the weights search end to end on MQuAKE-T, then repeat on FactConsolidation. Items 2 and 3 close.</a:t>
            </a:r>
            <a:endParaRPr lang="en-US" sz="1500" dirty="0"/>
          </a:p>
          <a:p>
            <a:pPr marL="342900" indent="-342900">
              <a:lnSpc>
                <a:spcPts val="2100"/>
              </a:lnSpc>
              <a:spcAft>
                <a:spcPts val="1000"/>
              </a:spcAft>
              <a:buSzPct val="100000"/>
              <a:buChar char="•"/>
            </a:pPr>
            <a:r>
              <a:rPr lang="en-US" sz="1500" dirty="0">
                <a:solidFill>
                  <a:srgbClr val="222222"/>
                </a:solidFill>
                <a:latin typeface="Calibri" pitchFamily="34" charset="0"/>
                <a:ea typeface="Calibri" pitchFamily="34" charset="-122"/>
                <a:cs typeface="Calibri" pitchFamily="34" charset="-120"/>
              </a:rPr>
              <a:t>Run the frontier cells and the judge regrade. Item 4 closes.</a:t>
            </a:r>
            <a:endParaRPr lang="en-US" sz="1500" dirty="0"/>
          </a:p>
          <a:p>
            <a:pPr marL="342900" indent="-342900">
              <a:lnSpc>
                <a:spcPts val="2100"/>
              </a:lnSpc>
              <a:spcAft>
                <a:spcPts val="1000"/>
              </a:spcAft>
              <a:buSzPct val="100000"/>
              <a:buChar char="•"/>
            </a:pPr>
            <a:r>
              <a:rPr lang="en-US" sz="1500" dirty="0">
                <a:solidFill>
                  <a:srgbClr val="222222"/>
                </a:solidFill>
                <a:latin typeface="Calibri" pitchFamily="34" charset="0"/>
                <a:ea typeface="Calibri" pitchFamily="34" charset="-122"/>
                <a:cs typeface="Calibri" pitchFamily="34" charset="-120"/>
              </a:rPr>
              <a:t>Start the RQ4 cells once the canonicalisation question above is settled. Item 1 begins properly.</a:t>
            </a:r>
            <a:endParaRPr lang="en-US" sz="1500" dirty="0"/>
          </a:p>
          <a:p>
            <a:pPr marL="342900" indent="-342900">
              <a:lnSpc>
                <a:spcPts val="2100"/>
              </a:lnSpc>
              <a:spcAft>
                <a:spcPts val="1000"/>
              </a:spcAft>
              <a:buSzPct val="100000"/>
              <a:buChar char="•"/>
            </a:pPr>
            <a:r>
              <a:rPr lang="en-US" sz="1500" dirty="0">
                <a:solidFill>
                  <a:srgbClr val="222222"/>
                </a:solidFill>
                <a:latin typeface="Calibri" pitchFamily="34" charset="0"/>
                <a:ea typeface="Calibri" pitchFamily="34" charset="-122"/>
                <a:cs typeface="Calibri" pitchFamily="34" charset="-120"/>
              </a:rPr>
              <a:t>Continue the revision with Chapter 2, and draft the sensitivity appendix while the results are fresh.</a:t>
            </a:r>
            <a:endParaRPr lang="en-US" sz="1500" dirty="0"/>
          </a:p>
        </p:txBody>
      </p:sp>
      <p:sp>
        <p:nvSpPr>
          <p:cNvPr id="5" name="Shape 3"/>
          <p:cNvSpPr/>
          <p:nvPr/>
        </p:nvSpPr>
        <p:spPr>
          <a:xfrm>
            <a:off x="548640" y="4937760"/>
            <a:ext cx="11064240" cy="960120"/>
          </a:xfrm>
          <a:prstGeom prst="rect">
            <a:avLst/>
          </a:prstGeom>
          <a:solidFill>
            <a:srgbClr val="F4F6FA"/>
          </a:solidFill>
          <a:ln/>
        </p:spPr>
      </p:sp>
      <p:sp>
        <p:nvSpPr>
          <p:cNvPr id="6" name="Text 4"/>
          <p:cNvSpPr/>
          <p:nvPr/>
        </p:nvSpPr>
        <p:spPr>
          <a:xfrm>
            <a:off x="822960" y="5102352"/>
            <a:ext cx="10515600" cy="685800"/>
          </a:xfrm>
          <a:prstGeom prst="rect">
            <a:avLst/>
          </a:prstGeom>
          <a:noFill/>
          <a:ln/>
        </p:spPr>
        <p:txBody>
          <a:bodyPr wrap="square" rtlCol="0" anchor="t"/>
          <a:lstStyle/>
          <a:p>
            <a:pPr indent="0" marL="0">
              <a:buNone/>
            </a:pPr>
            <a:r>
              <a:rPr lang="en-US" sz="1350" b="1" dirty="0">
                <a:solidFill>
                  <a:srgbClr val="222222"/>
                </a:solidFill>
                <a:latin typeface="Calibri" pitchFamily="34" charset="0"/>
                <a:ea typeface="Calibri" pitchFamily="34" charset="-122"/>
                <a:cs typeface="Calibri" pitchFamily="34" charset="-120"/>
              </a:rPr>
              <a:t>Everything for items 2, 3 and 4 is already built and tested offline. </a:t>
            </a:r>
            <a:pPr indent="0" marL="0">
              <a:buNone/>
            </a:pPr>
            <a:r>
              <a:rPr lang="en-US" sz="1350" dirty="0">
                <a:solidFill>
                  <a:srgbClr val="222222"/>
                </a:solidFill>
                <a:latin typeface="Calibri" pitchFamily="34" charset="0"/>
                <a:ea typeface="Calibri" pitchFamily="34" charset="-122"/>
                <a:cs typeface="Calibri" pitchFamily="34" charset="-120"/>
              </a:rPr>
              <a:t>make grace-search, make weights-search, make frontier, make judge-upgrade. The only thing standing between here and three closed items is API budget and wall-clock time.</a:t>
            </a:r>
            <a:endParaRPr lang="en-US" sz="1350" dirty="0"/>
          </a:p>
        </p:txBody>
      </p:sp>
      <p:sp>
        <p:nvSpPr>
          <p:cNvPr id="7" name="Text 5"/>
          <p:cNvSpPr/>
          <p:nvPr/>
        </p:nvSpPr>
        <p:spPr>
          <a:xfrm>
            <a:off x="548640" y="6327648"/>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DRIFT  ·  Weekly update  ·  10 September 2026</a:t>
            </a:r>
            <a:endParaRPr lang="en-US" sz="900" dirty="0"/>
          </a:p>
        </p:txBody>
      </p:sp>
      <p:sp>
        <p:nvSpPr>
          <p:cNvPr id="8" name="Text 6"/>
          <p:cNvSpPr/>
          <p:nvPr/>
        </p:nvSpPr>
        <p:spPr>
          <a:xfrm>
            <a:off x="11155680" y="6327648"/>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DRIFT weekly update</dc:title>
  <dc:subject>PptxGenJS Presentation</dc:subject>
  <dc:creator>Nandan Hemanth</dc:creator>
  <cp:lastModifiedBy>Nandan Hemanth</cp:lastModifiedBy>
  <cp:revision>1</cp:revision>
  <dcterms:created xsi:type="dcterms:W3CDTF">2026-09-10T14:53:43Z</dcterms:created>
  <dcterms:modified xsi:type="dcterms:W3CDTF">2026-09-10T14:53:43Z</dcterms:modified>
</cp:coreProperties>
</file>