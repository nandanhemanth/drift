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753F5E-2271-4C23-9891-F8661FBBB0C9}">
  <a:tblStyle styleId="{5C753F5E-2271-4C23-9891-F8661FBBB0C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P0 never forgets</c:v>
                </c:pt>
              </c:strCache>
            </c:strRef>
          </c:tx>
          <c:spPr>
            <a:solidFill>
              <a:srgbClr val="9AA5B1"/>
            </a:solidFill>
            <a:ln>
              <a:noFill/>
            </a:ln>
          </c:spPr>
          <c:cat>
            <c:strRef>
              <c:f>Sheet1!$A$2:$A$3</c:f>
              <c:strCache>
                <c:ptCount val="2"/>
                <c:pt idx="0">
                  <c:v>Published (old prompt)</c:v>
                </c:pt>
                <c:pt idx="1">
                  <c:v>Clean rerun</c:v>
                </c:pt>
              </c:strCache>
            </c:strRef>
          </c:cat>
          <c:val>
            <c:numRef>
              <c:f>Sheet1!$B$2:$B$3</c:f>
              <c:numCache>
                <c:formatCode>General</c:formatCode>
                <c:ptCount val="2"/>
                <c:pt idx="0">
                  <c:v>0.86</c:v>
                </c:pt>
                <c:pt idx="1">
                  <c:v>0.7</c:v>
                </c:pt>
              </c:numCache>
            </c:numRef>
          </c:val>
        </c:ser>
        <c:ser>
          <c:idx val="1"/>
          <c:order val="1"/>
          <c:tx>
            <c:strRef>
              <c:f>Sheet1!$C$1</c:f>
              <c:strCache>
                <c:ptCount val="1"/>
                <c:pt idx="0">
                  <c:v>P2 invalidation</c:v>
                </c:pt>
              </c:strCache>
            </c:strRef>
          </c:tx>
          <c:spPr>
            <a:solidFill>
              <a:srgbClr val="0F766E"/>
            </a:solidFill>
            <a:ln>
              <a:noFill/>
            </a:ln>
          </c:spPr>
          <c:cat>
            <c:strRef>
              <c:f>Sheet1!$A$2:$A$3</c:f>
              <c:strCache>
                <c:ptCount val="2"/>
                <c:pt idx="0">
                  <c:v>Published (old prompt)</c:v>
                </c:pt>
                <c:pt idx="1">
                  <c:v>Clean rerun</c:v>
                </c:pt>
              </c:strCache>
            </c:strRef>
          </c:cat>
          <c:val>
            <c:numRef>
              <c:f>Sheet1!$C$2:$C$3</c:f>
              <c:numCache>
                <c:formatCode>General</c:formatCode>
                <c:ptCount val="2"/>
                <c:pt idx="0">
                  <c:v>0.85</c:v>
                </c:pt>
                <c:pt idx="1">
                  <c:v>0.8</c:v>
                </c:pt>
              </c:numCache>
            </c:numRef>
          </c:val>
        </c:ser>
        <c:dLbls>
          <c:numFmt formatCode="0.00" sourceLinked="0"/>
          <c:txPr>
            <a:bodyPr/>
            <a:lstStyle/>
            <a:p>
              <a:pPr>
                <a:defRPr sz="900">
                  <a:solidFill>
                    <a:srgbClr val="1F2933"/>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E4E7EB"/>
            </a:solidFill>
          </a:ln>
        </c:spPr>
        <c:txPr>
          <a:bodyPr/>
          <a:lstStyle/>
          <a:p>
            <a:pPr>
              <a:defRPr sz="900">
                <a:solidFill>
                  <a:srgbClr val="1F2933"/>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4E7EB"/>
              </a:solidFill>
            </a:ln>
          </c:spPr>
        </c:majorGridlines>
        <c:numFmt formatCode="0.00" sourceLinked="0"/>
        <c:majorTickMark val="out"/>
        <c:minorTickMark val="none"/>
        <c:tickLblPos val="nextTo"/>
        <c:spPr>
          <a:ln>
            <a:noFill/>
          </a:ln>
        </c:spPr>
        <c:txPr>
          <a:bodyPr/>
          <a:lstStyle/>
          <a:p>
            <a:pPr>
              <a:defRPr sz="900">
                <a:solidFill>
                  <a:srgbClr val="7B8794"/>
                </a:solidFill>
              </a:defRPr>
            </a:pPr>
          </a:p>
        </c:txPr>
        <c:crossAx val="-2068027336"/>
        <c:crosses val="autoZero"/>
      </c:valAx>
    </c:plotArea>
    <c:legend>
      <c:legendPos val="b"/>
      <c:overlay val="0"/>
      <c:txPr>
        <a:bodyPr/>
        <a:lstStyle/>
        <a:p>
          <a:pPr>
            <a:defRPr sz="1000"/>
          </a:pPr>
        </a:p>
      </c:txPr>
    </c:legend>
    <c:dispBlanksAs val="gap"/>
  </c:chart>
  <c:txPr>
    <a:bodyPr/>
    <a:lstStyle/>
    <a:p>
      <a:pPr>
        <a:defRPr sz="10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P0 never forgets</c:v>
                </c:pt>
              </c:strCache>
            </c:strRef>
          </c:tx>
          <c:spPr>
            <a:solidFill>
              <a:srgbClr val="9AA5B1"/>
            </a:solidFill>
            <a:ln>
              <a:noFill/>
            </a:ln>
          </c:spPr>
          <c:cat>
            <c:strRef>
              <c:f>Sheet1!$A$2:$A$3</c:f>
              <c:strCache>
                <c:ptCount val="2"/>
                <c:pt idx="0">
                  <c:v>Published (old prompt)</c:v>
                </c:pt>
                <c:pt idx="1">
                  <c:v>Clean rerun</c:v>
                </c:pt>
              </c:strCache>
            </c:strRef>
          </c:cat>
          <c:val>
            <c:numRef>
              <c:f>Sheet1!$B$2:$B$3</c:f>
              <c:numCache>
                <c:formatCode>General</c:formatCode>
                <c:ptCount val="2"/>
                <c:pt idx="0">
                  <c:v>0.0</c:v>
                </c:pt>
                <c:pt idx="1">
                  <c:v>0.18</c:v>
                </c:pt>
              </c:numCache>
            </c:numRef>
          </c:val>
        </c:ser>
        <c:ser>
          <c:idx val="1"/>
          <c:order val="1"/>
          <c:tx>
            <c:strRef>
              <c:f>Sheet1!$C$1</c:f>
              <c:strCache>
                <c:ptCount val="1"/>
                <c:pt idx="0">
                  <c:v>P2 invalidation</c:v>
                </c:pt>
              </c:strCache>
            </c:strRef>
          </c:tx>
          <c:spPr>
            <a:solidFill>
              <a:srgbClr val="0F766E"/>
            </a:solidFill>
            <a:ln>
              <a:noFill/>
            </a:ln>
          </c:spPr>
          <c:cat>
            <c:strRef>
              <c:f>Sheet1!$A$2:$A$3</c:f>
              <c:strCache>
                <c:ptCount val="2"/>
                <c:pt idx="0">
                  <c:v>Published (old prompt)</c:v>
                </c:pt>
                <c:pt idx="1">
                  <c:v>Clean rerun</c:v>
                </c:pt>
              </c:strCache>
            </c:strRef>
          </c:cat>
          <c:val>
            <c:numRef>
              <c:f>Sheet1!$C$2:$C$3</c:f>
              <c:numCache>
                <c:formatCode>General</c:formatCode>
                <c:ptCount val="2"/>
                <c:pt idx="0">
                  <c:v>0.0</c:v>
                </c:pt>
                <c:pt idx="1">
                  <c:v>0.06</c:v>
                </c:pt>
              </c:numCache>
            </c:numRef>
          </c:val>
        </c:ser>
        <c:dLbls>
          <c:numFmt formatCode="0.00" sourceLinked="0"/>
          <c:txPr>
            <a:bodyPr/>
            <a:lstStyle/>
            <a:p>
              <a:pPr>
                <a:defRPr sz="900">
                  <a:solidFill>
                    <a:srgbClr val="1F2933"/>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E4E7EB"/>
            </a:solidFill>
          </a:ln>
        </c:spPr>
        <c:txPr>
          <a:bodyPr/>
          <a:lstStyle/>
          <a:p>
            <a:pPr>
              <a:defRPr sz="900">
                <a:solidFill>
                  <a:srgbClr val="1F2933"/>
                </a:solidFill>
              </a:defRPr>
            </a:pPr>
          </a:p>
        </c:txPr>
        <c:crossAx val="-2113994440"/>
        <c:crosses val="autoZero"/>
        <c:auto val="1"/>
        <c:lblAlgn val="ctr"/>
        <c:lblOffset val="100"/>
        <c:noMultiLvlLbl val="0"/>
      </c:catAx>
      <c:valAx>
        <c:axId val="-2113994440"/>
        <c:scaling>
          <c:max val="0.25"/>
          <c:min val="0.0"/>
        </c:scaling>
        <c:delete val="0"/>
        <c:axPos val="l"/>
        <c:majorGridlines>
          <c:spPr>
            <a:ln>
              <a:solidFill>
                <a:srgbClr val="E4E7EB"/>
              </a:solidFill>
            </a:ln>
          </c:spPr>
        </c:majorGridlines>
        <c:numFmt formatCode="0.00" sourceLinked="0"/>
        <c:majorTickMark val="out"/>
        <c:minorTickMark val="none"/>
        <c:tickLblPos val="nextTo"/>
        <c:spPr>
          <a:ln>
            <a:noFill/>
          </a:ln>
        </c:spPr>
        <c:txPr>
          <a:bodyPr/>
          <a:lstStyle/>
          <a:p>
            <a:pPr>
              <a:defRPr sz="900">
                <a:solidFill>
                  <a:srgbClr val="7B8794"/>
                </a:solidFill>
              </a:defRPr>
            </a:pPr>
          </a:p>
        </c:txPr>
        <c:crossAx val="-2068027336"/>
        <c:crosses val="autoZero"/>
      </c:valAx>
    </c:plotArea>
    <c:legend>
      <c:legendPos val="b"/>
      <c:overlay val="0"/>
      <c:txPr>
        <a:bodyPr/>
        <a:lstStyle/>
        <a:p>
          <a:pPr>
            <a:defRPr sz="1000"/>
          </a:pPr>
        </a:p>
      </c:txPr>
    </c:legend>
    <c:dispBlanksAs val="gap"/>
  </c:chart>
  <c:txPr>
    <a:bodyPr/>
    <a:lstStyle/>
    <a:p>
      <a:pPr>
        <a:defRPr sz="10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FactConsolidation (tuning)</c:v>
                </c:pt>
              </c:strCache>
            </c:strRef>
          </c:tx>
          <c:spPr>
            <a:solidFill>
              <a:srgbClr val="9AA5B1"/>
            </a:solidFill>
            <a:ln>
              <a:noFill/>
            </a:ln>
          </c:spPr>
          <c:cat>
            <c:strRef>
              <c:f>Sheet1!$A$2:$A$8</c:f>
              <c:strCache>
                <c:ptCount val="7"/>
                <c:pt idx="0">
                  <c:v>0.6/0.3/0.1 published</c:v>
                </c:pt>
                <c:pt idx="1">
                  <c:v>1/0/0</c:v>
                </c:pt>
                <c:pt idx="2">
                  <c:v>0.4/0.4/0.2</c:v>
                </c:pt>
                <c:pt idx="3">
                  <c:v>0.5/0.3/0.2</c:v>
                </c:pt>
                <c:pt idx="4">
                  <c:v>0.3/0.4/0.3</c:v>
                </c:pt>
                <c:pt idx="5">
                  <c:v>RRF</c:v>
                </c:pt>
                <c:pt idx="6">
                  <c:v>0/1/0</c:v>
                </c:pt>
              </c:strCache>
            </c:strRef>
          </c:cat>
          <c:val>
            <c:numRef>
              <c:f>Sheet1!$B$2:$B$8</c:f>
              <c:numCache>
                <c:formatCode>General</c:formatCode>
                <c:ptCount val="7"/>
                <c:pt idx="0">
                  <c:v>0.785</c:v>
                </c:pt>
                <c:pt idx="1">
                  <c:v>0.795</c:v>
                </c:pt>
                <c:pt idx="2">
                  <c:v>0.795</c:v>
                </c:pt>
                <c:pt idx="3">
                  <c:v>0.78</c:v>
                </c:pt>
                <c:pt idx="4">
                  <c:v>0.765</c:v>
                </c:pt>
                <c:pt idx="5">
                  <c:v>0.75</c:v>
                </c:pt>
                <c:pt idx="6">
                  <c:v>0.575</c:v>
                </c:pt>
              </c:numCache>
            </c:numRef>
          </c:val>
        </c:ser>
        <c:ser>
          <c:idx val="1"/>
          <c:order val="1"/>
          <c:tx>
            <c:strRef>
              <c:f>Sheet1!$C$1</c:f>
              <c:strCache>
                <c:ptCount val="1"/>
                <c:pt idx="0">
                  <c:v>MQuAKE-T (held-out test)</c:v>
                </c:pt>
              </c:strCache>
            </c:strRef>
          </c:tx>
          <c:spPr>
            <a:solidFill>
              <a:srgbClr val="0F766E"/>
            </a:solidFill>
            <a:ln>
              <a:noFill/>
            </a:ln>
          </c:spPr>
          <c:cat>
            <c:strRef>
              <c:f>Sheet1!$A$2:$A$8</c:f>
              <c:strCache>
                <c:ptCount val="7"/>
                <c:pt idx="0">
                  <c:v>0.6/0.3/0.1 published</c:v>
                </c:pt>
                <c:pt idx="1">
                  <c:v>1/0/0</c:v>
                </c:pt>
                <c:pt idx="2">
                  <c:v>0.4/0.4/0.2</c:v>
                </c:pt>
                <c:pt idx="3">
                  <c:v>0.5/0.3/0.2</c:v>
                </c:pt>
                <c:pt idx="4">
                  <c:v>0.3/0.4/0.3</c:v>
                </c:pt>
                <c:pt idx="5">
                  <c:v>RRF</c:v>
                </c:pt>
                <c:pt idx="6">
                  <c:v>0/1/0</c:v>
                </c:pt>
              </c:strCache>
            </c:strRef>
          </c:cat>
          <c:val>
            <c:numRef>
              <c:f>Sheet1!$C$2:$C$8</c:f>
              <c:numCache>
                <c:formatCode>General</c:formatCode>
                <c:ptCount val="7"/>
                <c:pt idx="0">
                  <c:v>0.969</c:v>
                </c:pt>
                <c:pt idx="1">
                  <c:v>0.974</c:v>
                </c:pt>
                <c:pt idx="2">
                  <c:v>0.974</c:v>
                </c:pt>
                <c:pt idx="3">
                  <c:v>0.969</c:v>
                </c:pt>
                <c:pt idx="4">
                  <c:v>0.906</c:v>
                </c:pt>
                <c:pt idx="5">
                  <c:v>0.979</c:v>
                </c:pt>
                <c:pt idx="6">
                  <c:v>0.964</c:v>
                </c:pt>
              </c:numCache>
            </c:numRef>
          </c:val>
        </c:ser>
        <c:dLbls>
          <c:numFmt formatCode="0.00" sourceLinked="0"/>
          <c:txPr>
            <a:bodyPr/>
            <a:lstStyle/>
            <a:p>
              <a:pPr>
                <a:defRPr sz="900">
                  <a:solidFill>
                    <a:srgbClr val="1F2933"/>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E4E7EB"/>
            </a:solidFill>
          </a:ln>
        </c:spPr>
        <c:txPr>
          <a:bodyPr/>
          <a:lstStyle/>
          <a:p>
            <a:pPr>
              <a:defRPr sz="900">
                <a:solidFill>
                  <a:srgbClr val="1F2933"/>
                </a:solidFill>
              </a:defRPr>
            </a:pPr>
          </a:p>
        </c:txPr>
        <c:crossAx val="-2113994440"/>
        <c:crosses val="autoZero"/>
        <c:auto val="1"/>
        <c:lblAlgn val="ctr"/>
        <c:lblOffset val="100"/>
        <c:noMultiLvlLbl val="0"/>
      </c:catAx>
      <c:valAx>
        <c:axId val="-2113994440"/>
        <c:scaling>
          <c:max val="1.05"/>
          <c:min val="0.4"/>
        </c:scaling>
        <c:delete val="0"/>
        <c:axPos val="l"/>
        <c:majorGridlines>
          <c:spPr>
            <a:ln>
              <a:solidFill>
                <a:srgbClr val="E4E7EB"/>
              </a:solidFill>
            </a:ln>
          </c:spPr>
        </c:majorGridlines>
        <c:numFmt formatCode="0.00" sourceLinked="0"/>
        <c:majorTickMark val="out"/>
        <c:minorTickMark val="none"/>
        <c:tickLblPos val="nextTo"/>
        <c:spPr>
          <a:ln>
            <a:noFill/>
          </a:ln>
        </c:spPr>
        <c:txPr>
          <a:bodyPr/>
          <a:lstStyle/>
          <a:p>
            <a:pPr>
              <a:defRPr sz="900">
                <a:solidFill>
                  <a:srgbClr val="7B8794"/>
                </a:solidFill>
              </a:defRPr>
            </a:pPr>
          </a:p>
        </c:txPr>
        <c:crossAx val="-2068027336"/>
        <c:crosses val="autoZero"/>
      </c:valAx>
    </c:plotArea>
    <c:legend>
      <c:legendPos val="b"/>
      <c:overlay val="0"/>
      <c:txPr>
        <a:bodyPr/>
        <a:lstStyle/>
        <a:p>
          <a:pPr>
            <a:defRPr sz="1000"/>
          </a:pPr>
        </a:p>
      </c:txPr>
    </c:legend>
    <c:dispBlanksAs val="gap"/>
  </c:chart>
  <c:txPr>
    <a:bodyPr/>
    <a:lstStyle/>
    <a:p>
      <a:pPr>
        <a:defRPr sz="10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FactConsolidation</c:v>
                </c:pt>
              </c:strCache>
            </c:strRef>
          </c:tx>
          <c:spPr>
            <a:ln w="28575">
              <a:solidFill>
                <a:srgbClr val="9AA5B1"/>
              </a:solidFill>
            </a:ln>
          </c:spPr>
          <c:marker>
            <c:symbol val="circle"/>
            <c:size val="7"/>
            <c:spPr>
              <a:solidFill>
                <a:srgbClr val="9AA5B1"/>
              </a:solidFill>
              <a:ln>
                <a:solidFill>
                  <a:srgbClr val="9AA5B1"/>
                </a:solidFill>
              </a:ln>
            </c:spPr>
          </c:marker>
          <c:cat>
            <c:strRef>
              <c:f>Sheet1!$A$2:$A$6</c:f>
              <c:strCache>
                <c:ptCount val="5"/>
                <c:pt idx="0">
                  <c:v>1 day</c:v>
                </c:pt>
                <c:pt idx="1">
                  <c:v>3 days</c:v>
                </c:pt>
                <c:pt idx="2">
                  <c:v>7 days</c:v>
                </c:pt>
                <c:pt idx="3">
                  <c:v>14 days</c:v>
                </c:pt>
                <c:pt idx="4">
                  <c:v>21 days</c:v>
                </c:pt>
              </c:strCache>
            </c:strRef>
          </c:cat>
          <c:val>
            <c:numRef>
              <c:f>Sheet1!$B$2:$B$6</c:f>
              <c:numCache>
                <c:formatCode>General</c:formatCode>
                <c:ptCount val="5"/>
                <c:pt idx="0">
                  <c:v>0.77</c:v>
                </c:pt>
                <c:pt idx="1">
                  <c:v>0.78</c:v>
                </c:pt>
                <c:pt idx="2">
                  <c:v>0.785</c:v>
                </c:pt>
                <c:pt idx="3">
                  <c:v>0.795</c:v>
                </c:pt>
                <c:pt idx="4">
                  <c:v>0.785</c:v>
                </c:pt>
              </c:numCache>
            </c:numRef>
          </c:val>
          <c:smooth val="0"/>
        </c:ser>
        <c:ser>
          <c:idx val="1"/>
          <c:order val="1"/>
          <c:tx>
            <c:strRef>
              <c:f>Sheet1!$C$1</c:f>
              <c:strCache>
                <c:ptCount val="1"/>
                <c:pt idx="0">
                  <c:v>MQuAKE-T</c:v>
                </c:pt>
              </c:strCache>
            </c:strRef>
          </c:tx>
          <c:spPr>
            <a:ln w="28575">
              <a:solidFill>
                <a:srgbClr val="0F766E"/>
              </a:solidFill>
            </a:ln>
          </c:spPr>
          <c:marker>
            <c:symbol val="circle"/>
            <c:size val="7"/>
            <c:spPr>
              <a:solidFill>
                <a:srgbClr val="0F766E"/>
              </a:solidFill>
              <a:ln>
                <a:solidFill>
                  <a:srgbClr val="0F766E"/>
                </a:solidFill>
              </a:ln>
            </c:spPr>
          </c:marker>
          <c:cat>
            <c:strRef>
              <c:f>Sheet1!$A$2:$A$6</c:f>
              <c:strCache>
                <c:ptCount val="5"/>
                <c:pt idx="0">
                  <c:v>1 day</c:v>
                </c:pt>
                <c:pt idx="1">
                  <c:v>3 days</c:v>
                </c:pt>
                <c:pt idx="2">
                  <c:v>7 days</c:v>
                </c:pt>
                <c:pt idx="3">
                  <c:v>14 days</c:v>
                </c:pt>
                <c:pt idx="4">
                  <c:v>21 days</c:v>
                </c:pt>
              </c:strCache>
            </c:strRef>
          </c:cat>
          <c:val>
            <c:numRef>
              <c:f>Sheet1!$C$2:$C$6</c:f>
              <c:numCache>
                <c:formatCode>General</c:formatCode>
                <c:ptCount val="5"/>
                <c:pt idx="0">
                  <c:v>0.979</c:v>
                </c:pt>
                <c:pt idx="1">
                  <c:v>0.979</c:v>
                </c:pt>
                <c:pt idx="2">
                  <c:v>0.969</c:v>
                </c:pt>
                <c:pt idx="3">
                  <c:v>0.969</c:v>
                </c:pt>
                <c:pt idx="4">
                  <c:v>0.964</c:v>
                </c:pt>
              </c:numCache>
            </c:numRef>
          </c:val>
          <c:smooth val="0"/>
        </c:ser>
        <c:dLbls>
          <c:numFmt formatCode="0.00" sourceLinked="0"/>
          <c:txPr>
            <a:bodyPr/>
            <a:lstStyle/>
            <a:p>
              <a:pPr>
                <a:defRPr sz="900">
                  <a:solidFill>
                    <a:srgbClr val="1F2933"/>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E4E7EB"/>
            </a:solidFill>
          </a:ln>
        </c:spPr>
        <c:txPr>
          <a:bodyPr/>
          <a:lstStyle/>
          <a:p>
            <a:pPr>
              <a:defRPr sz="900">
                <a:solidFill>
                  <a:srgbClr val="1F2933"/>
                </a:solidFill>
              </a:defRPr>
            </a:pPr>
          </a:p>
        </c:txPr>
        <c:crossAx val="2140495176"/>
        <c:crosses val="autoZero"/>
        <c:auto val="1"/>
        <c:lblAlgn val="ctr"/>
        <c:lblOffset val="100"/>
        <c:noMultiLvlLbl val="0"/>
      </c:catAx>
      <c:valAx>
        <c:axId val="2140495176"/>
        <c:scaling>
          <c:max val="1.0"/>
          <c:min val="0.6"/>
        </c:scaling>
        <c:delete val="0"/>
        <c:axPos val="l"/>
        <c:majorGridlines>
          <c:spPr>
            <a:ln>
              <a:solidFill>
                <a:srgbClr val="E4E7EB"/>
              </a:solidFill>
            </a:ln>
          </c:spPr>
        </c:majorGridlines>
        <c:numFmt formatCode="0.00" sourceLinked="0"/>
        <c:majorTickMark val="out"/>
        <c:minorTickMark val="none"/>
        <c:tickLblPos val="nextTo"/>
        <c:spPr>
          <a:ln>
            <a:noFill/>
          </a:ln>
        </c:spPr>
        <c:txPr>
          <a:bodyPr/>
          <a:lstStyle/>
          <a:p>
            <a:pPr>
              <a:defRPr sz="900">
                <a:solidFill>
                  <a:srgbClr val="7B8794"/>
                </a:solidFill>
              </a:defRPr>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FactConsolidation</c:v>
                </c:pt>
              </c:strCache>
            </c:strRef>
          </c:tx>
          <c:spPr>
            <a:ln w="28575">
              <a:solidFill>
                <a:srgbClr val="9AA5B1"/>
              </a:solidFill>
            </a:ln>
          </c:spPr>
          <c:marker>
            <c:symbol val="circle"/>
            <c:size val="7"/>
            <c:spPr>
              <a:solidFill>
                <a:srgbClr val="9AA5B1"/>
              </a:solidFill>
              <a:ln>
                <a:solidFill>
                  <a:srgbClr val="9AA5B1"/>
                </a:solidFill>
              </a:ln>
            </c:spPr>
          </c:marker>
          <c:cat>
            <c:strRef>
              <c:f>Sheet1!$A$2:$A$6</c:f>
              <c:strCache>
                <c:ptCount val="5"/>
                <c:pt idx="0">
                  <c:v>1 day</c:v>
                </c:pt>
                <c:pt idx="1">
                  <c:v>3 days</c:v>
                </c:pt>
                <c:pt idx="2">
                  <c:v>7 days</c:v>
                </c:pt>
                <c:pt idx="3">
                  <c:v>14 days</c:v>
                </c:pt>
                <c:pt idx="4">
                  <c:v>21 days</c:v>
                </c:pt>
              </c:strCache>
            </c:strRef>
          </c:cat>
          <c:val>
            <c:numRef>
              <c:f>Sheet1!$B$2:$B$6</c:f>
              <c:numCache>
                <c:formatCode>General</c:formatCode>
                <c:ptCount val="5"/>
                <c:pt idx="0">
                  <c:v>738</c:v>
                </c:pt>
                <c:pt idx="1">
                  <c:v>737</c:v>
                </c:pt>
                <c:pt idx="2">
                  <c:v>716</c:v>
                </c:pt>
                <c:pt idx="3">
                  <c:v>701</c:v>
                </c:pt>
                <c:pt idx="4">
                  <c:v>683</c:v>
                </c:pt>
              </c:numCache>
            </c:numRef>
          </c:val>
          <c:smooth val="0"/>
        </c:ser>
        <c:ser>
          <c:idx val="1"/>
          <c:order val="1"/>
          <c:tx>
            <c:strRef>
              <c:f>Sheet1!$C$1</c:f>
              <c:strCache>
                <c:ptCount val="1"/>
                <c:pt idx="0">
                  <c:v>MQuAKE-T</c:v>
                </c:pt>
              </c:strCache>
            </c:strRef>
          </c:tx>
          <c:spPr>
            <a:ln w="28575">
              <a:solidFill>
                <a:srgbClr val="0F766E"/>
              </a:solidFill>
            </a:ln>
          </c:spPr>
          <c:marker>
            <c:symbol val="circle"/>
            <c:size val="7"/>
            <c:spPr>
              <a:solidFill>
                <a:srgbClr val="0F766E"/>
              </a:solidFill>
              <a:ln>
                <a:solidFill>
                  <a:srgbClr val="0F766E"/>
                </a:solidFill>
              </a:ln>
            </c:spPr>
          </c:marker>
          <c:cat>
            <c:strRef>
              <c:f>Sheet1!$A$2:$A$6</c:f>
              <c:strCache>
                <c:ptCount val="5"/>
                <c:pt idx="0">
                  <c:v>1 day</c:v>
                </c:pt>
                <c:pt idx="1">
                  <c:v>3 days</c:v>
                </c:pt>
                <c:pt idx="2">
                  <c:v>7 days</c:v>
                </c:pt>
                <c:pt idx="3">
                  <c:v>14 days</c:v>
                </c:pt>
                <c:pt idx="4">
                  <c:v>21 days</c:v>
                </c:pt>
              </c:strCache>
            </c:strRef>
          </c:cat>
          <c:val>
            <c:numRef>
              <c:f>Sheet1!$C$2:$C$6</c:f>
              <c:numCache>
                <c:formatCode>General</c:formatCode>
                <c:ptCount val="5"/>
                <c:pt idx="0">
                  <c:v>737</c:v>
                </c:pt>
                <c:pt idx="1">
                  <c:v>734</c:v>
                </c:pt>
                <c:pt idx="2">
                  <c:v>716</c:v>
                </c:pt>
                <c:pt idx="3">
                  <c:v>699</c:v>
                </c:pt>
                <c:pt idx="4">
                  <c:v>697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4E7EB"/>
            </a:solidFill>
          </a:ln>
        </c:spPr>
        <c:txPr>
          <a:bodyPr/>
          <a:lstStyle/>
          <a:p>
            <a:pPr>
              <a:defRPr sz="900">
                <a:solidFill>
                  <a:srgbClr val="1F2933"/>
                </a:solidFill>
              </a:defRPr>
            </a:pPr>
          </a:p>
        </c:txPr>
        <c:crossAx val="2140495176"/>
        <c:crosses val="autoZero"/>
        <c:auto val="1"/>
        <c:lblAlgn val="ctr"/>
        <c:lblOffset val="100"/>
        <c:noMultiLvlLbl val="0"/>
      </c:catAx>
      <c:valAx>
        <c:axId val="2140495176"/>
        <c:scaling>
          <c:max val="760.0"/>
          <c:min val="660.0"/>
        </c:scaling>
        <c:delete val="0"/>
        <c:axPos val="l"/>
        <c:majorGridlines>
          <c:spPr>
            <a:ln>
              <a:solidFill>
                <a:srgbClr val="E4E7EB"/>
              </a:solidFill>
            </a:ln>
          </c:spPr>
        </c:majorGridlines>
        <c:numFmt formatCode="0" sourceLinked="0"/>
        <c:majorTickMark val="out"/>
        <c:minorTickMark val="none"/>
        <c:tickLblPos val="nextTo"/>
        <c:spPr>
          <a:ln>
            <a:noFill/>
          </a:ln>
        </c:spPr>
        <c:txPr>
          <a:bodyPr/>
          <a:lstStyle/>
          <a:p>
            <a:pPr>
              <a:defRPr sz="900">
                <a:solidFill>
                  <a:srgbClr val="7B8794"/>
                </a:solidFill>
              </a:defRPr>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Old prompt text: 'prefer the most recent fact when two disagree. A line marked [superseded] was true until that date and is no longer current.' Commit 187575e. Python modules are loaded once at process start, so editing pipeline.py mid-run had no effect on the running campaign.</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Storage numbers: FC 298 vs 364 active facts, MQ 340 vs 377. Tokens: FC 738 vs 683, MQ 737 vs 697. History kept = invalidated-but-retained / all invalidated. ConvoMem audit: 17 invalidations in the final conversation, roughly 2 were real supersessions.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834640"/>
            <a:ext cx="10058400" cy="640080"/>
          </a:xfrm>
          <a:prstGeom prst="rect">
            <a:avLst/>
          </a:prstGeom>
          <a:noFill/>
        </p:spPr>
        <p:txBody>
          <a:bodyPr wrap="square" lIns="91425" rIns="91425" tIns="45700" bIns="45700" anchor="ctr"/>
          <a:lstStyle/>
          <a:p>
            <a:pPr algn="l">
              <a:spcBef>
                <a:spcPts val="0"/>
              </a:spcBef>
              <a:spcAft>
                <a:spcPts val="0"/>
              </a:spcAft>
            </a:pPr>
            <a:r>
              <a:rPr sz="3800" b="1" i="0">
                <a:solidFill>
                  <a:srgbClr val="1F2933"/>
                </a:solidFill>
                <a:latin typeface="Calibri"/>
              </a:rPr>
              <a:t>Weekly update</a:t>
            </a:r>
          </a:p>
        </p:txBody>
      </p:sp>
      <p:sp>
        <p:nvSpPr>
          <p:cNvPr id="3" name="TextBox 2"/>
          <p:cNvSpPr txBox="1"/>
          <p:nvPr/>
        </p:nvSpPr>
        <p:spPr>
          <a:xfrm>
            <a:off x="822960" y="3520440"/>
            <a:ext cx="10058400" cy="411480"/>
          </a:xfrm>
          <a:prstGeom prst="rect">
            <a:avLst/>
          </a:prstGeom>
          <a:noFill/>
        </p:spPr>
        <p:txBody>
          <a:bodyPr wrap="square" lIns="91425" rIns="91425" tIns="45700" bIns="45700" anchor="ctr"/>
          <a:lstStyle/>
          <a:p>
            <a:pPr algn="l">
              <a:spcBef>
                <a:spcPts val="0"/>
              </a:spcBef>
              <a:spcAft>
                <a:spcPts val="0"/>
              </a:spcAft>
            </a:pPr>
            <a:r>
              <a:rPr sz="1900" b="0" i="0">
                <a:solidFill>
                  <a:srgbClr val="1F2933"/>
                </a:solidFill>
                <a:latin typeface="Calibri"/>
              </a:rPr>
              <a:t>Grace period and retrieval formula tested end to end, a third benchmark, and a correction</a:t>
            </a:r>
          </a:p>
        </p:txBody>
      </p:sp>
      <p:sp>
        <p:nvSpPr>
          <p:cNvPr id="4" name="TextBox 3"/>
          <p:cNvSpPr txBox="1"/>
          <p:nvPr/>
        </p:nvSpPr>
        <p:spPr>
          <a:xfrm>
            <a:off x="667512" y="5961888"/>
            <a:ext cx="10058400" cy="3200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Nandan Hemanth  ·  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THIS WEEK</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Four experiments and one correction</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a:t>
            </a:r>
          </a:p>
        </p:txBody>
      </p:sp>
      <p:sp>
        <p:nvSpPr>
          <p:cNvPr id="6" name="TextBox 5"/>
          <p:cNvSpPr txBox="1"/>
          <p:nvPr/>
        </p:nvSpPr>
        <p:spPr>
          <a:xfrm>
            <a:off x="640080" y="1600200"/>
            <a:ext cx="10881360" cy="3566160"/>
          </a:xfrm>
          <a:prstGeom prst="rect">
            <a:avLst/>
          </a:prstGeom>
          <a:noFill/>
        </p:spPr>
        <p:txBody>
          <a:bodyPr wrap="square" lIns="91425" rIns="91425" tIns="45700" bIns="45700" anchor="t"/>
          <a:lstStyle/>
          <a:p>
            <a:pPr algn="l" marL="342900" indent="-342900">
              <a:lnSpc>
                <a:spcPct val="145000"/>
              </a:lnSpc>
              <a:spcBef>
                <a:spcPts val="0"/>
              </a:spcBef>
              <a:spcAft>
                <a:spcPts val="0"/>
              </a:spcAft>
              <a:buClr>
                <a:srgbClr val="1F2933"/>
              </a:buClr>
              <a:buFont typeface="Calibri"/>
              <a:buChar char="•"/>
            </a:pPr>
            <a:r>
              <a:rPr sz="1500" b="1" i="0">
                <a:solidFill>
                  <a:srgbClr val="1F2933"/>
                </a:solidFill>
                <a:latin typeface="Calibri"/>
              </a:rPr>
              <a:t>Retrieval formula, tuned and tested. </a:t>
            </a:r>
            <a:r>
              <a:rPr sz="1500" b="0" i="0">
                <a:solidFill>
                  <a:srgbClr val="1F2933"/>
                </a:solidFill>
                <a:latin typeface="Calibri"/>
              </a:rPr>
              <a:t>Seven candidate weightings, including a weight-free method, tuned on FactConsolidation and tested on MQuAKE-T with the decision rule fixed first.</a:t>
            </a:r>
          </a:p>
          <a:p>
            <a:pPr algn="l" marL="342900" indent="-342900">
              <a:lnSpc>
                <a:spcPct val="145000"/>
              </a:lnSpc>
              <a:spcBef>
                <a:spcPts val="0"/>
              </a:spcBef>
              <a:spcAft>
                <a:spcPts val="0"/>
              </a:spcAft>
              <a:buClr>
                <a:srgbClr val="1F2933"/>
              </a:buClr>
              <a:buFont typeface="Calibri"/>
              <a:buChar char="•"/>
            </a:pPr>
            <a:r>
              <a:rPr sz="1500" b="1" i="0">
                <a:solidFill>
                  <a:srgbClr val="1F2933"/>
                </a:solidFill>
                <a:latin typeface="Calibri"/>
              </a:rPr>
              <a:t>Grace period, end to end. </a:t>
            </a:r>
            <a:r>
              <a:rPr sz="1500" b="0" i="0">
                <a:solidFill>
                  <a:srgbClr val="1F2933"/>
                </a:solidFill>
                <a:latin typeface="Calibri"/>
              </a:rPr>
              <a:t>Last week's result was retrieval only. This week P2 ran with real answers at 1, 3, 7, 14 and 21 days on both benchmarks.</a:t>
            </a:r>
          </a:p>
          <a:p>
            <a:pPr algn="l" marL="342900" indent="-342900">
              <a:lnSpc>
                <a:spcPct val="145000"/>
              </a:lnSpc>
              <a:spcBef>
                <a:spcPts val="0"/>
              </a:spcBef>
              <a:spcAft>
                <a:spcPts val="0"/>
              </a:spcAft>
              <a:buClr>
                <a:srgbClr val="1F2933"/>
              </a:buClr>
              <a:buFont typeface="Calibri"/>
              <a:buChar char="•"/>
            </a:pPr>
            <a:r>
              <a:rPr sz="1500" b="1" i="0">
                <a:solidFill>
                  <a:srgbClr val="1F2933"/>
                </a:solidFill>
                <a:latin typeface="Calibri"/>
              </a:rPr>
              <a:t>A third benchmark, ConvoMem. </a:t>
            </a:r>
            <a:r>
              <a:rPr sz="1500" b="0" i="0">
                <a:solidFill>
                  <a:srgbClr val="1F2933"/>
                </a:solidFill>
                <a:latin typeface="Calibri"/>
              </a:rPr>
              <a:t>Facts change inside natural conversations rather than templated sentences. All seven policies, two answer models.</a:t>
            </a:r>
          </a:p>
          <a:p>
            <a:pPr algn="l" marL="342900" indent="-342900">
              <a:lnSpc>
                <a:spcPct val="145000"/>
              </a:lnSpc>
              <a:spcBef>
                <a:spcPts val="0"/>
              </a:spcBef>
              <a:spcAft>
                <a:spcPts val="0"/>
              </a:spcAft>
              <a:buClr>
                <a:srgbClr val="1F2933"/>
              </a:buClr>
              <a:buFont typeface="Calibri"/>
              <a:buChar char="•"/>
            </a:pPr>
            <a:r>
              <a:rPr sz="1500" b="1" i="0">
                <a:solidFill>
                  <a:srgbClr val="1F2933"/>
                </a:solidFill>
                <a:latin typeface="Calibri"/>
              </a:rPr>
              <a:t>A pinned judge. </a:t>
            </a:r>
            <a:r>
              <a:rPr sz="1500" b="0" i="0">
                <a:solidFill>
                  <a:srgbClr val="1F2933"/>
                </a:solidFill>
                <a:latin typeface="Calibri"/>
              </a:rPr>
              <a:t>MQuAKE-T regraded with Claude Opus 4.8 to check the results do not depend on the original judge.</a:t>
            </a:r>
          </a:p>
          <a:p>
            <a:pPr algn="l" marL="342900" indent="-342900">
              <a:lnSpc>
                <a:spcPct val="145000"/>
              </a:lnSpc>
              <a:spcBef>
                <a:spcPts val="0"/>
              </a:spcBef>
              <a:spcAft>
                <a:spcPts val="0"/>
              </a:spcAft>
              <a:buClr>
                <a:srgbClr val="1F2933"/>
              </a:buClr>
              <a:buFont typeface="Calibri"/>
              <a:buChar char="•"/>
            </a:pPr>
            <a:r>
              <a:rPr sz="1500" b="1" i="0">
                <a:solidFill>
                  <a:srgbClr val="1F2933"/>
                </a:solidFill>
                <a:latin typeface="Calibri"/>
              </a:rPr>
              <a:t>The correction. </a:t>
            </a:r>
            <a:r>
              <a:rPr sz="1500" b="0" i="0">
                <a:solidFill>
                  <a:srgbClr val="1F2933"/>
                </a:solidFill>
                <a:latin typeface="Calibri"/>
              </a:rPr>
              <a:t>The published FactConsolidation results were answered under an older prompt. Fixing it strengthens the thesis.</a:t>
            </a:r>
          </a:p>
        </p:txBody>
      </p:sp>
      <p:sp>
        <p:nvSpPr>
          <p:cNvPr id="7" name="Rectangle 6"/>
          <p:cNvSpPr/>
          <p:nvPr/>
        </p:nvSpPr>
        <p:spPr>
          <a:xfrm>
            <a:off x="640080" y="5257800"/>
            <a:ext cx="10881360" cy="868680"/>
          </a:xfrm>
          <a:prstGeom prst="rect">
            <a:avLst/>
          </a:prstGeom>
          <a:solidFill>
            <a:srgbClr val="F7F8F9"/>
          </a:solidFill>
          <a:ln>
            <a:noFill/>
          </a:ln>
        </p:spPr>
        <p:txBody>
          <a:bodyPr rtlCol="0" anchor="ctr"/>
          <a:lstStyle/>
          <a:p>
            <a:pPr algn="ctr"/>
          </a:p>
        </p:txBody>
      </p:sp>
      <p:sp>
        <p:nvSpPr>
          <p:cNvPr id="8" name="Rectangle 7"/>
          <p:cNvSpPr/>
          <p:nvPr/>
        </p:nvSpPr>
        <p:spPr>
          <a:xfrm>
            <a:off x="640080" y="5257800"/>
            <a:ext cx="36576" cy="868680"/>
          </a:xfrm>
          <a:prstGeom prst="rect">
            <a:avLst/>
          </a:prstGeom>
          <a:solidFill>
            <a:srgbClr val="0F766E"/>
          </a:solidFill>
          <a:ln>
            <a:noFill/>
          </a:ln>
        </p:spPr>
        <p:txBody>
          <a:bodyPr rtlCol="0" anchor="ctr"/>
          <a:lstStyle/>
          <a:p>
            <a:pPr algn="ctr"/>
          </a:p>
        </p:txBody>
      </p:sp>
      <p:sp>
        <p:nvSpPr>
          <p:cNvPr id="9" name="TextBox 8"/>
          <p:cNvSpPr txBox="1"/>
          <p:nvPr/>
        </p:nvSpPr>
        <p:spPr>
          <a:xfrm>
            <a:off x="914400" y="5385816"/>
            <a:ext cx="10332720" cy="612647"/>
          </a:xfrm>
          <a:prstGeom prst="rect">
            <a:avLst/>
          </a:prstGeom>
          <a:noFill/>
        </p:spPr>
        <p:txBody>
          <a:bodyPr wrap="square" lIns="91425" rIns="91425" tIns="45700" bIns="45700" anchor="ctr"/>
          <a:lstStyle/>
          <a:p>
            <a:pPr algn="l">
              <a:spcBef>
                <a:spcPts val="0"/>
              </a:spcBef>
              <a:spcAft>
                <a:spcPts val="0"/>
              </a:spcAft>
            </a:pPr>
            <a:r>
              <a:rPr sz="1300" b="1" i="0">
                <a:solidFill>
                  <a:srgbClr val="1F2933"/>
                </a:solidFill>
                <a:latin typeface="Calibri"/>
              </a:rPr>
              <a:t>Scale. </a:t>
            </a:r>
            <a:r>
              <a:rPr sz="1300" b="0" i="0">
                <a:solidFill>
                  <a:srgbClr val="1F2933"/>
                </a:solidFill>
                <a:latin typeface="Calibri"/>
              </a:rPr>
              <a:t>78 new result cells, about 7,700 graded answers, every comparison paired on identical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CORRECTION  ·  WHAT HAPPENED</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The published FactConsolidation run used the prompt I had already fixed</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2</a:t>
            </a:r>
          </a:p>
        </p:txBody>
      </p:sp>
      <p:sp>
        <p:nvSpPr>
          <p:cNvPr id="6" name="TextBox 5"/>
          <p:cNvSpPr txBox="1"/>
          <p:nvPr/>
        </p:nvSpPr>
        <p:spPr>
          <a:xfrm>
            <a:off x="640080" y="1508760"/>
            <a:ext cx="6035040" cy="3291840"/>
          </a:xfrm>
          <a:prstGeom prst="rect">
            <a:avLst/>
          </a:prstGeom>
          <a:noFill/>
        </p:spPr>
        <p:txBody>
          <a:bodyPr wrap="square" lIns="91425" rIns="91425" tIns="45700" bIns="45700" anchor="t"/>
          <a:lstStyle/>
          <a:p>
            <a:pPr algn="l" marL="342900" indent="-342900">
              <a:lnSpc>
                <a:spcPct val="140000"/>
              </a:lnSpc>
              <a:spcBef>
                <a:spcPts val="400"/>
              </a:spcBef>
              <a:spcAft>
                <a:spcPts val="0"/>
              </a:spcAft>
              <a:buClr>
                <a:srgbClr val="1F2933"/>
              </a:buClr>
              <a:buFont typeface="Calibri"/>
              <a:buChar char="•"/>
            </a:pPr>
            <a:r>
              <a:rPr sz="1400" b="0" i="0">
                <a:solidFill>
                  <a:srgbClr val="1F2933"/>
                </a:solidFill>
                <a:latin typeface="Calibri"/>
              </a:rPr>
              <a:t>An early answer prompt told every policy to prefer the most recent fact and marked superseded ones. That is P2's mechanism, handed to all seven policies.</a:t>
            </a:r>
          </a:p>
          <a:p>
            <a:pPr algn="l" marL="342900" indent="-342900">
              <a:lnSpc>
                <a:spcPct val="140000"/>
              </a:lnSpc>
              <a:spcBef>
                <a:spcPts val="400"/>
              </a:spcBef>
              <a:spcAft>
                <a:spcPts val="0"/>
              </a:spcAft>
              <a:buClr>
                <a:srgbClr val="1F2933"/>
              </a:buClr>
              <a:buFont typeface="Calibri"/>
              <a:buChar char="•"/>
            </a:pPr>
            <a:r>
              <a:rPr sz="1400" b="0" i="0">
                <a:solidFill>
                  <a:srgbClr val="1F2933"/>
                </a:solidFill>
                <a:latin typeface="Calibri"/>
              </a:rPr>
              <a:t>I fixed it on 5 August at 16:12. The FactConsolidation run had started 40 minutes earlier, and a running program keeps the code it loaded at start.</a:t>
            </a:r>
          </a:p>
          <a:p>
            <a:pPr algn="l" marL="342900" indent="-342900">
              <a:lnSpc>
                <a:spcPct val="140000"/>
              </a:lnSpc>
              <a:spcBef>
                <a:spcPts val="400"/>
              </a:spcBef>
              <a:spcAft>
                <a:spcPts val="0"/>
              </a:spcAft>
              <a:buClr>
                <a:srgbClr val="1F2933"/>
              </a:buClr>
              <a:buFont typeface="Calibri"/>
              <a:buChar char="•"/>
            </a:pPr>
            <a:r>
              <a:rPr sz="1400" b="0" i="0">
                <a:solidFill>
                  <a:srgbClr val="1F2933"/>
                </a:solidFill>
                <a:latin typeface="Calibri"/>
              </a:rPr>
              <a:t>So every cell used the old prompt, even the ones that finished after the fix. MQuAKE-T started later and was clean.</a:t>
            </a:r>
          </a:p>
        </p:txBody>
      </p:sp>
      <p:sp>
        <p:nvSpPr>
          <p:cNvPr id="7" name="TextBox 6"/>
          <p:cNvSpPr txBox="1"/>
          <p:nvPr/>
        </p:nvSpPr>
        <p:spPr>
          <a:xfrm>
            <a:off x="6903720" y="1554480"/>
            <a:ext cx="457200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Proof from the answer cache</a:t>
            </a:r>
          </a:p>
        </p:txBody>
      </p:sp>
      <p:graphicFrame>
        <p:nvGraphicFramePr>
          <p:cNvPr id="8" name="Table 7"/>
          <p:cNvGraphicFramePr>
            <a:graphicFrameLocks noGrp="1"/>
          </p:cNvGraphicFramePr>
          <p:nvPr/>
        </p:nvGraphicFramePr>
        <p:xfrm>
          <a:off x="6903720" y="1920240"/>
          <a:ext cx="4617720" cy="1152144"/>
        </p:xfrm>
        <a:graphic>
          <a:graphicData uri="http://schemas.openxmlformats.org/drawingml/2006/table">
            <a:tbl>
              <a:tblPr firstRow="0" bandRow="0" firstCol="0" lastRow="0" lastCol="0" bandCol="0">
                <a:tableStyleId>{5C753F5E-2271-4C23-9891-F8661FBBB0C9}</a:tableStyleId>
              </a:tblPr>
              <a:tblGrid>
                <a:gridCol w="1828800"/>
                <a:gridCol w="2788920"/>
              </a:tblGrid>
              <a:tr h="384048">
                <a:tc>
                  <a:txBody>
                    <a:bodyPr wrap="square"/>
                    <a:lstStyle/>
                    <a:p>
                      <a:pPr algn="ctr"/>
                      <a:r>
                        <a:rPr sz="1200" b="1" i="0">
                          <a:solidFill>
                            <a:srgbClr val="1F2933"/>
                          </a:solidFill>
                          <a:latin typeface="Calibri"/>
                        </a:rPr>
                        <a:t>benchmark</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200" b="1" i="0">
                          <a:solidFill>
                            <a:srgbClr val="1F2933"/>
                          </a:solidFill>
                          <a:latin typeface="Calibri"/>
                        </a:rPr>
                        <a:t>answers matching the old prompt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84048">
                <a:tc>
                  <a:txBody>
                    <a:bodyPr wrap="square"/>
                    <a:lstStyle/>
                    <a:p>
                      <a:pPr algn="ctr"/>
                      <a:r>
                        <a:rPr sz="1200" b="0" i="0">
                          <a:solidFill>
                            <a:srgbClr val="1F2933"/>
                          </a:solidFill>
                          <a:latin typeface="Calibri"/>
                        </a:rPr>
                        <a:t>FactConsolidation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1" i="0">
                          <a:solidFill>
                            <a:srgbClr val="0F766E"/>
                          </a:solidFill>
                          <a:latin typeface="Calibri"/>
                        </a:rPr>
                        <a:t>100 of 100, every cell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ctr"/>
                      <a:r>
                        <a:rPr sz="1200" b="0" i="0">
                          <a:solidFill>
                            <a:srgbClr val="1F2933"/>
                          </a:solidFill>
                          <a:latin typeface="Calibri"/>
                        </a:rPr>
                        <a:t>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 of 96, every cell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9" name="TextBox 8"/>
          <p:cNvSpPr txBox="1"/>
          <p:nvPr/>
        </p:nvSpPr>
        <p:spPr>
          <a:xfrm>
            <a:off x="6903720" y="3154680"/>
            <a:ext cx="4617720" cy="128016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Each answer is stored under a hash of its exact prompt. Rebuilding each prompt both ways and looking up the hash settles it question by question. No statistics involved.</a:t>
            </a:r>
          </a:p>
        </p:txBody>
      </p:sp>
      <p:sp>
        <p:nvSpPr>
          <p:cNvPr id="10" name="Rectangle 9"/>
          <p:cNvSpPr/>
          <p:nvPr/>
        </p:nvSpPr>
        <p:spPr>
          <a:xfrm>
            <a:off x="640080" y="4983480"/>
            <a:ext cx="10881360" cy="1097280"/>
          </a:xfrm>
          <a:prstGeom prst="rect">
            <a:avLst/>
          </a:prstGeom>
          <a:solidFill>
            <a:srgbClr val="F7F8F9"/>
          </a:solidFill>
          <a:ln>
            <a:noFill/>
          </a:ln>
        </p:spPr>
        <p:txBody>
          <a:bodyPr rtlCol="0" anchor="ctr"/>
          <a:lstStyle/>
          <a:p>
            <a:pPr algn="ctr"/>
          </a:p>
        </p:txBody>
      </p:sp>
      <p:sp>
        <p:nvSpPr>
          <p:cNvPr id="11" name="Rectangle 10"/>
          <p:cNvSpPr/>
          <p:nvPr/>
        </p:nvSpPr>
        <p:spPr>
          <a:xfrm>
            <a:off x="640080" y="4983480"/>
            <a:ext cx="36576" cy="1097280"/>
          </a:xfrm>
          <a:prstGeom prst="rect">
            <a:avLst/>
          </a:prstGeom>
          <a:solidFill>
            <a:srgbClr val="0F766E"/>
          </a:solidFill>
          <a:ln>
            <a:noFill/>
          </a:ln>
        </p:spPr>
        <p:txBody>
          <a:bodyPr rtlCol="0" anchor="ctr"/>
          <a:lstStyle/>
          <a:p>
            <a:pPr algn="ctr"/>
          </a:p>
        </p:txBody>
      </p:sp>
      <p:sp>
        <p:nvSpPr>
          <p:cNvPr id="12" name="TextBox 11"/>
          <p:cNvSpPr txBox="1"/>
          <p:nvPr/>
        </p:nvSpPr>
        <p:spPr>
          <a:xfrm>
            <a:off x="914400" y="5111496"/>
            <a:ext cx="10332720" cy="841247"/>
          </a:xfrm>
          <a:prstGeom prst="rect">
            <a:avLst/>
          </a:prstGeom>
          <a:noFill/>
        </p:spPr>
        <p:txBody>
          <a:bodyPr wrap="square" lIns="91425" rIns="91425" tIns="45700" bIns="45700" anchor="ctr"/>
          <a:lstStyle/>
          <a:p>
            <a:pPr algn="l">
              <a:spcBef>
                <a:spcPts val="0"/>
              </a:spcBef>
              <a:spcAft>
                <a:spcPts val="0"/>
              </a:spcAft>
            </a:pPr>
            <a:r>
              <a:rPr sz="1300" b="1" i="0">
                <a:solidFill>
                  <a:srgbClr val="1F2933"/>
                </a:solidFill>
                <a:latin typeface="Calibri"/>
              </a:rPr>
              <a:t>Symptom it explains. </a:t>
            </a:r>
            <a:r>
              <a:rPr sz="1300" b="0" i="0">
                <a:solidFill>
                  <a:srgbClr val="1F2933"/>
                </a:solidFill>
                <a:latin typeface="Calibri"/>
              </a:rPr>
              <a:t>On the published run P0, the policy that never forgets, scored 0.86 with staleness exactly 0.000. That tie with P2 came from the prompt, not the policy.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CORRECTION  ·  WHAT THE CLEAN DATA SAYS</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Rerun cleanly, P2 beats P0 on FactConsolidation</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3</a:t>
            </a:r>
          </a:p>
        </p:txBody>
      </p:sp>
      <p:sp>
        <p:nvSpPr>
          <p:cNvPr id="6" name="TextBox 5"/>
          <p:cNvSpPr txBox="1"/>
          <p:nvPr/>
        </p:nvSpPr>
        <p:spPr>
          <a:xfrm>
            <a:off x="640080" y="1371600"/>
            <a:ext cx="512064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Accuracy, GLM-5.2</a:t>
            </a:r>
          </a:p>
        </p:txBody>
      </p:sp>
      <p:sp>
        <p:nvSpPr>
          <p:cNvPr id="7" name="TextBox 6"/>
          <p:cNvSpPr txBox="1"/>
          <p:nvPr/>
        </p:nvSpPr>
        <p:spPr>
          <a:xfrm>
            <a:off x="6309360" y="1371600"/>
            <a:ext cx="521208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Staleness, GLM-5.2</a:t>
            </a:r>
          </a:p>
        </p:txBody>
      </p:sp>
      <p:graphicFrame>
        <p:nvGraphicFramePr>
          <p:cNvPr id="8" name="Chart 7"/>
          <p:cNvGraphicFramePr>
            <a:graphicFrameLocks noGrp="1"/>
          </p:cNvGraphicFramePr>
          <p:nvPr/>
        </p:nvGraphicFramePr>
        <p:xfrm>
          <a:off x="640080" y="1645920"/>
          <a:ext cx="5212080" cy="2606040"/>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309360" y="1645920"/>
          <a:ext cx="5212080" cy="2606040"/>
        </p:xfrm>
        <a:graphic>
          <a:graphicData uri="http://schemas.openxmlformats.org/drawingml/2006/chart">
            <c:chart xmlns:c="http://schemas.openxmlformats.org/drawingml/2006/chart" r:id="rId3"/>
          </a:graphicData>
        </a:graphic>
      </p:graphicFrame>
      <p:graphicFrame>
        <p:nvGraphicFramePr>
          <p:cNvPr id="10" name="Table 9"/>
          <p:cNvGraphicFramePr>
            <a:graphicFrameLocks noGrp="1"/>
          </p:cNvGraphicFramePr>
          <p:nvPr/>
        </p:nvGraphicFramePr>
        <p:xfrm>
          <a:off x="640080" y="4370832"/>
          <a:ext cx="10881360" cy="932688"/>
        </p:xfrm>
        <a:graphic>
          <a:graphicData uri="http://schemas.openxmlformats.org/drawingml/2006/table">
            <a:tbl>
              <a:tblPr firstRow="0" bandRow="0" firstCol="0" lastRow="0" lastCol="0" bandCol="0">
                <a:tableStyleId>{5C753F5E-2271-4C23-9891-F8661FBBB0C9}</a:tableStyleId>
              </a:tblPr>
              <a:tblGrid>
                <a:gridCol w="3017520"/>
                <a:gridCol w="914400"/>
                <a:gridCol w="914400"/>
                <a:gridCol w="2240280"/>
                <a:gridCol w="2240280"/>
                <a:gridCol w="1554480"/>
              </a:tblGrid>
              <a:tr h="310896">
                <a:tc>
                  <a:txBody>
                    <a:bodyPr wrap="square"/>
                    <a:lstStyle/>
                    <a:p>
                      <a:pPr algn="l"/>
                      <a:r>
                        <a:rPr sz="1150" b="1" i="0">
                          <a:solidFill>
                            <a:srgbClr val="1F2933"/>
                          </a:solidFill>
                          <a:latin typeface="Calibri"/>
                        </a:rPr>
                        <a:t>clean comparison, P2 against P0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P0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P2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questions only P0 got worse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questions only P2 got worse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p-value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10896">
                <a:tc>
                  <a:txBody>
                    <a:bodyPr wrap="square"/>
                    <a:lstStyle/>
                    <a:p>
                      <a:pPr algn="l"/>
                      <a:r>
                        <a:rPr sz="1150" b="0" i="0">
                          <a:solidFill>
                            <a:srgbClr val="1F2933"/>
                          </a:solidFill>
                          <a:latin typeface="Calibri"/>
                        </a:rPr>
                        <a:t>staleness (no judge involved)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0.18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0.004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l"/>
                      <a:r>
                        <a:rPr sz="1150" b="0" i="0">
                          <a:solidFill>
                            <a:srgbClr val="1F2933"/>
                          </a:solidFill>
                          <a:latin typeface="Calibri"/>
                        </a:rPr>
                        <a:t>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0.80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0.021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11" name="Rectangle 10"/>
          <p:cNvSpPr/>
          <p:nvPr/>
        </p:nvSpPr>
        <p:spPr>
          <a:xfrm>
            <a:off x="640080" y="5440680"/>
            <a:ext cx="10881360" cy="749808"/>
          </a:xfrm>
          <a:prstGeom prst="rect">
            <a:avLst/>
          </a:prstGeom>
          <a:solidFill>
            <a:srgbClr val="F7F8F9"/>
          </a:solidFill>
          <a:ln>
            <a:noFill/>
          </a:ln>
        </p:spPr>
        <p:txBody>
          <a:bodyPr rtlCol="0" anchor="ctr"/>
          <a:lstStyle/>
          <a:p>
            <a:pPr algn="ctr"/>
          </a:p>
        </p:txBody>
      </p:sp>
      <p:sp>
        <p:nvSpPr>
          <p:cNvPr id="12" name="Rectangle 11"/>
          <p:cNvSpPr/>
          <p:nvPr/>
        </p:nvSpPr>
        <p:spPr>
          <a:xfrm>
            <a:off x="640080" y="5440680"/>
            <a:ext cx="36576" cy="749808"/>
          </a:xfrm>
          <a:prstGeom prst="rect">
            <a:avLst/>
          </a:prstGeom>
          <a:solidFill>
            <a:srgbClr val="0F766E"/>
          </a:solidFill>
          <a:ln>
            <a:noFill/>
          </a:ln>
        </p:spPr>
        <p:txBody>
          <a:bodyPr rtlCol="0" anchor="ctr"/>
          <a:lstStyle/>
          <a:p>
            <a:pPr algn="ctr"/>
          </a:p>
        </p:txBody>
      </p:sp>
      <p:sp>
        <p:nvSpPr>
          <p:cNvPr id="13" name="TextBox 12"/>
          <p:cNvSpPr txBox="1"/>
          <p:nvPr/>
        </p:nvSpPr>
        <p:spPr>
          <a:xfrm>
            <a:off x="914400" y="5568696"/>
            <a:ext cx="10332720" cy="493775"/>
          </a:xfrm>
          <a:prstGeom prst="rect">
            <a:avLst/>
          </a:prstGeom>
          <a:noFill/>
        </p:spPr>
        <p:txBody>
          <a:bodyPr wrap="square" lIns="91425" rIns="91425" tIns="45700" bIns="45700" anchor="ctr"/>
          <a:lstStyle/>
          <a:p>
            <a:pPr algn="l">
              <a:spcBef>
                <a:spcPts val="0"/>
              </a:spcBef>
              <a:spcAft>
                <a:spcPts val="0"/>
              </a:spcAft>
            </a:pPr>
            <a:r>
              <a:rPr sz="1200" b="1" i="0">
                <a:solidFill>
                  <a:srgbClr val="1F2933"/>
                </a:solidFill>
                <a:latin typeface="Calibri"/>
              </a:rPr>
              <a:t>In my favour, with one caveat. </a:t>
            </a:r>
            <a:r>
              <a:rPr sz="1200" b="0" i="0">
                <a:solidFill>
                  <a:srgbClr val="1F2933"/>
                </a:solidFill>
                <a:latin typeface="Calibri"/>
              </a:rPr>
              <a:t>The gap holds at all 12 weight and grace settings tested (p from 0.0001 to 0.031). Only GLM has a clean P0 so far, and the accuracy row mixes two judges, so staleness is the number to quote.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RETRIEVAL FORMULA  ·  THE PROTOCOL</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Tune on one benchmark, test on another, fix the rule first</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4</a:t>
            </a:r>
          </a:p>
        </p:txBody>
      </p:sp>
      <p:sp>
        <p:nvSpPr>
          <p:cNvPr id="6" name="TextBox 5"/>
          <p:cNvSpPr txBox="1"/>
          <p:nvPr/>
        </p:nvSpPr>
        <p:spPr>
          <a:xfrm>
            <a:off x="640080" y="1508760"/>
            <a:ext cx="6400800" cy="3383280"/>
          </a:xfrm>
          <a:prstGeom prst="rect">
            <a:avLst/>
          </a:prstGeom>
          <a:noFill/>
        </p:spPr>
        <p:txBody>
          <a:bodyPr wrap="square" lIns="91425" rIns="91425" tIns="45700" bIns="45700" anchor="t"/>
          <a:lstStyle/>
          <a:p>
            <a:pPr algn="l" marL="342900" indent="-342900">
              <a:lnSpc>
                <a:spcPct val="140000"/>
              </a:lnSpc>
              <a:spcBef>
                <a:spcPts val="400"/>
              </a:spcBef>
              <a:spcAft>
                <a:spcPts val="0"/>
              </a:spcAft>
              <a:buClr>
                <a:srgbClr val="1F2933"/>
              </a:buClr>
              <a:buFont typeface="Calibri"/>
              <a:buChar char="•"/>
            </a:pPr>
            <a:r>
              <a:rPr sz="1450" b="1" i="0">
                <a:solidFill>
                  <a:srgbClr val="1F2933"/>
                </a:solidFill>
                <a:latin typeface="Calibri"/>
              </a:rPr>
              <a:t>Tuning set: </a:t>
            </a:r>
            <a:r>
              <a:rPr sz="1450" b="0" i="0">
                <a:solidFill>
                  <a:srgbClr val="1F2933"/>
                </a:solidFill>
                <a:latin typeface="Calibri"/>
              </a:rPr>
              <a:t>FactConsolidation. </a:t>
            </a:r>
            <a:r>
              <a:rPr sz="1450" b="1" i="0">
                <a:solidFill>
                  <a:srgbClr val="1F2933"/>
                </a:solidFill>
                <a:latin typeface="Calibri"/>
              </a:rPr>
              <a:t>Held-out test: </a:t>
            </a:r>
            <a:r>
              <a:rPr sz="1450" b="0" i="0">
                <a:solidFill>
                  <a:srgbClr val="1F2933"/>
                </a:solidFill>
                <a:latin typeface="Calibri"/>
              </a:rPr>
              <a:t>MQuAKE-T.</a:t>
            </a:r>
          </a:p>
          <a:p>
            <a:pPr algn="l" marL="342900" indent="-342900">
              <a:lnSpc>
                <a:spcPct val="140000"/>
              </a:lnSpc>
              <a:spcBef>
                <a:spcPts val="400"/>
              </a:spcBef>
              <a:spcAft>
                <a:spcPts val="0"/>
              </a:spcAft>
              <a:buClr>
                <a:srgbClr val="1F2933"/>
              </a:buClr>
              <a:buFont typeface="Calibri"/>
              <a:buChar char="•"/>
            </a:pPr>
            <a:r>
              <a:rPr sz="1450" b="1" i="0">
                <a:solidFill>
                  <a:srgbClr val="1F2933"/>
                </a:solidFill>
                <a:latin typeface="Calibri"/>
              </a:rPr>
              <a:t>Decision rule, set before any result: </a:t>
            </a:r>
            <a:r>
              <a:rPr sz="1450" b="0" i="0">
                <a:solidFill>
                  <a:srgbClr val="1F2933"/>
                </a:solidFill>
                <a:latin typeface="Calibri"/>
              </a:rPr>
              <a:t>keep 0.6/0.3/0.1 unless a candidate beats it significantly on the tuning set.</a:t>
            </a:r>
          </a:p>
          <a:p>
            <a:pPr algn="l" marL="342900" indent="-342900">
              <a:lnSpc>
                <a:spcPct val="140000"/>
              </a:lnSpc>
              <a:spcBef>
                <a:spcPts val="400"/>
              </a:spcBef>
              <a:spcAft>
                <a:spcPts val="0"/>
              </a:spcAft>
              <a:buClr>
                <a:srgbClr val="1F2933"/>
              </a:buClr>
              <a:buFont typeface="Calibri"/>
              <a:buChar char="•"/>
            </a:pPr>
            <a:r>
              <a:rPr sz="1450" b="1" i="0">
                <a:solidFill>
                  <a:srgbClr val="1F2933"/>
                </a:solidFill>
                <a:latin typeface="Calibri"/>
              </a:rPr>
              <a:t>Candidates were pre-screened </a:t>
            </a:r>
            <a:r>
              <a:rPr sz="1450" b="0" i="0">
                <a:solidFill>
                  <a:srgbClr val="1F2933"/>
                </a:solidFill>
                <a:latin typeface="Calibri"/>
              </a:rPr>
              <a:t>with last week's free sweep, keeping only weightings that hold the correct fact in the top 25.</a:t>
            </a:r>
          </a:p>
          <a:p>
            <a:pPr algn="l" marL="342900" indent="-342900">
              <a:lnSpc>
                <a:spcPct val="140000"/>
              </a:lnSpc>
              <a:spcBef>
                <a:spcPts val="400"/>
              </a:spcBef>
              <a:spcAft>
                <a:spcPts val="0"/>
              </a:spcAft>
              <a:buClr>
                <a:srgbClr val="1F2933"/>
              </a:buClr>
              <a:buFont typeface="Calibri"/>
              <a:buChar char="•"/>
            </a:pPr>
            <a:r>
              <a:rPr sz="1450" b="1" i="0">
                <a:solidFill>
                  <a:srgbClr val="1F2933"/>
                </a:solidFill>
                <a:latin typeface="Calibri"/>
              </a:rPr>
              <a:t>Two deliberate stress tests. </a:t>
            </a:r>
            <a:r>
              <a:rPr sz="1450" b="0" i="0">
                <a:solidFill>
                  <a:srgbClr val="1F2933"/>
                </a:solidFill>
                <a:latin typeface="Calibri"/>
              </a:rPr>
              <a:t>RRF, which uses no weights at all, and 0.3/0.4/0.3, which the sweep predicted would fail.</a:t>
            </a:r>
          </a:p>
        </p:txBody>
      </p:sp>
      <p:graphicFrame>
        <p:nvGraphicFramePr>
          <p:cNvPr id="7" name="Table 6"/>
          <p:cNvGraphicFramePr>
            <a:graphicFrameLocks noGrp="1"/>
          </p:cNvGraphicFramePr>
          <p:nvPr/>
        </p:nvGraphicFramePr>
        <p:xfrm>
          <a:off x="7315200" y="1600200"/>
          <a:ext cx="4206240" cy="2487168"/>
        </p:xfrm>
        <a:graphic>
          <a:graphicData uri="http://schemas.openxmlformats.org/drawingml/2006/table">
            <a:tbl>
              <a:tblPr firstRow="0" bandRow="0" firstCol="0" lastRow="0" lastCol="0" bandCol="0">
                <a:tableStyleId>{5C753F5E-2271-4C23-9891-F8661FBBB0C9}</a:tableStyleId>
              </a:tblPr>
              <a:tblGrid>
                <a:gridCol w="1737360"/>
                <a:gridCol w="2468880"/>
              </a:tblGrid>
              <a:tr h="310896">
                <a:tc>
                  <a:txBody>
                    <a:bodyPr wrap="square"/>
                    <a:lstStyle/>
                    <a:p>
                      <a:pPr algn="ctr"/>
                      <a:r>
                        <a:rPr sz="1150" b="1" i="0">
                          <a:solidFill>
                            <a:srgbClr val="1F2933"/>
                          </a:solidFill>
                          <a:latin typeface="Calibri"/>
                        </a:rPr>
                        <a:t>arm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semantic / lexical / recency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10896">
                <a:tc>
                  <a:txBody>
                    <a:bodyPr wrap="square"/>
                    <a:lstStyle/>
                    <a:p>
                      <a:pPr algn="ctr"/>
                      <a:r>
                        <a:rPr sz="1150" b="0" i="0">
                          <a:solidFill>
                            <a:srgbClr val="1F2933"/>
                          </a:solidFill>
                          <a:latin typeface="Calibri"/>
                        </a:rPr>
                        <a:t>published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0.6 / 0.3 / 0.1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ctr"/>
                      <a:r>
                        <a:rPr sz="1150" b="0" i="0">
                          <a:solidFill>
                            <a:srgbClr val="1F2933"/>
                          </a:solidFill>
                          <a:latin typeface="Calibri"/>
                        </a:rPr>
                        <a:t>pure semantic</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1.0 / 0.0 / 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ctr"/>
                      <a:r>
                        <a:rPr sz="1150" b="0" i="0">
                          <a:solidFill>
                            <a:srgbClr val="1F2933"/>
                          </a:solidFill>
                          <a:latin typeface="Calibri"/>
                        </a:rPr>
                        <a:t>balanced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0.4 / 0.4 / 0.2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ctr"/>
                      <a:r>
                        <a:rPr sz="1150" b="0" i="0">
                          <a:solidFill>
                            <a:srgbClr val="1F2933"/>
                          </a:solidFill>
                          <a:latin typeface="Calibri"/>
                        </a:rPr>
                        <a:t>more recency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0.5 / 0.3 / 0.2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ctr"/>
                      <a:r>
                        <a:rPr sz="1150" b="0" i="0">
                          <a:solidFill>
                            <a:srgbClr val="1F2933"/>
                          </a:solidFill>
                          <a:latin typeface="Calibri"/>
                        </a:rPr>
                        <a:t>predicted to fail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0.3 / 0.4 / 0.3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ctr"/>
                      <a:r>
                        <a:rPr sz="1150" b="0" i="0">
                          <a:solidFill>
                            <a:srgbClr val="1F2933"/>
                          </a:solidFill>
                          <a:latin typeface="Calibri"/>
                        </a:rPr>
                        <a:t>pure lexical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 / 1.0 / 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ctr"/>
                      <a:r>
                        <a:rPr sz="1150" b="0" i="0">
                          <a:solidFill>
                            <a:srgbClr val="1F2933"/>
                          </a:solidFill>
                          <a:latin typeface="Calibri"/>
                        </a:rPr>
                        <a:t>RRF</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no weights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8" name="Rectangle 7"/>
          <p:cNvSpPr/>
          <p:nvPr/>
        </p:nvSpPr>
        <p:spPr>
          <a:xfrm>
            <a:off x="640080" y="5074920"/>
            <a:ext cx="10881360" cy="960120"/>
          </a:xfrm>
          <a:prstGeom prst="rect">
            <a:avLst/>
          </a:prstGeom>
          <a:solidFill>
            <a:srgbClr val="F7F8F9"/>
          </a:solidFill>
          <a:ln>
            <a:noFill/>
          </a:ln>
        </p:spPr>
        <p:txBody>
          <a:bodyPr rtlCol="0" anchor="ctr"/>
          <a:lstStyle/>
          <a:p>
            <a:pPr algn="ctr"/>
          </a:p>
        </p:txBody>
      </p:sp>
      <p:sp>
        <p:nvSpPr>
          <p:cNvPr id="9" name="Rectangle 8"/>
          <p:cNvSpPr/>
          <p:nvPr/>
        </p:nvSpPr>
        <p:spPr>
          <a:xfrm>
            <a:off x="640080" y="5074920"/>
            <a:ext cx="36576" cy="960120"/>
          </a:xfrm>
          <a:prstGeom prst="rect">
            <a:avLst/>
          </a:prstGeom>
          <a:solidFill>
            <a:srgbClr val="0F766E"/>
          </a:solidFill>
          <a:ln>
            <a:noFill/>
          </a:ln>
        </p:spPr>
        <p:txBody>
          <a:bodyPr rtlCol="0" anchor="ctr"/>
          <a:lstStyle/>
          <a:p>
            <a:pPr algn="ctr"/>
          </a:p>
        </p:txBody>
      </p:sp>
      <p:sp>
        <p:nvSpPr>
          <p:cNvPr id="10" name="TextBox 9"/>
          <p:cNvSpPr txBox="1"/>
          <p:nvPr/>
        </p:nvSpPr>
        <p:spPr>
          <a:xfrm>
            <a:off x="914400" y="5202936"/>
            <a:ext cx="10332720" cy="704088"/>
          </a:xfrm>
          <a:prstGeom prst="rect">
            <a:avLst/>
          </a:prstGeom>
          <a:noFill/>
        </p:spPr>
        <p:txBody>
          <a:bodyPr wrap="square" lIns="91425" rIns="91425" tIns="45700" bIns="45700" anchor="ctr"/>
          <a:lstStyle/>
          <a:p>
            <a:pPr algn="l">
              <a:spcBef>
                <a:spcPts val="0"/>
              </a:spcBef>
              <a:spcAft>
                <a:spcPts val="0"/>
              </a:spcAft>
            </a:pPr>
            <a:r>
              <a:rPr sz="1300" b="1" i="0">
                <a:solidFill>
                  <a:srgbClr val="1F2933"/>
                </a:solidFill>
                <a:latin typeface="Calibri"/>
              </a:rPr>
              <a:t>Why this design. </a:t>
            </a:r>
            <a:r>
              <a:rPr sz="1300" b="0" i="0">
                <a:solidFill>
                  <a:srgbClr val="1F2933"/>
                </a:solidFill>
                <a:latin typeface="Calibri"/>
              </a:rPr>
              <a:t>Picking the best weighting on one benchmark and reporting it there is tuning to the benchmark. Testing on data the choice never saw is the only way the result means anything.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RETRIEVAL FORMULA  ·  RESULTS</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Nothing beats the published blend, and the predicted failure failed</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5</a:t>
            </a:r>
          </a:p>
        </p:txBody>
      </p:sp>
      <p:graphicFrame>
        <p:nvGraphicFramePr>
          <p:cNvPr id="6" name="Chart 5"/>
          <p:cNvGraphicFramePr>
            <a:graphicFrameLocks noGrp="1"/>
          </p:cNvGraphicFramePr>
          <p:nvPr/>
        </p:nvGraphicFramePr>
        <p:xfrm>
          <a:off x="640080" y="1325880"/>
          <a:ext cx="10881360" cy="2788920"/>
        </p:xfrm>
        <a:graphic>
          <a:graphicData uri="http://schemas.openxmlformats.org/drawingml/2006/chart">
            <c:chart xmlns:c="http://schemas.openxmlformats.org/drawingml/2006/chart" r:id="rId2"/>
          </a:graphicData>
        </a:graphic>
      </p:graphicFrame>
      <p:sp>
        <p:nvSpPr>
          <p:cNvPr id="7" name="TextBox 6"/>
          <p:cNvSpPr txBox="1"/>
          <p:nvPr/>
        </p:nvSpPr>
        <p:spPr>
          <a:xfrm>
            <a:off x="640080" y="4160520"/>
            <a:ext cx="320040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0 of 6</a:t>
            </a:r>
          </a:p>
        </p:txBody>
      </p:sp>
      <p:sp>
        <p:nvSpPr>
          <p:cNvPr id="8" name="TextBox 7"/>
          <p:cNvSpPr txBox="1"/>
          <p:nvPr/>
        </p:nvSpPr>
        <p:spPr>
          <a:xfrm>
            <a:off x="640080" y="4782312"/>
            <a:ext cx="320040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candidates beat the published blend on the tuning set</a:t>
            </a:r>
          </a:p>
        </p:txBody>
      </p:sp>
      <p:sp>
        <p:nvSpPr>
          <p:cNvPr id="9" name="TextBox 8"/>
          <p:cNvSpPr txBox="1"/>
          <p:nvPr/>
        </p:nvSpPr>
        <p:spPr>
          <a:xfrm>
            <a:off x="4206240" y="4160520"/>
            <a:ext cx="320040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0.906</a:t>
            </a:r>
          </a:p>
        </p:txBody>
      </p:sp>
      <p:sp>
        <p:nvSpPr>
          <p:cNvPr id="10" name="TextBox 9"/>
          <p:cNvSpPr txBox="1"/>
          <p:nvPr/>
        </p:nvSpPr>
        <p:spPr>
          <a:xfrm>
            <a:off x="4206240" y="4782312"/>
            <a:ext cx="320040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the predicted failure on the test set, the only significant loss (p = 0.008)</a:t>
            </a:r>
          </a:p>
        </p:txBody>
      </p:sp>
      <p:sp>
        <p:nvSpPr>
          <p:cNvPr id="11" name="TextBox 10"/>
          <p:cNvSpPr txBox="1"/>
          <p:nvPr/>
        </p:nvSpPr>
        <p:spPr>
          <a:xfrm>
            <a:off x="7772400" y="4160520"/>
            <a:ext cx="320040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1.5 pts</a:t>
            </a:r>
          </a:p>
        </p:txBody>
      </p:sp>
      <p:sp>
        <p:nvSpPr>
          <p:cNvPr id="12" name="TextBox 11"/>
          <p:cNvSpPr txBox="1"/>
          <p:nvPr/>
        </p:nvSpPr>
        <p:spPr>
          <a:xfrm>
            <a:off x="7772400" y="4782312"/>
            <a:ext cx="320040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widest gap among weightings that keep the correct fact in context</a:t>
            </a:r>
          </a:p>
        </p:txBody>
      </p:sp>
      <p:sp>
        <p:nvSpPr>
          <p:cNvPr id="13" name="Rectangle 12"/>
          <p:cNvSpPr/>
          <p:nvPr/>
        </p:nvSpPr>
        <p:spPr>
          <a:xfrm>
            <a:off x="640080" y="5394960"/>
            <a:ext cx="10881360" cy="777240"/>
          </a:xfrm>
          <a:prstGeom prst="rect">
            <a:avLst/>
          </a:prstGeom>
          <a:solidFill>
            <a:srgbClr val="F7F8F9"/>
          </a:solidFill>
          <a:ln>
            <a:noFill/>
          </a:ln>
        </p:spPr>
        <p:txBody>
          <a:bodyPr rtlCol="0" anchor="ctr"/>
          <a:lstStyle/>
          <a:p>
            <a:pPr algn="ctr"/>
          </a:p>
        </p:txBody>
      </p:sp>
      <p:sp>
        <p:nvSpPr>
          <p:cNvPr id="14" name="Rectangle 13"/>
          <p:cNvSpPr/>
          <p:nvPr/>
        </p:nvSpPr>
        <p:spPr>
          <a:xfrm>
            <a:off x="640080" y="5394960"/>
            <a:ext cx="36576" cy="777240"/>
          </a:xfrm>
          <a:prstGeom prst="rect">
            <a:avLst/>
          </a:prstGeom>
          <a:solidFill>
            <a:srgbClr val="0F766E"/>
          </a:solidFill>
          <a:ln>
            <a:noFill/>
          </a:ln>
        </p:spPr>
        <p:txBody>
          <a:bodyPr rtlCol="0" anchor="ctr"/>
          <a:lstStyle/>
          <a:p>
            <a:pPr algn="ctr"/>
          </a:p>
        </p:txBody>
      </p:sp>
      <p:sp>
        <p:nvSpPr>
          <p:cNvPr id="15" name="TextBox 14"/>
          <p:cNvSpPr txBox="1"/>
          <p:nvPr/>
        </p:nvSpPr>
        <p:spPr>
          <a:xfrm>
            <a:off x="914400" y="5522976"/>
            <a:ext cx="10332720" cy="52120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The falsification test passed. </a:t>
            </a:r>
            <a:r>
              <a:rPr sz="1250" b="0" i="0">
                <a:solidFill>
                  <a:srgbClr val="1F2933"/>
                </a:solidFill>
                <a:latin typeface="Calibri"/>
              </a:rPr>
              <a:t>0.3/0.4/0.3 had the best-looking free-sweep score but kept the correct fact in context only 92.7 percent of the time. I predicted accuracy near 0.93. It scored 0.906.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RETRIEVAL FORMULA  ·  WHAT TO SAY ABOUT 0.6 / 0.3 / 0.1</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It is not the optimum. It is inside a region where the answer does not change</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6</a:t>
            </a:r>
          </a:p>
        </p:txBody>
      </p:sp>
      <p:graphicFrame>
        <p:nvGraphicFramePr>
          <p:cNvPr id="6" name="Table 5"/>
          <p:cNvGraphicFramePr>
            <a:graphicFrameLocks noGrp="1"/>
          </p:cNvGraphicFramePr>
          <p:nvPr/>
        </p:nvGraphicFramePr>
        <p:xfrm>
          <a:off x="640080" y="1417320"/>
          <a:ext cx="10881360" cy="2176272"/>
        </p:xfrm>
        <a:graphic>
          <a:graphicData uri="http://schemas.openxmlformats.org/drawingml/2006/table">
            <a:tbl>
              <a:tblPr firstRow="0" bandRow="0" firstCol="0" lastRow="0" lastCol="0" bandCol="0">
                <a:tableStyleId>{5C753F5E-2271-4C23-9891-F8661FBBB0C9}</a:tableStyleId>
              </a:tblPr>
              <a:tblGrid>
                <a:gridCol w="2651760"/>
                <a:gridCol w="1234440"/>
                <a:gridCol w="1463040"/>
                <a:gridCol w="1234440"/>
                <a:gridCol w="1463040"/>
                <a:gridCol w="1417320"/>
                <a:gridCol w="1417320"/>
              </a:tblGrid>
              <a:tr h="310896">
                <a:tc>
                  <a:txBody>
                    <a:bodyPr wrap="square"/>
                    <a:lstStyle/>
                    <a:p>
                      <a:pPr algn="l"/>
                      <a:r>
                        <a:rPr sz="1150" b="1" i="0">
                          <a:solidFill>
                            <a:srgbClr val="1F2933"/>
                          </a:solidFill>
                          <a:latin typeface="Calibri"/>
                        </a:rPr>
                        <a:t>weighting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FC 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p vs published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MQ 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p vs published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MQ staleness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tokens / q</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10896">
                <a:tc>
                  <a:txBody>
                    <a:bodyPr wrap="square"/>
                    <a:lstStyle/>
                    <a:p>
                      <a:pPr algn="l"/>
                      <a:r>
                        <a:rPr sz="1150" b="0" i="0">
                          <a:solidFill>
                            <a:srgbClr val="1F2933"/>
                          </a:solidFill>
                          <a:latin typeface="Calibri"/>
                        </a:rPr>
                        <a:t>0.6 / 0.3 / 0.1 (published)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0.785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0.969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0.036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716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l"/>
                      <a:r>
                        <a:rPr sz="1150" b="0" i="0">
                          <a:solidFill>
                            <a:srgbClr val="1F2933"/>
                          </a:solidFill>
                          <a:latin typeface="Calibri"/>
                        </a:rPr>
                        <a:t>1.0 / 0.0 / 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0.795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0.688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0.974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1.000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0.016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686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l"/>
                      <a:r>
                        <a:rPr sz="1150" b="0" i="0">
                          <a:solidFill>
                            <a:srgbClr val="1F2933"/>
                          </a:solidFill>
                          <a:latin typeface="Calibri"/>
                        </a:rPr>
                        <a:t>0.4 / 0.4 / 0.2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0.795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0.727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0.974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1.000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0.047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750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l"/>
                      <a:r>
                        <a:rPr sz="1150" b="0" i="0">
                          <a:solidFill>
                            <a:srgbClr val="1F2933"/>
                          </a:solidFill>
                          <a:latin typeface="Calibri"/>
                        </a:rPr>
                        <a:t>RRF, no weights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0.750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0.189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0.979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0.625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0.031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727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l"/>
                      <a:r>
                        <a:rPr sz="1150" b="0" i="0">
                          <a:solidFill>
                            <a:srgbClr val="1F2933"/>
                          </a:solidFill>
                          <a:latin typeface="Calibri"/>
                        </a:rPr>
                        <a:t>0.3 / 0.4 / 0.3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0.765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0.424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0.906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0.008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0.042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746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10896">
                <a:tc>
                  <a:txBody>
                    <a:bodyPr wrap="square"/>
                    <a:lstStyle/>
                    <a:p>
                      <a:pPr algn="l"/>
                      <a:r>
                        <a:rPr sz="1150" b="0" i="0">
                          <a:solidFill>
                            <a:srgbClr val="1F2933"/>
                          </a:solidFill>
                          <a:latin typeface="Calibri"/>
                        </a:rPr>
                        <a:t>0.0 / 1.0 / 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0.575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&lt; 0.001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0.964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1.000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0.031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690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TextBox 6"/>
          <p:cNvSpPr txBox="1"/>
          <p:nvPr/>
        </p:nvSpPr>
        <p:spPr>
          <a:xfrm>
            <a:off x="640080" y="3703320"/>
            <a:ext cx="10881360" cy="1463040"/>
          </a:xfrm>
          <a:prstGeom prst="rect">
            <a:avLst/>
          </a:prstGeom>
          <a:noFill/>
        </p:spPr>
        <p:txBody>
          <a:bodyPr wrap="square" lIns="91425" rIns="91425" tIns="45700" bIns="45700" anchor="t"/>
          <a:lstStyle/>
          <a:p>
            <a:pPr algn="l" marL="342900" indent="-342900">
              <a:lnSpc>
                <a:spcPct val="130000"/>
              </a:lnSpc>
              <a:spcBef>
                <a:spcPts val="300"/>
              </a:spcBef>
              <a:spcAft>
                <a:spcPts val="0"/>
              </a:spcAft>
              <a:buClr>
                <a:srgbClr val="1F2933"/>
              </a:buClr>
              <a:buFont typeface="Calibri"/>
              <a:buChar char="•"/>
            </a:pPr>
            <a:r>
              <a:rPr sz="1300" b="0" i="0">
                <a:solidFill>
                  <a:srgbClr val="1F2933"/>
                </a:solidFill>
                <a:latin typeface="Calibri"/>
              </a:rPr>
              <a:t>Pure lexical collapses only on the tuning set, and only for GLM (0.40 against 0.75 for MiniMax). </a:t>
            </a:r>
            <a:r>
              <a:rPr sz="1300" b="1" i="0">
                <a:solidFill>
                  <a:srgbClr val="1F2933"/>
                </a:solidFill>
                <a:latin typeface="Calibri"/>
              </a:rPr>
              <a:t>A benchmark-specific tune would have been dangerous.</a:t>
            </a:r>
          </a:p>
          <a:p>
            <a:pPr algn="l" marL="342900" indent="-342900">
              <a:lnSpc>
                <a:spcPct val="130000"/>
              </a:lnSpc>
              <a:spcBef>
                <a:spcPts val="300"/>
              </a:spcBef>
              <a:spcAft>
                <a:spcPts val="0"/>
              </a:spcAft>
              <a:buClr>
                <a:srgbClr val="1F2933"/>
              </a:buClr>
              <a:buFont typeface="Calibri"/>
              <a:buChar char="•"/>
            </a:pPr>
            <a:r>
              <a:rPr sz="1300" b="0" i="0">
                <a:solidFill>
                  <a:srgbClr val="1F2933"/>
                </a:solidFill>
                <a:latin typeface="Calibri"/>
              </a:rPr>
              <a:t>Recency adds least. Pure semantic is never worse and is cheapest. If the default ever changes, recency goes first.</a:t>
            </a:r>
          </a:p>
        </p:txBody>
      </p:sp>
      <p:sp>
        <p:nvSpPr>
          <p:cNvPr id="8" name="Rectangle 7"/>
          <p:cNvSpPr/>
          <p:nvPr/>
        </p:nvSpPr>
        <p:spPr>
          <a:xfrm>
            <a:off x="640080" y="5212080"/>
            <a:ext cx="10881360" cy="914400"/>
          </a:xfrm>
          <a:prstGeom prst="rect">
            <a:avLst/>
          </a:prstGeom>
          <a:solidFill>
            <a:srgbClr val="F7F8F9"/>
          </a:solidFill>
          <a:ln>
            <a:noFill/>
          </a:ln>
        </p:spPr>
        <p:txBody>
          <a:bodyPr rtlCol="0" anchor="ctr"/>
          <a:lstStyle/>
          <a:p>
            <a:pPr algn="ctr"/>
          </a:p>
        </p:txBody>
      </p:sp>
      <p:sp>
        <p:nvSpPr>
          <p:cNvPr id="9" name="Rectangle 8"/>
          <p:cNvSpPr/>
          <p:nvPr/>
        </p:nvSpPr>
        <p:spPr>
          <a:xfrm>
            <a:off x="640080" y="5212080"/>
            <a:ext cx="36576" cy="914400"/>
          </a:xfrm>
          <a:prstGeom prst="rect">
            <a:avLst/>
          </a:prstGeom>
          <a:solidFill>
            <a:srgbClr val="0F766E"/>
          </a:solidFill>
          <a:ln>
            <a:noFill/>
          </a:ln>
        </p:spPr>
        <p:txBody>
          <a:bodyPr rtlCol="0" anchor="ctr"/>
          <a:lstStyle/>
          <a:p>
            <a:pPr algn="ctr"/>
          </a:p>
        </p:txBody>
      </p:sp>
      <p:sp>
        <p:nvSpPr>
          <p:cNvPr id="10" name="TextBox 9"/>
          <p:cNvSpPr txBox="1"/>
          <p:nvPr/>
        </p:nvSpPr>
        <p:spPr>
          <a:xfrm>
            <a:off x="914400" y="5340096"/>
            <a:ext cx="10332720" cy="65836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The answer for the committee. </a:t>
            </a:r>
            <a:r>
              <a:rPr sz="1250" b="0" i="0">
                <a:solidFill>
                  <a:srgbClr val="1F2933"/>
                </a:solidFill>
                <a:latin typeface="Calibri"/>
              </a:rPr>
              <a:t>Every weighting that keeps the correct fact in context lands within 1.5 points on both benchmarks, and RRF, which has no weights at all, reaches the same conclusions. The findings do not rest on these three numbers.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GRACE PERIOD  ·  END TO END</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Last week's prediction held on real answers: correctness does not move</a:t>
            </a:r>
          </a:p>
        </p:txBody>
      </p:sp>
      <p:sp>
        <p:nvSpPr>
          <p:cNvPr id="4" name="TextBox 3"/>
          <p:cNvSpPr txBox="1"/>
          <p:nvPr/>
        </p:nvSpPr>
        <p:spPr>
          <a:xfrm>
            <a:off x="640080" y="1207008"/>
            <a:ext cx="10881360" cy="365760"/>
          </a:xfrm>
          <a:prstGeom prst="rect">
            <a:avLst/>
          </a:prstGeom>
          <a:noFill/>
        </p:spPr>
        <p:txBody>
          <a:bodyPr wrap="square" lIns="91425" rIns="91425" tIns="45700" bIns="45700" anchor="t"/>
          <a:lstStyle/>
          <a:p>
            <a:pPr algn="l">
              <a:spcBef>
                <a:spcPts val="0"/>
              </a:spcBef>
              <a:spcAft>
                <a:spcPts val="0"/>
              </a:spcAft>
            </a:pPr>
            <a:r>
              <a:rPr sz="1300" b="0" i="0">
                <a:solidFill>
                  <a:srgbClr val="1F2933"/>
                </a:solidFill>
                <a:latin typeface="Calibri"/>
              </a:rPr>
              <a:t>P2 run at five grace values on both benchmarks, two answer models, every answer graded.</a:t>
            </a:r>
          </a:p>
        </p:txBody>
      </p:sp>
      <p:sp>
        <p:nvSpPr>
          <p:cNvPr id="5" name="TextBox 4"/>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6" name="TextBox 5"/>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7</a:t>
            </a:r>
          </a:p>
        </p:txBody>
      </p:sp>
      <p:sp>
        <p:nvSpPr>
          <p:cNvPr id="7" name="TextBox 6"/>
          <p:cNvSpPr txBox="1"/>
          <p:nvPr/>
        </p:nvSpPr>
        <p:spPr>
          <a:xfrm>
            <a:off x="640080" y="1737360"/>
            <a:ext cx="512064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Accuracy</a:t>
            </a:r>
          </a:p>
        </p:txBody>
      </p:sp>
      <p:sp>
        <p:nvSpPr>
          <p:cNvPr id="8" name="TextBox 7"/>
          <p:cNvSpPr txBox="1"/>
          <p:nvPr/>
        </p:nvSpPr>
        <p:spPr>
          <a:xfrm>
            <a:off x="6309360" y="1737360"/>
            <a:ext cx="521208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Tokens per question</a:t>
            </a:r>
          </a:p>
        </p:txBody>
      </p:sp>
      <p:graphicFrame>
        <p:nvGraphicFramePr>
          <p:cNvPr id="9" name="Chart 8"/>
          <p:cNvGraphicFramePr>
            <a:graphicFrameLocks noGrp="1"/>
          </p:cNvGraphicFramePr>
          <p:nvPr/>
        </p:nvGraphicFramePr>
        <p:xfrm>
          <a:off x="640080" y="2011680"/>
          <a:ext cx="5303520" cy="2606040"/>
        </p:xfrm>
        <a:graphic>
          <a:graphicData uri="http://schemas.openxmlformats.org/drawingml/2006/chart">
            <c:chart xmlns:c="http://schemas.openxmlformats.org/drawingml/2006/chart" r:id="rId2"/>
          </a:graphicData>
        </a:graphic>
      </p:graphicFrame>
      <p:graphicFrame>
        <p:nvGraphicFramePr>
          <p:cNvPr id="10" name="Chart 9"/>
          <p:cNvGraphicFramePr>
            <a:graphicFrameLocks noGrp="1"/>
          </p:cNvGraphicFramePr>
          <p:nvPr/>
        </p:nvGraphicFramePr>
        <p:xfrm>
          <a:off x="6309360" y="2011680"/>
          <a:ext cx="5303520" cy="2606040"/>
        </p:xfrm>
        <a:graphic>
          <a:graphicData uri="http://schemas.openxmlformats.org/drawingml/2006/chart">
            <c:chart xmlns:c="http://schemas.openxmlformats.org/drawingml/2006/chart" r:id="rId3"/>
          </a:graphicData>
        </a:graphic>
      </p:graphicFrame>
      <p:sp>
        <p:nvSpPr>
          <p:cNvPr id="11" name="Rectangle 10"/>
          <p:cNvSpPr/>
          <p:nvPr/>
        </p:nvSpPr>
        <p:spPr>
          <a:xfrm>
            <a:off x="640080" y="4892040"/>
            <a:ext cx="10881360" cy="1188720"/>
          </a:xfrm>
          <a:prstGeom prst="rect">
            <a:avLst/>
          </a:prstGeom>
          <a:solidFill>
            <a:srgbClr val="F7F8F9"/>
          </a:solidFill>
          <a:ln>
            <a:noFill/>
          </a:ln>
        </p:spPr>
        <p:txBody>
          <a:bodyPr rtlCol="0" anchor="ctr"/>
          <a:lstStyle/>
          <a:p>
            <a:pPr algn="ctr"/>
          </a:p>
        </p:txBody>
      </p:sp>
      <p:sp>
        <p:nvSpPr>
          <p:cNvPr id="12" name="Rectangle 11"/>
          <p:cNvSpPr/>
          <p:nvPr/>
        </p:nvSpPr>
        <p:spPr>
          <a:xfrm>
            <a:off x="640080" y="4892040"/>
            <a:ext cx="36576" cy="1188720"/>
          </a:xfrm>
          <a:prstGeom prst="rect">
            <a:avLst/>
          </a:prstGeom>
          <a:solidFill>
            <a:srgbClr val="0F766E"/>
          </a:solidFill>
          <a:ln>
            <a:noFill/>
          </a:ln>
        </p:spPr>
        <p:txBody>
          <a:bodyPr rtlCol="0" anchor="ctr"/>
          <a:lstStyle/>
          <a:p>
            <a:pPr algn="ctr"/>
          </a:p>
        </p:txBody>
      </p:sp>
      <p:sp>
        <p:nvSpPr>
          <p:cNvPr id="13" name="TextBox 12"/>
          <p:cNvSpPr txBox="1"/>
          <p:nvPr/>
        </p:nvSpPr>
        <p:spPr>
          <a:xfrm>
            <a:off x="914400" y="5020055"/>
            <a:ext cx="10332720" cy="93268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No grace value differs from 7 days on accuracy or staleness, on either benchmark (every p above 0.45). </a:t>
            </a:r>
            <a:r>
              <a:rPr sz="1250" b="0" i="0">
                <a:solidFill>
                  <a:srgbClr val="1F2933"/>
                </a:solidFill>
                <a:latin typeface="Calibri"/>
              </a:rPr>
              <a:t>What does move is cost, and in the opposite direction to last week's reading: a longer grace uses fewer tokens per question, because closed facts are fetched and then filtered, leaving fewer facts in the prompt.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GRACE PERIOD  ·  THE REAL TRADE-OFF</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Grace buys history and cheaper queries, and pays for them in storage</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8</a:t>
            </a:r>
          </a:p>
        </p:txBody>
      </p:sp>
      <p:graphicFrame>
        <p:nvGraphicFramePr>
          <p:cNvPr id="6" name="Table 5"/>
          <p:cNvGraphicFramePr>
            <a:graphicFrameLocks noGrp="1"/>
          </p:cNvGraphicFramePr>
          <p:nvPr/>
        </p:nvGraphicFramePr>
        <p:xfrm>
          <a:off x="640080" y="1417320"/>
          <a:ext cx="10881360" cy="1975104"/>
        </p:xfrm>
        <a:graphic>
          <a:graphicData uri="http://schemas.openxmlformats.org/drawingml/2006/table">
            <a:tbl>
              <a:tblPr firstRow="0" bandRow="0" firstCol="0" lastRow="0" lastCol="0" bandCol="0">
                <a:tableStyleId>{5C753F5E-2271-4C23-9891-F8661FBBB0C9}</a:tableStyleId>
              </a:tblPr>
              <a:tblGrid>
                <a:gridCol w="1463040"/>
                <a:gridCol w="1097280"/>
                <a:gridCol w="1188720"/>
                <a:gridCol w="1188720"/>
                <a:gridCol w="1143000"/>
                <a:gridCol w="1097280"/>
                <a:gridCol w="1188720"/>
                <a:gridCol w="1188720"/>
                <a:gridCol w="1325880"/>
              </a:tblGrid>
              <a:tr h="329184">
                <a:tc>
                  <a:txBody>
                    <a:bodyPr wrap="square"/>
                    <a:lstStyle/>
                    <a:p>
                      <a:pPr algn="l"/>
                      <a:r>
                        <a:rPr sz="1100" b="1" i="0">
                          <a:solidFill>
                            <a:srgbClr val="1F2933"/>
                          </a:solidFill>
                          <a:latin typeface="Calibri"/>
                        </a:rPr>
                        <a:t>grace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FC 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FC facts stored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FC history kept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FC tokens / q</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MQ 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MQ facts stored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MQ history kept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MQ tokens / q</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29184">
                <a:tc>
                  <a:txBody>
                    <a:bodyPr wrap="square"/>
                    <a:lstStyle/>
                    <a:p>
                      <a:pPr algn="l"/>
                      <a:r>
                        <a:rPr sz="1100" b="0" i="0">
                          <a:solidFill>
                            <a:srgbClr val="1F2933"/>
                          </a:solidFill>
                          <a:latin typeface="Calibri"/>
                        </a:rPr>
                        <a:t>1 day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0.770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1" i="0">
                          <a:solidFill>
                            <a:srgbClr val="0F766E"/>
                          </a:solidFill>
                          <a:latin typeface="Calibri"/>
                        </a:rPr>
                        <a:t>298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11%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738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0.979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340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29%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737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29184">
                <a:tc>
                  <a:txBody>
                    <a:bodyPr wrap="square"/>
                    <a:lstStyle/>
                    <a:p>
                      <a:pPr algn="l"/>
                      <a:r>
                        <a:rPr sz="1100" b="0" i="0">
                          <a:solidFill>
                            <a:srgbClr val="1F2933"/>
                          </a:solidFill>
                          <a:latin typeface="Calibri"/>
                        </a:rPr>
                        <a:t>3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0.780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303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16%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737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0.979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345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734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29184">
                <a:tc>
                  <a:txBody>
                    <a:bodyPr wrap="square"/>
                    <a:lstStyle/>
                    <a:p>
                      <a:pPr algn="l"/>
                      <a:r>
                        <a:rPr sz="1100" b="0" i="0">
                          <a:solidFill>
                            <a:srgbClr val="1F2933"/>
                          </a:solidFill>
                          <a:latin typeface="Calibri"/>
                        </a:rPr>
                        <a:t>7 days (current)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0.785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324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716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0.969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357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58%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716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29184">
                <a:tc>
                  <a:txBody>
                    <a:bodyPr wrap="square"/>
                    <a:lstStyle/>
                    <a:p>
                      <a:pPr algn="l"/>
                      <a:r>
                        <a:rPr sz="1100" b="0" i="0">
                          <a:solidFill>
                            <a:srgbClr val="1F2933"/>
                          </a:solidFill>
                          <a:latin typeface="Calibri"/>
                        </a:rPr>
                        <a:t>14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0.795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345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62%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701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0.969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370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80%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699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29184">
                <a:tc>
                  <a:txBody>
                    <a:bodyPr wrap="square"/>
                    <a:lstStyle/>
                    <a:p>
                      <a:pPr algn="l"/>
                      <a:r>
                        <a:rPr sz="1100" b="0" i="0">
                          <a:solidFill>
                            <a:srgbClr val="1F2933"/>
                          </a:solidFill>
                          <a:latin typeface="Calibri"/>
                        </a:rPr>
                        <a:t>21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0.785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364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1" i="0">
                          <a:solidFill>
                            <a:srgbClr val="0F766E"/>
                          </a:solidFill>
                          <a:latin typeface="Calibri"/>
                        </a:rPr>
                        <a:t>83%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1" i="0">
                          <a:solidFill>
                            <a:srgbClr val="0F766E"/>
                          </a:solidFill>
                          <a:latin typeface="Calibri"/>
                        </a:rPr>
                        <a:t>683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0.964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377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1" i="0">
                          <a:solidFill>
                            <a:srgbClr val="0F766E"/>
                          </a:solidFill>
                          <a:latin typeface="Calibri"/>
                        </a:rPr>
                        <a:t>92%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697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TextBox 6"/>
          <p:cNvSpPr txBox="1"/>
          <p:nvPr/>
        </p:nvSpPr>
        <p:spPr>
          <a:xfrm>
            <a:off x="640080" y="3611880"/>
            <a:ext cx="320040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0</a:t>
            </a:r>
          </a:p>
        </p:txBody>
      </p:sp>
      <p:sp>
        <p:nvSpPr>
          <p:cNvPr id="8" name="TextBox 7"/>
          <p:cNvSpPr txBox="1"/>
          <p:nvPr/>
        </p:nvSpPr>
        <p:spPr>
          <a:xfrm>
            <a:off x="640080" y="4233672"/>
            <a:ext cx="320040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significant correctness differences across 20 cells</a:t>
            </a:r>
          </a:p>
        </p:txBody>
      </p:sp>
      <p:sp>
        <p:nvSpPr>
          <p:cNvPr id="9" name="TextBox 8"/>
          <p:cNvSpPr txBox="1"/>
          <p:nvPr/>
        </p:nvSpPr>
        <p:spPr>
          <a:xfrm>
            <a:off x="4206240" y="3611880"/>
            <a:ext cx="320040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18%</a:t>
            </a:r>
          </a:p>
        </p:txBody>
      </p:sp>
      <p:sp>
        <p:nvSpPr>
          <p:cNvPr id="10" name="TextBox 9"/>
          <p:cNvSpPr txBox="1"/>
          <p:nvPr/>
        </p:nvSpPr>
        <p:spPr>
          <a:xfrm>
            <a:off x="4206240" y="4233672"/>
            <a:ext cx="320040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fewer facts stored at 1 day than 21 days (FactConsolidation)</a:t>
            </a:r>
          </a:p>
        </p:txBody>
      </p:sp>
      <p:sp>
        <p:nvSpPr>
          <p:cNvPr id="11" name="TextBox 10"/>
          <p:cNvSpPr txBox="1"/>
          <p:nvPr/>
        </p:nvSpPr>
        <p:spPr>
          <a:xfrm>
            <a:off x="7772400" y="3611880"/>
            <a:ext cx="320040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7.5x</a:t>
            </a:r>
          </a:p>
        </p:txBody>
      </p:sp>
      <p:sp>
        <p:nvSpPr>
          <p:cNvPr id="12" name="TextBox 11"/>
          <p:cNvSpPr txBox="1"/>
          <p:nvPr/>
        </p:nvSpPr>
        <p:spPr>
          <a:xfrm>
            <a:off x="7772400" y="4233672"/>
            <a:ext cx="320040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more superseded history kept at 21 days than 1 day (FactConsolidation)</a:t>
            </a:r>
          </a:p>
        </p:txBody>
      </p:sp>
      <p:sp>
        <p:nvSpPr>
          <p:cNvPr id="13" name="Rectangle 12"/>
          <p:cNvSpPr/>
          <p:nvPr/>
        </p:nvSpPr>
        <p:spPr>
          <a:xfrm>
            <a:off x="640080" y="4983480"/>
            <a:ext cx="10881360" cy="1143000"/>
          </a:xfrm>
          <a:prstGeom prst="rect">
            <a:avLst/>
          </a:prstGeom>
          <a:solidFill>
            <a:srgbClr val="F7F8F9"/>
          </a:solidFill>
          <a:ln>
            <a:noFill/>
          </a:ln>
        </p:spPr>
        <p:txBody>
          <a:bodyPr rtlCol="0" anchor="ctr"/>
          <a:lstStyle/>
          <a:p>
            <a:pPr algn="ctr"/>
          </a:p>
        </p:txBody>
      </p:sp>
      <p:sp>
        <p:nvSpPr>
          <p:cNvPr id="14" name="Rectangle 13"/>
          <p:cNvSpPr/>
          <p:nvPr/>
        </p:nvSpPr>
        <p:spPr>
          <a:xfrm>
            <a:off x="640080" y="4983480"/>
            <a:ext cx="36576" cy="1143000"/>
          </a:xfrm>
          <a:prstGeom prst="rect">
            <a:avLst/>
          </a:prstGeom>
          <a:solidFill>
            <a:srgbClr val="0F766E"/>
          </a:solidFill>
          <a:ln>
            <a:noFill/>
          </a:ln>
        </p:spPr>
        <p:txBody>
          <a:bodyPr rtlCol="0" anchor="ctr"/>
          <a:lstStyle/>
          <a:p>
            <a:pPr algn="ctr"/>
          </a:p>
        </p:txBody>
      </p:sp>
      <p:sp>
        <p:nvSpPr>
          <p:cNvPr id="15" name="TextBox 14"/>
          <p:cNvSpPr txBox="1"/>
          <p:nvPr/>
        </p:nvSpPr>
        <p:spPr>
          <a:xfrm>
            <a:off x="914400" y="5111496"/>
            <a:ext cx="10332720" cy="88696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History kept </a:t>
            </a:r>
            <a:r>
              <a:rPr sz="1250" b="0" i="0">
                <a:solidFill>
                  <a:srgbClr val="1F2933"/>
                </a:solidFill>
                <a:latin typeface="Calibri"/>
              </a:rPr>
              <a:t>is the share of superseded facts still queryable at the end, which is what lets the system answer "what did we believe, and when". </a:t>
            </a:r>
            <a:r>
              <a:rPr sz="1250" b="1" i="0">
                <a:solidFill>
                  <a:srgbClr val="1F2933"/>
                </a:solidFill>
                <a:latin typeface="Calibri"/>
              </a:rPr>
              <a:t>A correction to Week 1: </a:t>
            </a:r>
            <a:r>
              <a:rPr sz="1250" b="0" i="0">
                <a:solidFill>
                  <a:srgbClr val="1F2933"/>
                </a:solidFill>
                <a:latin typeface="Calibri"/>
              </a:rPr>
              <a:t>I said the shortest grace wins on cost. End to end, the shortest grace is the most expensive per query.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GRACE PERIOD  ·  WHICH SCENARIO, WHICH VALUE</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Since grace never changes correctness, the deployment decides it</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9</a:t>
            </a:r>
          </a:p>
        </p:txBody>
      </p:sp>
      <p:graphicFrame>
        <p:nvGraphicFramePr>
          <p:cNvPr id="6" name="Table 5"/>
          <p:cNvGraphicFramePr>
            <a:graphicFrameLocks noGrp="1"/>
          </p:cNvGraphicFramePr>
          <p:nvPr/>
        </p:nvGraphicFramePr>
        <p:xfrm>
          <a:off x="640080" y="1371600"/>
          <a:ext cx="10881360" cy="2852928"/>
        </p:xfrm>
        <a:graphic>
          <a:graphicData uri="http://schemas.openxmlformats.org/drawingml/2006/table">
            <a:tbl>
              <a:tblPr firstRow="0" bandRow="0" firstCol="0" lastRow="0" lastCol="0" bandCol="0">
                <a:tableStyleId>{5C753F5E-2271-4C23-9891-F8661FBBB0C9}</a:tableStyleId>
              </a:tblPr>
              <a:tblGrid>
                <a:gridCol w="3566160"/>
                <a:gridCol w="1737360"/>
                <a:gridCol w="3931920"/>
                <a:gridCol w="1645920"/>
              </a:tblGrid>
              <a:tr h="475488">
                <a:tc>
                  <a:txBody>
                    <a:bodyPr wrap="square"/>
                    <a:lstStyle/>
                    <a:p>
                      <a:pPr algn="l"/>
                      <a:r>
                        <a:rPr sz="1150" b="1" i="0">
                          <a:solidFill>
                            <a:srgbClr val="1F2933"/>
                          </a:solidFill>
                          <a:latin typeface="Calibri"/>
                        </a:rPr>
                        <a:t>scenario</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what matters most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evidence from this week</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grace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475488">
                <a:tc>
                  <a:txBody>
                    <a:bodyPr wrap="square"/>
                    <a:lstStyle/>
                    <a:p>
                      <a:pPr algn="l"/>
                      <a:r>
                        <a:rPr sz="1150" b="0" i="0">
                          <a:solidFill>
                            <a:srgbClr val="1F2933"/>
                          </a:solidFill>
                          <a:latin typeface="Calibri"/>
                        </a:rPr>
                        <a:t>Storage-limited agent (on-device, very large user base)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footprint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 day stores 10 to 18% fewer facts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1 to 3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75488">
                <a:tc>
                  <a:txBody>
                    <a:bodyPr wrap="square"/>
                    <a:lstStyle/>
                    <a:p>
                      <a:pPr algn="l"/>
                      <a:r>
                        <a:rPr sz="1150" b="0" i="0">
                          <a:solidFill>
                            <a:srgbClr val="1F2933"/>
                          </a:solidFill>
                          <a:latin typeface="Calibri"/>
                        </a:rPr>
                        <a:t>High-traffic assistant, cost per query dominates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prompt tokens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21 days uses 5 to 8% fewer tokens than 1 day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14 to 21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75488">
                <a:tc>
                  <a:txBody>
                    <a:bodyPr wrap="square"/>
                    <a:lstStyle/>
                    <a:p>
                      <a:pPr algn="l"/>
                      <a:r>
                        <a:rPr sz="1150" b="0" i="0">
                          <a:solidFill>
                            <a:srgbClr val="1F2933"/>
                          </a:solidFill>
                          <a:latin typeface="Calibri"/>
                        </a:rPr>
                        <a:t>General assistant, occasional "what was it before?"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balance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7 to 14 days keeps 39 to 80% of history at mid cost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7 to 14 days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75488">
                <a:tc>
                  <a:txBody>
                    <a:bodyPr wrap="square"/>
                    <a:lstStyle/>
                    <a:p>
                      <a:pPr algn="l"/>
                      <a:r>
                        <a:rPr sz="1150" b="0" i="0">
                          <a:solidFill>
                            <a:srgbClr val="1F2933"/>
                          </a:solidFill>
                          <a:latin typeface="Calibri"/>
                        </a:rPr>
                        <a:t>Regulated or auditable (finance, health, legal)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full history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no accuracy penalty for keeping everything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no pruning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75488">
                <a:tc>
                  <a:txBody>
                    <a:bodyPr wrap="square"/>
                    <a:lstStyle/>
                    <a:p>
                      <a:pPr algn="l"/>
                      <a:r>
                        <a:rPr sz="1150" b="0" i="0">
                          <a:solidFill>
                            <a:srgbClr val="1F2933"/>
                          </a:solidFill>
                          <a:latin typeface="Calibri"/>
                        </a:rPr>
                        <a:t>Natural dialogue, noisy extraction (ConvoMem)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not losing true facts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about 15 of 17 audited invalidations were wrong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21 days or more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Rectangle 6"/>
          <p:cNvSpPr/>
          <p:nvPr/>
        </p:nvSpPr>
        <p:spPr>
          <a:xfrm>
            <a:off x="640080" y="4434840"/>
            <a:ext cx="10881360" cy="1600200"/>
          </a:xfrm>
          <a:prstGeom prst="rect">
            <a:avLst/>
          </a:prstGeom>
          <a:solidFill>
            <a:srgbClr val="F7F8F9"/>
          </a:solidFill>
          <a:ln>
            <a:noFill/>
          </a:ln>
        </p:spPr>
        <p:txBody>
          <a:bodyPr rtlCol="0" anchor="ctr"/>
          <a:lstStyle/>
          <a:p>
            <a:pPr algn="ctr"/>
          </a:p>
        </p:txBody>
      </p:sp>
      <p:sp>
        <p:nvSpPr>
          <p:cNvPr id="8" name="Rectangle 7"/>
          <p:cNvSpPr/>
          <p:nvPr/>
        </p:nvSpPr>
        <p:spPr>
          <a:xfrm>
            <a:off x="640080" y="4434840"/>
            <a:ext cx="36576" cy="1600200"/>
          </a:xfrm>
          <a:prstGeom prst="rect">
            <a:avLst/>
          </a:prstGeom>
          <a:solidFill>
            <a:srgbClr val="0F766E"/>
          </a:solidFill>
          <a:ln>
            <a:noFill/>
          </a:ln>
        </p:spPr>
        <p:txBody>
          <a:bodyPr rtlCol="0" anchor="ctr"/>
          <a:lstStyle/>
          <a:p>
            <a:pPr algn="ctr"/>
          </a:p>
        </p:txBody>
      </p:sp>
      <p:sp>
        <p:nvSpPr>
          <p:cNvPr id="9" name="TextBox 8"/>
          <p:cNvSpPr txBox="1"/>
          <p:nvPr/>
        </p:nvSpPr>
        <p:spPr>
          <a:xfrm>
            <a:off x="914400" y="4562855"/>
            <a:ext cx="10332720" cy="1344168"/>
          </a:xfrm>
          <a:prstGeom prst="rect">
            <a:avLst/>
          </a:prstGeom>
          <a:noFill/>
        </p:spPr>
        <p:txBody>
          <a:bodyPr wrap="square" lIns="91425" rIns="91425" tIns="45700" bIns="45700" anchor="ctr"/>
          <a:lstStyle/>
          <a:p>
            <a:pPr algn="l">
              <a:spcBef>
                <a:spcPts val="0"/>
              </a:spcBef>
              <a:spcAft>
                <a:spcPts val="0"/>
              </a:spcAft>
            </a:pPr>
            <a:r>
              <a:rPr sz="1200" b="1" i="0">
                <a:solidFill>
                  <a:srgbClr val="1F2933"/>
                </a:solidFill>
                <a:latin typeface="Calibri"/>
              </a:rPr>
              <a:t>My recommendation: 7 days stays as the thesis value, 14 days as the general default. </a:t>
            </a:r>
            <a:r>
              <a:rPr sz="1200" b="0" i="0">
                <a:solidFill>
                  <a:srgbClr val="1F2933"/>
                </a:solidFill>
                <a:latin typeface="Calibri"/>
              </a:rPr>
              <a:t>Moving 7 to 14 cost nothing measurable in accuracy, cut tokens about 2 percent, and raised retained history from 39 to 62 percent on FactConsolidation, for 6 percent more storage.</a:t>
            </a:r>
          </a:p>
          <a:p>
            <a:pPr algn="l">
              <a:spcBef>
                <a:spcPts val="600"/>
              </a:spcBef>
              <a:spcAft>
                <a:spcPts val="0"/>
              </a:spcAft>
            </a:pPr>
            <a:r>
              <a:rPr sz="1200" b="1" i="0">
                <a:solidFill>
                  <a:srgbClr val="1F2933"/>
                </a:solidFill>
                <a:latin typeface="Calibri"/>
              </a:rPr>
              <a:t>One conversion is essential. </a:t>
            </a:r>
            <a:r>
              <a:rPr sz="1200" b="0" i="0">
                <a:solidFill>
                  <a:srgbClr val="1F2933"/>
                </a:solidFill>
                <a:latin typeface="Calibri"/>
              </a:rPr>
              <a:t>Grace is wall-clock time, and these benchmarks run one session a day. At 50 sessions a day, 7 days means 350 sessions, so deployments must convert to their own traffic.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GRACE PERIOD  ·  WHY DIALOGUE NEEDS A LONGER GRACE</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When contradiction detection is unreliable, pruning turns mistakes into data loss</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10</a:t>
            </a:r>
          </a:p>
        </p:txBody>
      </p:sp>
      <p:sp>
        <p:nvSpPr>
          <p:cNvPr id="6" name="TextBox 5"/>
          <p:cNvSpPr txBox="1"/>
          <p:nvPr/>
        </p:nvSpPr>
        <p:spPr>
          <a:xfrm>
            <a:off x="640080" y="1417320"/>
            <a:ext cx="530352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Audit: 17 invalidations in one ConvoMem conversation</a:t>
            </a:r>
          </a:p>
        </p:txBody>
      </p:sp>
      <p:graphicFrame>
        <p:nvGraphicFramePr>
          <p:cNvPr id="7" name="Table 6"/>
          <p:cNvGraphicFramePr>
            <a:graphicFrameLocks noGrp="1"/>
          </p:cNvGraphicFramePr>
          <p:nvPr/>
        </p:nvGraphicFramePr>
        <p:xfrm>
          <a:off x="640080" y="1755648"/>
          <a:ext cx="5394960" cy="1536192"/>
        </p:xfrm>
        <a:graphic>
          <a:graphicData uri="http://schemas.openxmlformats.org/drawingml/2006/table">
            <a:tbl>
              <a:tblPr firstRow="0" bandRow="0" firstCol="0" lastRow="0" lastCol="0" bandCol="0">
                <a:tableStyleId>{5C753F5E-2271-4C23-9891-F8661FBBB0C9}</a:tableStyleId>
              </a:tblPr>
              <a:tblGrid>
                <a:gridCol w="1783080"/>
                <a:gridCol w="868680"/>
                <a:gridCol w="2743200"/>
              </a:tblGrid>
              <a:tr h="384048">
                <a:tc>
                  <a:txBody>
                    <a:bodyPr wrap="square"/>
                    <a:lstStyle/>
                    <a:p>
                      <a:pPr algn="ctr"/>
                      <a:r>
                        <a:rPr sz="1150" b="1" i="0">
                          <a:solidFill>
                            <a:srgbClr val="1F2933"/>
                          </a:solidFill>
                          <a:latin typeface="Calibri"/>
                        </a:rPr>
                        <a:t>verdict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count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example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84048">
                <a:tc>
                  <a:txBody>
                    <a:bodyPr wrap="square"/>
                    <a:lstStyle/>
                    <a:p>
                      <a:pPr algn="ctr"/>
                      <a:r>
                        <a:rPr sz="1150" b="0" i="0">
                          <a:solidFill>
                            <a:srgbClr val="1F2933"/>
                          </a:solidFill>
                          <a:latin typeface="Calibri"/>
                        </a:rPr>
                        <a:t>real change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about 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dentist: Tuesday to Friday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ctr"/>
                      <a:r>
                        <a:rPr sz="1150" b="0" i="0">
                          <a:solidFill>
                            <a:srgbClr val="1F2933"/>
                          </a:solidFill>
                          <a:latin typeface="Calibri"/>
                        </a:rPr>
                        <a:t>false: list treated as single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10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 new meeting closes the last one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ctr"/>
                      <a:r>
                        <a:rPr sz="1150" b="0" i="0">
                          <a:solidFill>
                            <a:srgbClr val="1F2933"/>
                          </a:solidFill>
                          <a:latin typeface="Calibri"/>
                        </a:rPr>
                        <a:t>false or unclear: noise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"Assistant works_at you"</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8" name="TextBox 7"/>
          <p:cNvSpPr txBox="1"/>
          <p:nvPr/>
        </p:nvSpPr>
        <p:spPr>
          <a:xfrm>
            <a:off x="6355080" y="1417320"/>
            <a:ext cx="521208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Real changes the detector missed</a:t>
            </a:r>
          </a:p>
        </p:txBody>
      </p:sp>
      <p:sp>
        <p:nvSpPr>
          <p:cNvPr id="9" name="TextBox 8"/>
          <p:cNvSpPr txBox="1"/>
          <p:nvPr/>
        </p:nvSpPr>
        <p:spPr>
          <a:xfrm>
            <a:off x="6355080" y="1755648"/>
            <a:ext cx="5166360" cy="1737360"/>
          </a:xfrm>
          <a:prstGeom prst="rect">
            <a:avLst/>
          </a:prstGeom>
          <a:noFill/>
        </p:spPr>
        <p:txBody>
          <a:bodyPr wrap="square" lIns="91425" rIns="91425" tIns="45700" bIns="45700" anchor="t"/>
          <a:lstStyle/>
          <a:p>
            <a:pPr algn="l">
              <a:spcBef>
                <a:spcPts val="0"/>
              </a:spcBef>
              <a:spcAft>
                <a:spcPts val="0"/>
              </a:spcAft>
            </a:pPr>
            <a:r>
              <a:rPr sz="1200" b="1" i="0">
                <a:solidFill>
                  <a:srgbClr val="1F2933"/>
                </a:solidFill>
                <a:latin typeface="Calibri"/>
              </a:rPr>
              <a:t>old:  </a:t>
            </a:r>
            <a:r>
              <a:rPr sz="1200" b="0" i="0">
                <a:solidFill>
                  <a:srgbClr val="1F2933"/>
                </a:solidFill>
                <a:latin typeface="Calibri"/>
              </a:rPr>
              <a:t>technical training session  |  scheduled_for  |  Monday
</a:t>
            </a:r>
            <a:r>
              <a:rPr sz="1200" b="1" i="0">
                <a:solidFill>
                  <a:srgbClr val="1F2933"/>
                </a:solidFill>
                <a:latin typeface="Calibri"/>
              </a:rPr>
              <a:t>new:  </a:t>
            </a:r>
            <a:r>
              <a:rPr sz="1200" b="0" i="0">
                <a:solidFill>
                  <a:srgbClr val="1F2933"/>
                </a:solidFill>
                <a:latin typeface="Calibri"/>
              </a:rPr>
              <a:t>apex_digital_training_session  |  rescheduled_to  |  Wednesday
</a:t>
            </a:r>
            <a:r>
              <a:rPr sz="1200" b="0" i="0">
                <a:solidFill>
                  <a:srgbClr val="1F2933"/>
                </a:solidFill>
                <a:latin typeface="Calibri"/>
              </a:rPr>
              <a:t>Different subject, different predicate, so no contradiction is ever detected and the old value stays live.</a:t>
            </a:r>
          </a:p>
        </p:txBody>
      </p:sp>
      <p:sp>
        <p:nvSpPr>
          <p:cNvPr id="10" name="TextBox 9"/>
          <p:cNvSpPr txBox="1"/>
          <p:nvPr/>
        </p:nvSpPr>
        <p:spPr>
          <a:xfrm>
            <a:off x="640080" y="3611880"/>
            <a:ext cx="10881360" cy="1097280"/>
          </a:xfrm>
          <a:prstGeom prst="rect">
            <a:avLst/>
          </a:prstGeom>
          <a:noFill/>
        </p:spPr>
        <p:txBody>
          <a:bodyPr wrap="square" lIns="91425" rIns="91425" tIns="45700" bIns="45700" anchor="t"/>
          <a:lstStyle/>
          <a:p>
            <a:pPr algn="l" marL="342900" indent="-342900">
              <a:lnSpc>
                <a:spcPct val="130000"/>
              </a:lnSpc>
              <a:spcBef>
                <a:spcPts val="0"/>
              </a:spcBef>
              <a:spcAft>
                <a:spcPts val="0"/>
              </a:spcAft>
              <a:buClr>
                <a:srgbClr val="1F2933"/>
              </a:buClr>
              <a:buFont typeface="Calibri"/>
              <a:buChar char="•"/>
            </a:pPr>
            <a:r>
              <a:rPr sz="1300" b="0" i="0">
                <a:solidFill>
                  <a:srgbClr val="1F2933"/>
                </a:solidFill>
                <a:latin typeface="Calibri"/>
              </a:rPr>
              <a:t>With 7-day grace, the 10 wrongly closed meetings, deliverables and reminders are deleted within a week. With 21 days they stay recoverable, and nothing in this week's data shows a correctness cost for keeping them.</a:t>
            </a:r>
          </a:p>
        </p:txBody>
      </p:sp>
      <p:sp>
        <p:nvSpPr>
          <p:cNvPr id="11" name="Rectangle 10"/>
          <p:cNvSpPr/>
          <p:nvPr/>
        </p:nvSpPr>
        <p:spPr>
          <a:xfrm>
            <a:off x="640080" y="4754880"/>
            <a:ext cx="10881360" cy="1325880"/>
          </a:xfrm>
          <a:prstGeom prst="rect">
            <a:avLst/>
          </a:prstGeom>
          <a:solidFill>
            <a:srgbClr val="F7F8F9"/>
          </a:solidFill>
          <a:ln>
            <a:noFill/>
          </a:ln>
        </p:spPr>
        <p:txBody>
          <a:bodyPr rtlCol="0" anchor="ctr"/>
          <a:lstStyle/>
          <a:p>
            <a:pPr algn="ctr"/>
          </a:p>
        </p:txBody>
      </p:sp>
      <p:sp>
        <p:nvSpPr>
          <p:cNvPr id="12" name="Rectangle 11"/>
          <p:cNvSpPr/>
          <p:nvPr/>
        </p:nvSpPr>
        <p:spPr>
          <a:xfrm>
            <a:off x="640080" y="4754880"/>
            <a:ext cx="36576" cy="1325880"/>
          </a:xfrm>
          <a:prstGeom prst="rect">
            <a:avLst/>
          </a:prstGeom>
          <a:solidFill>
            <a:srgbClr val="0F766E"/>
          </a:solidFill>
          <a:ln>
            <a:noFill/>
          </a:ln>
        </p:spPr>
        <p:txBody>
          <a:bodyPr rtlCol="0" anchor="ctr"/>
          <a:lstStyle/>
          <a:p>
            <a:pPr algn="ctr"/>
          </a:p>
        </p:txBody>
      </p:sp>
      <p:sp>
        <p:nvSpPr>
          <p:cNvPr id="13" name="TextBox 12"/>
          <p:cNvSpPr txBox="1"/>
          <p:nvPr/>
        </p:nvSpPr>
        <p:spPr>
          <a:xfrm>
            <a:off x="914400" y="4882896"/>
            <a:ext cx="10332720" cy="106984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Boundary condition. </a:t>
            </a:r>
            <a:r>
              <a:rPr sz="1250" b="0" i="0">
                <a:solidFill>
                  <a:srgbClr val="1F2933"/>
                </a:solidFill>
                <a:latin typeface="Calibri"/>
              </a:rPr>
              <a:t>P2 is only as good as the extractor's naming. MQuAKE-T and FactConsolidation are templated, so the old and new value share a subject and predicate. Natural dialogue does not, and treating every predicate as single-valued makes lists of meetings or deliverables "supersede" each other.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CONVOMEM  ·  THIRD BENCHMARK</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The staleness effect survives natural dialogue; accuracy is capped by recall</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11</a:t>
            </a:r>
          </a:p>
        </p:txBody>
      </p:sp>
      <p:graphicFrame>
        <p:nvGraphicFramePr>
          <p:cNvPr id="6" name="Table 5"/>
          <p:cNvGraphicFramePr>
            <a:graphicFrameLocks noGrp="1"/>
          </p:cNvGraphicFramePr>
          <p:nvPr/>
        </p:nvGraphicFramePr>
        <p:xfrm>
          <a:off x="640080" y="1417320"/>
          <a:ext cx="5760720" cy="2368296"/>
        </p:xfrm>
        <a:graphic>
          <a:graphicData uri="http://schemas.openxmlformats.org/drawingml/2006/table">
            <a:tbl>
              <a:tblPr firstRow="0" bandRow="0" firstCol="0" lastRow="0" lastCol="0" bandCol="0">
                <a:tableStyleId>{5C753F5E-2271-4C23-9891-F8661FBBB0C9}</a:tableStyleId>
              </a:tblPr>
              <a:tblGrid>
                <a:gridCol w="2194560"/>
                <a:gridCol w="1188720"/>
                <a:gridCol w="1188720"/>
                <a:gridCol w="1188720"/>
              </a:tblGrid>
              <a:tr h="338328">
                <a:tc>
                  <a:txBody>
                    <a:bodyPr wrap="square"/>
                    <a:lstStyle/>
                    <a:p>
                      <a:pPr algn="l"/>
                      <a:r>
                        <a:rPr sz="1150" b="1" i="0">
                          <a:solidFill>
                            <a:srgbClr val="1F2933"/>
                          </a:solidFill>
                          <a:latin typeface="Calibri"/>
                        </a:rPr>
                        <a:t>policy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staleness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tokens / q</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38328">
                <a:tc>
                  <a:txBody>
                    <a:bodyPr wrap="square"/>
                    <a:lstStyle/>
                    <a:p>
                      <a:pPr algn="l"/>
                      <a:r>
                        <a:rPr sz="1150" b="0" i="0">
                          <a:solidFill>
                            <a:srgbClr val="1F2933"/>
                          </a:solidFill>
                          <a:latin typeface="Calibri"/>
                        </a:rPr>
                        <a:t>P0  never forgets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0.235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0.225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1026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l"/>
                      <a:r>
                        <a:rPr sz="1150" b="0" i="0">
                          <a:solidFill>
                            <a:srgbClr val="1F2933"/>
                          </a:solidFill>
                          <a:latin typeface="Calibri"/>
                        </a:rPr>
                        <a:t>P1  time decay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0.235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0.225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1026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l"/>
                      <a:r>
                        <a:rPr sz="1150" b="0" i="0">
                          <a:solidFill>
                            <a:srgbClr val="1F2933"/>
                          </a:solidFill>
                          <a:latin typeface="Calibri"/>
                        </a:rPr>
                        <a:t>P2  invalidation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0.225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0.165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849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l"/>
                      <a:r>
                        <a:rPr sz="1150" b="0" i="0">
                          <a:solidFill>
                            <a:srgbClr val="1F2933"/>
                          </a:solidFill>
                          <a:latin typeface="Calibri"/>
                        </a:rPr>
                        <a:t>P3  novelty gate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0.245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0.240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1032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l"/>
                      <a:r>
                        <a:rPr sz="1150" b="0" i="0">
                          <a:solidFill>
                            <a:srgbClr val="1F2933"/>
                          </a:solidFill>
                          <a:latin typeface="Calibri"/>
                        </a:rPr>
                        <a:t>P4  LLM consolidation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0.230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998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l"/>
                      <a:r>
                        <a:rPr sz="1150" b="0" i="0">
                          <a:solidFill>
                            <a:srgbClr val="1F2933"/>
                          </a:solidFill>
                          <a:latin typeface="Calibri"/>
                        </a:rPr>
                        <a:t>P5  topology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0.235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921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graphicFrame>
        <p:nvGraphicFramePr>
          <p:cNvPr id="7" name="Table 6"/>
          <p:cNvGraphicFramePr>
            <a:graphicFrameLocks noGrp="1"/>
          </p:cNvGraphicFramePr>
          <p:nvPr/>
        </p:nvGraphicFramePr>
        <p:xfrm>
          <a:off x="6675120" y="1417320"/>
          <a:ext cx="4846320" cy="1353312"/>
        </p:xfrm>
        <a:graphic>
          <a:graphicData uri="http://schemas.openxmlformats.org/drawingml/2006/table">
            <a:tbl>
              <a:tblPr firstRow="0" bandRow="0" firstCol="0" lastRow="0" lastCol="0" bandCol="0">
                <a:tableStyleId>{5C753F5E-2271-4C23-9891-F8661FBBB0C9}</a:tableStyleId>
              </a:tblPr>
              <a:tblGrid>
                <a:gridCol w="1920240"/>
                <a:gridCol w="1463040"/>
                <a:gridCol w="1463040"/>
              </a:tblGrid>
              <a:tr h="338328">
                <a:tc>
                  <a:txBody>
                    <a:bodyPr wrap="square"/>
                    <a:lstStyle/>
                    <a:p>
                      <a:pPr algn="ctr"/>
                      <a:r>
                        <a:rPr sz="1150" b="1" i="0">
                          <a:solidFill>
                            <a:srgbClr val="1F2933"/>
                          </a:solidFill>
                          <a:latin typeface="Calibri"/>
                        </a:rPr>
                        <a:t>paired test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staleness p</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accuracy p</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38328">
                <a:tc>
                  <a:txBody>
                    <a:bodyPr wrap="square"/>
                    <a:lstStyle/>
                    <a:p>
                      <a:pPr algn="ctr"/>
                      <a:r>
                        <a:rPr sz="1150" b="0" i="0">
                          <a:solidFill>
                            <a:srgbClr val="1F2933"/>
                          </a:solidFill>
                          <a:latin typeface="Calibri"/>
                        </a:rPr>
                        <a:t>P2 against P0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0.008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0.774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ctr"/>
                      <a:r>
                        <a:rPr sz="1150" b="0" i="0">
                          <a:solidFill>
                            <a:srgbClr val="1F2933"/>
                          </a:solidFill>
                          <a:latin typeface="Calibri"/>
                        </a:rPr>
                        <a:t>P2 against P3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0.003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0.388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ctr"/>
                      <a:r>
                        <a:rPr sz="1150" b="0" i="0">
                          <a:solidFill>
                            <a:srgbClr val="1F2933"/>
                          </a:solidFill>
                          <a:latin typeface="Calibri"/>
                        </a:rPr>
                        <a:t>P2 against P5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0.118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0.625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8" name="TextBox 7"/>
          <p:cNvSpPr txBox="1"/>
          <p:nvPr/>
        </p:nvSpPr>
        <p:spPr>
          <a:xfrm>
            <a:off x="6675120" y="2926080"/>
            <a:ext cx="4846320" cy="128016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100 questions, 10 conversations, 200 sessions, two answer models. </a:t>
            </a:r>
            <a:r>
              <a:rPr sz="1200" b="1" i="0">
                <a:solidFill>
                  <a:srgbClr val="7B8794"/>
                </a:solidFill>
                <a:latin typeface="Calibri"/>
              </a:rPr>
              <a:t>P1 never fires: </a:t>
            </a:r>
            <a:r>
              <a:rPr sz="1200" b="0" i="0">
                <a:solidFill>
                  <a:srgbClr val="7B8794"/>
                </a:solidFill>
                <a:latin typeface="Calibri"/>
              </a:rPr>
              <a:t>the conversations span 19 days and its limit is 20, so it equals P0 by construction.</a:t>
            </a:r>
          </a:p>
        </p:txBody>
      </p:sp>
      <p:sp>
        <p:nvSpPr>
          <p:cNvPr id="9" name="Rectangle 8"/>
          <p:cNvSpPr/>
          <p:nvPr/>
        </p:nvSpPr>
        <p:spPr>
          <a:xfrm>
            <a:off x="640080" y="3977639"/>
            <a:ext cx="10881360" cy="2057400"/>
          </a:xfrm>
          <a:prstGeom prst="rect">
            <a:avLst/>
          </a:prstGeom>
          <a:solidFill>
            <a:srgbClr val="F7F8F9"/>
          </a:solidFill>
          <a:ln>
            <a:noFill/>
          </a:ln>
        </p:spPr>
        <p:txBody>
          <a:bodyPr rtlCol="0" anchor="ctr"/>
          <a:lstStyle/>
          <a:p>
            <a:pPr algn="ctr"/>
          </a:p>
        </p:txBody>
      </p:sp>
      <p:sp>
        <p:nvSpPr>
          <p:cNvPr id="10" name="Rectangle 9"/>
          <p:cNvSpPr/>
          <p:nvPr/>
        </p:nvSpPr>
        <p:spPr>
          <a:xfrm>
            <a:off x="640080" y="3977639"/>
            <a:ext cx="36576" cy="2057400"/>
          </a:xfrm>
          <a:prstGeom prst="rect">
            <a:avLst/>
          </a:prstGeom>
          <a:solidFill>
            <a:srgbClr val="0F766E"/>
          </a:solidFill>
          <a:ln>
            <a:noFill/>
          </a:ln>
        </p:spPr>
        <p:txBody>
          <a:bodyPr rtlCol="0" anchor="ctr"/>
          <a:lstStyle/>
          <a:p>
            <a:pPr algn="ctr"/>
          </a:p>
        </p:txBody>
      </p:sp>
      <p:sp>
        <p:nvSpPr>
          <p:cNvPr id="11" name="TextBox 10"/>
          <p:cNvSpPr txBox="1"/>
          <p:nvPr/>
        </p:nvSpPr>
        <p:spPr>
          <a:xfrm>
            <a:off x="914400" y="4105655"/>
            <a:ext cx="10332720" cy="180136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P2 cuts staleness by a quarter and tokens by 17 percent. </a:t>
            </a:r>
            <a:r>
              <a:rPr sz="1250" b="0" i="0">
                <a:solidFill>
                  <a:srgbClr val="1F2933"/>
                </a:solidFill>
                <a:latin typeface="Calibri"/>
              </a:rPr>
              <a:t>That is the third benchmark where P2 reduces stale answers relative to P0, and the second where the gap is significant.</a:t>
            </a:r>
          </a:p>
          <a:p>
            <a:pPr algn="l">
              <a:spcBef>
                <a:spcPts val="600"/>
              </a:spcBef>
              <a:spcAft>
                <a:spcPts val="0"/>
              </a:spcAft>
            </a:pPr>
            <a:r>
              <a:rPr sz="1250" b="1" i="0">
                <a:solidFill>
                  <a:srgbClr val="1F2933"/>
                </a:solidFill>
                <a:latin typeface="Calibri"/>
              </a:rPr>
              <a:t>Accuracy is flat near 0.23 for a reason unrelated to forgetting. </a:t>
            </a:r>
            <a:r>
              <a:rPr sz="1250" b="0" i="0">
                <a:solidFill>
                  <a:srgbClr val="1F2933"/>
                </a:solidFill>
                <a:latin typeface="Calibri"/>
              </a:rPr>
              <a:t>The answer model says "I don't know" on about 60 percent of questions: extraction keeps roughly 77 facts from 610 lines, so many answers never enter memory at 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ROBUSTNESS  ·  JUDGE AND PROVIDERS</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The judge does not move MQuAKE-T; an LLM clean-up step moves everything</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12</a:t>
            </a:r>
          </a:p>
        </p:txBody>
      </p:sp>
      <p:sp>
        <p:nvSpPr>
          <p:cNvPr id="6" name="TextBox 5"/>
          <p:cNvSpPr txBox="1"/>
          <p:nvPr/>
        </p:nvSpPr>
        <p:spPr>
          <a:xfrm>
            <a:off x="640080" y="1417320"/>
            <a:ext cx="530352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Same answers, new judge (Claude Opus 4.8)</a:t>
            </a:r>
          </a:p>
        </p:txBody>
      </p:sp>
      <p:graphicFrame>
        <p:nvGraphicFramePr>
          <p:cNvPr id="7" name="Table 6"/>
          <p:cNvGraphicFramePr>
            <a:graphicFrameLocks noGrp="1"/>
          </p:cNvGraphicFramePr>
          <p:nvPr/>
        </p:nvGraphicFramePr>
        <p:xfrm>
          <a:off x="640080" y="1755648"/>
          <a:ext cx="5303520" cy="1691640"/>
        </p:xfrm>
        <a:graphic>
          <a:graphicData uri="http://schemas.openxmlformats.org/drawingml/2006/table">
            <a:tbl>
              <a:tblPr firstRow="0" bandRow="0" firstCol="0" lastRow="0" lastCol="0" bandCol="0">
                <a:tableStyleId>{5C753F5E-2271-4C23-9891-F8661FBBB0C9}</a:tableStyleId>
              </a:tblPr>
              <a:tblGrid>
                <a:gridCol w="1645920"/>
                <a:gridCol w="1828800"/>
                <a:gridCol w="1828800"/>
              </a:tblGrid>
              <a:tr h="338328">
                <a:tc>
                  <a:txBody>
                    <a:bodyPr wrap="square"/>
                    <a:lstStyle/>
                    <a:p>
                      <a:pPr algn="ctr"/>
                      <a:r>
                        <a:rPr sz="1150" b="1" i="0">
                          <a:solidFill>
                            <a:srgbClr val="1F2933"/>
                          </a:solidFill>
                          <a:latin typeface="Calibri"/>
                        </a:rPr>
                        <a:t>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original judge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Opus 4.8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38328">
                <a:tc>
                  <a:txBody>
                    <a:bodyPr wrap="square"/>
                    <a:lstStyle/>
                    <a:p>
                      <a:pPr algn="ctr"/>
                      <a:r>
                        <a:rPr sz="1150" b="0" i="0">
                          <a:solidFill>
                            <a:srgbClr val="1F2933"/>
                          </a:solidFill>
                          <a:latin typeface="Calibri"/>
                        </a:rPr>
                        <a:t>P0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0.969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0.974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ctr"/>
                      <a:r>
                        <a:rPr sz="1150" b="0" i="0">
                          <a:solidFill>
                            <a:srgbClr val="1F2933"/>
                          </a:solidFill>
                          <a:latin typeface="Calibri"/>
                        </a:rPr>
                        <a:t>P1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0.870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0.885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ctr"/>
                      <a:r>
                        <a:rPr sz="1150" b="0" i="0">
                          <a:solidFill>
                            <a:srgbClr val="1F2933"/>
                          </a:solidFill>
                          <a:latin typeface="Calibri"/>
                        </a:rPr>
                        <a:t>P2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0.969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0.974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ctr"/>
                      <a:r>
                        <a:rPr sz="1150" b="0" i="0">
                          <a:solidFill>
                            <a:srgbClr val="1F2933"/>
                          </a:solidFill>
                          <a:latin typeface="Calibri"/>
                        </a:rPr>
                        <a:t>P3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0.792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0.807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8" name="TextBox 7"/>
          <p:cNvSpPr txBox="1"/>
          <p:nvPr/>
        </p:nvSpPr>
        <p:spPr>
          <a:xfrm>
            <a:off x="640080" y="3520440"/>
            <a:ext cx="5303520" cy="457200"/>
          </a:xfrm>
          <a:prstGeom prst="rect">
            <a:avLst/>
          </a:prstGeom>
          <a:noFill/>
        </p:spPr>
        <p:txBody>
          <a:bodyPr wrap="square" lIns="91425" rIns="91425" tIns="45700" bIns="45700" anchor="t"/>
          <a:lstStyle/>
          <a:p>
            <a:pPr algn="l">
              <a:spcBef>
                <a:spcPts val="0"/>
              </a:spcBef>
              <a:spcAft>
                <a:spcPts val="0"/>
              </a:spcAft>
            </a:pPr>
            <a:r>
              <a:rPr sz="1200" b="1" i="0">
                <a:solidFill>
                  <a:srgbClr val="0F766E"/>
                </a:solidFill>
                <a:latin typeface="Calibri"/>
              </a:rPr>
              <a:t>Agreement on 748 of 768 answers (97.4%). Ranking unchanged.</a:t>
            </a:r>
          </a:p>
        </p:txBody>
      </p:sp>
      <p:sp>
        <p:nvSpPr>
          <p:cNvPr id="9" name="TextBox 8"/>
          <p:cNvSpPr txBox="1"/>
          <p:nvPr/>
        </p:nvSpPr>
        <p:spPr>
          <a:xfrm>
            <a:off x="6309360" y="1417320"/>
            <a:ext cx="521208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Unplanned: P4's clean-up model changed</a:t>
            </a:r>
          </a:p>
        </p:txBody>
      </p:sp>
      <p:graphicFrame>
        <p:nvGraphicFramePr>
          <p:cNvPr id="10" name="Table 9"/>
          <p:cNvGraphicFramePr>
            <a:graphicFrameLocks noGrp="1"/>
          </p:cNvGraphicFramePr>
          <p:nvPr/>
        </p:nvGraphicFramePr>
        <p:xfrm>
          <a:off x="6309360" y="1755648"/>
          <a:ext cx="5212080" cy="1353312"/>
        </p:xfrm>
        <a:graphic>
          <a:graphicData uri="http://schemas.openxmlformats.org/drawingml/2006/table">
            <a:tbl>
              <a:tblPr firstRow="0" bandRow="0" firstCol="0" lastRow="0" lastCol="0" bandCol="0">
                <a:tableStyleId>{5C753F5E-2271-4C23-9891-F8661FBBB0C9}</a:tableStyleId>
              </a:tblPr>
              <a:tblGrid>
                <a:gridCol w="2103120"/>
                <a:gridCol w="1554480"/>
                <a:gridCol w="1554480"/>
              </a:tblGrid>
              <a:tr h="338328">
                <a:tc>
                  <a:txBody>
                    <a:bodyPr wrap="square"/>
                    <a:lstStyle/>
                    <a:p>
                      <a:pPr algn="ctr"/>
                      <a:r>
                        <a:rPr sz="1150" b="1" i="0">
                          <a:solidFill>
                            <a:srgbClr val="1F2933"/>
                          </a:solidFill>
                          <a:latin typeface="Calibri"/>
                        </a:rPr>
                        <a:t>MQuAKE-T, MiniMax</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published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rerun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38328">
                <a:tc>
                  <a:txBody>
                    <a:bodyPr wrap="square"/>
                    <a:lstStyle/>
                    <a:p>
                      <a:pPr algn="ctr"/>
                      <a:r>
                        <a:rPr sz="1150" b="0" i="0">
                          <a:solidFill>
                            <a:srgbClr val="1F2933"/>
                          </a:solidFill>
                          <a:latin typeface="Calibri"/>
                        </a:rPr>
                        <a:t>facts pruned by P4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172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ctr"/>
                      <a:r>
                        <a:rPr sz="1150" b="0" i="0">
                          <a:solidFill>
                            <a:srgbClr val="1F2933"/>
                          </a:solidFill>
                          <a:latin typeface="Calibri"/>
                        </a:rPr>
                        <a:t>P4 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0.948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0.573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38328">
                <a:tc>
                  <a:txBody>
                    <a:bodyPr wrap="square"/>
                    <a:lstStyle/>
                    <a:p>
                      <a:pPr algn="ctr"/>
                      <a:r>
                        <a:rPr sz="1150" b="0" i="0">
                          <a:solidFill>
                            <a:srgbClr val="1F2933"/>
                          </a:solidFill>
                          <a:latin typeface="Calibri"/>
                        </a:rPr>
                        <a:t>P0 and P2 answers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identical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11" name="TextBox 10"/>
          <p:cNvSpPr txBox="1"/>
          <p:nvPr/>
        </p:nvSpPr>
        <p:spPr>
          <a:xfrm>
            <a:off x="6309360" y="3154680"/>
            <a:ext cx="5212080" cy="91440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The original provider for P4's consolidation calls is gone. Some calls went to a different model, which pruned 21 times more.</a:t>
            </a:r>
          </a:p>
        </p:txBody>
      </p:sp>
      <p:sp>
        <p:nvSpPr>
          <p:cNvPr id="12" name="Rectangle 11"/>
          <p:cNvSpPr/>
          <p:nvPr/>
        </p:nvSpPr>
        <p:spPr>
          <a:xfrm>
            <a:off x="640080" y="4206240"/>
            <a:ext cx="10881360" cy="1783080"/>
          </a:xfrm>
          <a:prstGeom prst="rect">
            <a:avLst/>
          </a:prstGeom>
          <a:solidFill>
            <a:srgbClr val="F7F8F9"/>
          </a:solidFill>
          <a:ln>
            <a:noFill/>
          </a:ln>
        </p:spPr>
        <p:txBody>
          <a:bodyPr rtlCol="0" anchor="ctr"/>
          <a:lstStyle/>
          <a:p>
            <a:pPr algn="ctr"/>
          </a:p>
        </p:txBody>
      </p:sp>
      <p:sp>
        <p:nvSpPr>
          <p:cNvPr id="13" name="Rectangle 12"/>
          <p:cNvSpPr/>
          <p:nvPr/>
        </p:nvSpPr>
        <p:spPr>
          <a:xfrm>
            <a:off x="640080" y="4206240"/>
            <a:ext cx="36576" cy="1783080"/>
          </a:xfrm>
          <a:prstGeom prst="rect">
            <a:avLst/>
          </a:prstGeom>
          <a:solidFill>
            <a:srgbClr val="0F766E"/>
          </a:solidFill>
          <a:ln>
            <a:noFill/>
          </a:ln>
        </p:spPr>
        <p:txBody>
          <a:bodyPr rtlCol="0" anchor="ctr"/>
          <a:lstStyle/>
          <a:p>
            <a:pPr algn="ctr"/>
          </a:p>
        </p:txBody>
      </p:sp>
      <p:sp>
        <p:nvSpPr>
          <p:cNvPr id="14" name="TextBox 13"/>
          <p:cNvSpPr txBox="1"/>
          <p:nvPr/>
        </p:nvSpPr>
        <p:spPr>
          <a:xfrm>
            <a:off x="914400" y="4334255"/>
            <a:ext cx="10332720" cy="152704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Two things learnt. </a:t>
            </a:r>
            <a:r>
              <a:rPr sz="1250" b="0" i="0">
                <a:solidFill>
                  <a:srgbClr val="1F2933"/>
                </a:solidFill>
                <a:latin typeface="Calibri"/>
              </a:rPr>
              <a:t>The MQuAKE-T conclusions are not an artefact of the judge. And a policy that uses an LLM for maintenance inherits that model's behaviour: swap the model and P4 goes from near best to worst. P2 and P0 reproduced exactly because their maintenance calls no model.</a:t>
            </a:r>
          </a:p>
          <a:p>
            <a:pPr algn="l">
              <a:spcBef>
                <a:spcPts val="600"/>
              </a:spcBef>
              <a:spcAft>
                <a:spcPts val="0"/>
              </a:spcAft>
            </a:pPr>
            <a:r>
              <a:rPr sz="1250" b="1" i="0">
                <a:solidFill>
                  <a:srgbClr val="1F2933"/>
                </a:solidFill>
                <a:latin typeface="Calibri"/>
              </a:rPr>
              <a:t>Status: </a:t>
            </a:r>
            <a:r>
              <a:rPr sz="1250" b="0" i="0">
                <a:solidFill>
                  <a:srgbClr val="1F2933"/>
                </a:solidFill>
                <a:latin typeface="Calibri"/>
              </a:rPr>
              <a:t>one cell, not planned, so this is an observation rather than a result.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UNDERSTANDING SO FAR  ·  EVERY PERSPECTIVE</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P2 against P0 across three benchmarks, clean data only</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13</a:t>
            </a:r>
          </a:p>
        </p:txBody>
      </p:sp>
      <p:graphicFrame>
        <p:nvGraphicFramePr>
          <p:cNvPr id="6" name="Table 5"/>
          <p:cNvGraphicFramePr>
            <a:graphicFrameLocks noGrp="1"/>
          </p:cNvGraphicFramePr>
          <p:nvPr/>
        </p:nvGraphicFramePr>
        <p:xfrm>
          <a:off x="640080" y="1371600"/>
          <a:ext cx="10881360" cy="2560320"/>
        </p:xfrm>
        <a:graphic>
          <a:graphicData uri="http://schemas.openxmlformats.org/drawingml/2006/table">
            <a:tbl>
              <a:tblPr firstRow="0" bandRow="0" firstCol="0" lastRow="0" lastCol="0" bandCol="0">
                <a:tableStyleId>{5C753F5E-2271-4C23-9891-F8661FBBB0C9}</a:tableStyleId>
              </a:tblPr>
              <a:tblGrid>
                <a:gridCol w="2651760"/>
                <a:gridCol w="2743200"/>
                <a:gridCol w="2743200"/>
                <a:gridCol w="2743200"/>
              </a:tblGrid>
              <a:tr h="365760">
                <a:tc>
                  <a:txBody>
                    <a:bodyPr wrap="square"/>
                    <a:lstStyle/>
                    <a:p>
                      <a:pPr algn="l"/>
                      <a:r>
                        <a:rPr sz="1150" b="1" i="0">
                          <a:solidFill>
                            <a:srgbClr val="1F2933"/>
                          </a:solidFill>
                          <a:latin typeface="Calibri"/>
                        </a:rPr>
                        <a:t>perspective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FactConsolidation (GLM)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65760">
                <a:tc>
                  <a:txBody>
                    <a:bodyPr wrap="square"/>
                    <a:lstStyle/>
                    <a:p>
                      <a:pPr algn="l"/>
                      <a:r>
                        <a:rPr sz="1150" b="1" i="0">
                          <a:solidFill>
                            <a:srgbClr val="1F2933"/>
                          </a:solidFill>
                          <a:latin typeface="Calibri"/>
                        </a:rPr>
                        <a:t>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0.969 vs 0.969, tie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0.80 vs 0.70, P2 ahead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0.225 vs 0.235, tie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1" i="0">
                          <a:solidFill>
                            <a:srgbClr val="1F2933"/>
                          </a:solidFill>
                          <a:latin typeface="Calibri"/>
                        </a:rPr>
                        <a:t>staleness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0.036 vs 0.052, not significant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0.06 vs 0.18, p = 0.004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0.165 vs 0.225, p = 0.008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1" i="0">
                          <a:solidFill>
                            <a:srgbClr val="1F2933"/>
                          </a:solidFill>
                          <a:latin typeface="Calibri"/>
                        </a:rPr>
                        <a:t>tokens per question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716 vs 816, 12% fewer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648 vs 748, 13% fewer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849 vs 1026, 17% fewer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1" i="0">
                          <a:solidFill>
                            <a:srgbClr val="1F2933"/>
                          </a:solidFill>
                          <a:latin typeface="Calibri"/>
                        </a:rPr>
                        <a:t>facts stored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357 vs 382, 6.5% fewer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324 vs 380, 15% fewer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912 vs 1006, 9% fewer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1" i="0">
                          <a:solidFill>
                            <a:srgbClr val="1F2933"/>
                          </a:solidFill>
                          <a:latin typeface="Calibri"/>
                        </a:rPr>
                        <a:t>accuracy per 1,000 tokens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1.35 vs 1.19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1.23 vs 0.94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0.27 vs 0.23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1" i="0">
                          <a:solidFill>
                            <a:srgbClr val="1F2933"/>
                          </a:solidFill>
                          <a:latin typeface="Calibri"/>
                        </a:rPr>
                        <a:t>LLM calls during maintenance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Rectangle 6"/>
          <p:cNvSpPr/>
          <p:nvPr/>
        </p:nvSpPr>
        <p:spPr>
          <a:xfrm>
            <a:off x="640080" y="4160520"/>
            <a:ext cx="10881360" cy="1874519"/>
          </a:xfrm>
          <a:prstGeom prst="rect">
            <a:avLst/>
          </a:prstGeom>
          <a:solidFill>
            <a:srgbClr val="F7F8F9"/>
          </a:solidFill>
          <a:ln>
            <a:noFill/>
          </a:ln>
        </p:spPr>
        <p:txBody>
          <a:bodyPr rtlCol="0" anchor="ctr"/>
          <a:lstStyle/>
          <a:p>
            <a:pPr algn="ctr"/>
          </a:p>
        </p:txBody>
      </p:sp>
      <p:sp>
        <p:nvSpPr>
          <p:cNvPr id="8" name="Rectangle 7"/>
          <p:cNvSpPr/>
          <p:nvPr/>
        </p:nvSpPr>
        <p:spPr>
          <a:xfrm>
            <a:off x="640080" y="4160520"/>
            <a:ext cx="36576" cy="1874519"/>
          </a:xfrm>
          <a:prstGeom prst="rect">
            <a:avLst/>
          </a:prstGeom>
          <a:solidFill>
            <a:srgbClr val="0F766E"/>
          </a:solidFill>
          <a:ln>
            <a:noFill/>
          </a:ln>
        </p:spPr>
        <p:txBody>
          <a:bodyPr rtlCol="0" anchor="ctr"/>
          <a:lstStyle/>
          <a:p>
            <a:pPr algn="ctr"/>
          </a:p>
        </p:txBody>
      </p:sp>
      <p:sp>
        <p:nvSpPr>
          <p:cNvPr id="9" name="TextBox 8"/>
          <p:cNvSpPr txBox="1"/>
          <p:nvPr/>
        </p:nvSpPr>
        <p:spPr>
          <a:xfrm>
            <a:off x="914400" y="4288536"/>
            <a:ext cx="10332720" cy="161848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Where it lands. </a:t>
            </a:r>
            <a:r>
              <a:rPr sz="1250" b="0" i="0">
                <a:solidFill>
                  <a:srgbClr val="1F2933"/>
                </a:solidFill>
                <a:latin typeface="Calibri"/>
              </a:rPr>
              <a:t>P2 never loses significantly to P0 on any measure on any benchmark, and it is cheaper on all three. It wins on staleness wherever superseded facts actually reach the prompt: strongly on FactConsolidation, which is built from nothing but updates, and on ConvoMem; weakly on MQuAKE-T, where the old fact rarely outranks the new one.</a:t>
            </a:r>
          </a:p>
          <a:p>
            <a:pPr algn="l">
              <a:spcBef>
                <a:spcPts val="600"/>
              </a:spcBef>
              <a:spcAft>
                <a:spcPts val="0"/>
              </a:spcAft>
            </a:pPr>
            <a:r>
              <a:rPr sz="1250" b="1" i="0">
                <a:solidFill>
                  <a:srgbClr val="1F2933"/>
                </a:solidFill>
                <a:latin typeface="Calibri"/>
              </a:rPr>
              <a:t>The advantage is conditional, and the condition is now measurable. </a:t>
            </a:r>
            <a:r>
              <a:rPr sz="1250" b="0" i="0">
                <a:solidFill>
                  <a:srgbClr val="1F2933"/>
                </a:solidFill>
                <a:latin typeface="Calibri"/>
              </a:rPr>
              <a:t>That is a stronger claim than a flat "P2 wins".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UNDERSTANDING SO FAR  ·  WHERE THE HYPOTHESIS STANDS</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Supported where it was tested cleanly, with one clear boundary</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14</a:t>
            </a:r>
          </a:p>
        </p:txBody>
      </p:sp>
      <p:graphicFrame>
        <p:nvGraphicFramePr>
          <p:cNvPr id="6" name="Table 5"/>
          <p:cNvGraphicFramePr>
            <a:graphicFrameLocks noGrp="1"/>
          </p:cNvGraphicFramePr>
          <p:nvPr/>
        </p:nvGraphicFramePr>
        <p:xfrm>
          <a:off x="640080" y="1371600"/>
          <a:ext cx="10881360" cy="2926080"/>
        </p:xfrm>
        <a:graphic>
          <a:graphicData uri="http://schemas.openxmlformats.org/drawingml/2006/table">
            <a:tbl>
              <a:tblPr firstRow="0" bandRow="0" firstCol="0" lastRow="0" lastCol="0" bandCol="0">
                <a:tableStyleId>{5C753F5E-2271-4C23-9891-F8661FBBB0C9}</a:tableStyleId>
              </a:tblPr>
              <a:tblGrid>
                <a:gridCol w="3840480"/>
                <a:gridCol w="2103120"/>
                <a:gridCol w="4937760"/>
              </a:tblGrid>
              <a:tr h="365760">
                <a:tc>
                  <a:txBody>
                    <a:bodyPr wrap="square"/>
                    <a:lstStyle/>
                    <a:p>
                      <a:pPr algn="l"/>
                      <a:r>
                        <a:rPr sz="1150" b="1" i="0">
                          <a:solidFill>
                            <a:srgbClr val="1F2933"/>
                          </a:solidFill>
                          <a:latin typeface="Calibri"/>
                        </a:rPr>
                        <a:t>claim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status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evidence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65760">
                <a:tc>
                  <a:txBody>
                    <a:bodyPr wrap="square"/>
                    <a:lstStyle/>
                    <a:p>
                      <a:pPr algn="l"/>
                      <a:r>
                        <a:rPr sz="1150" b="0" i="0">
                          <a:solidFill>
                            <a:srgbClr val="1F2933"/>
                          </a:solidFill>
                          <a:latin typeface="Calibri"/>
                        </a:rPr>
                        <a:t>Invalidation reduces stale answers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supported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 &lt; 0.01 on 2 of 3 benchmarks, same direction on the third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0" i="0">
                          <a:solidFill>
                            <a:srgbClr val="1F2933"/>
                          </a:solidFill>
                          <a:latin typeface="Calibri"/>
                        </a:rPr>
                        <a:t>It does not cost 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supported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no significant loss on any benchmark</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0" i="0">
                          <a:solidFill>
                            <a:srgbClr val="1F2933"/>
                          </a:solidFill>
                          <a:latin typeface="Calibri"/>
                        </a:rPr>
                        <a:t>It lowers cost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supported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12 to 17% fewer tokens on all three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0" i="0">
                          <a:solidFill>
                            <a:srgbClr val="1F2933"/>
                          </a:solidFill>
                          <a:latin typeface="Calibri"/>
                        </a:rPr>
                        <a:t>Conclusions do not depend on the weights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supported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tuning and test both flat; RRF agrees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0" i="0">
                          <a:solidFill>
                            <a:srgbClr val="1F2933"/>
                          </a:solidFill>
                          <a:latin typeface="Calibri"/>
                        </a:rPr>
                        <a:t>Conclusions do not depend on the grace period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supported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20 end-to-end cells, no significant difference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0" i="0">
                          <a:solidFill>
                            <a:srgbClr val="1F2933"/>
                          </a:solidFill>
                          <a:latin typeface="Calibri"/>
                        </a:rPr>
                        <a:t>Conclusions do not depend on the judge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supported on 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97.4% agreement; FactConsolidation pending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50" b="0" i="0">
                          <a:solidFill>
                            <a:srgbClr val="1F2933"/>
                          </a:solidFill>
                          <a:latin typeface="Calibri"/>
                        </a:rPr>
                        <a:t>It carries over to natural dialogue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partly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staleness effect holds; detection precision is low</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7" name="Rectangle 6"/>
          <p:cNvSpPr/>
          <p:nvPr/>
        </p:nvSpPr>
        <p:spPr>
          <a:xfrm>
            <a:off x="640080" y="4526280"/>
            <a:ext cx="10881360" cy="1508760"/>
          </a:xfrm>
          <a:prstGeom prst="rect">
            <a:avLst/>
          </a:prstGeom>
          <a:solidFill>
            <a:srgbClr val="F7F8F9"/>
          </a:solidFill>
          <a:ln>
            <a:noFill/>
          </a:ln>
        </p:spPr>
        <p:txBody>
          <a:bodyPr rtlCol="0" anchor="ctr"/>
          <a:lstStyle/>
          <a:p>
            <a:pPr algn="ctr"/>
          </a:p>
        </p:txBody>
      </p:sp>
      <p:sp>
        <p:nvSpPr>
          <p:cNvPr id="8" name="Rectangle 7"/>
          <p:cNvSpPr/>
          <p:nvPr/>
        </p:nvSpPr>
        <p:spPr>
          <a:xfrm>
            <a:off x="640080" y="4526280"/>
            <a:ext cx="36576" cy="1508760"/>
          </a:xfrm>
          <a:prstGeom prst="rect">
            <a:avLst/>
          </a:prstGeom>
          <a:solidFill>
            <a:srgbClr val="0F766E"/>
          </a:solidFill>
          <a:ln>
            <a:noFill/>
          </a:ln>
        </p:spPr>
        <p:txBody>
          <a:bodyPr rtlCol="0" anchor="ctr"/>
          <a:lstStyle/>
          <a:p>
            <a:pPr algn="ctr"/>
          </a:p>
        </p:txBody>
      </p:sp>
      <p:sp>
        <p:nvSpPr>
          <p:cNvPr id="9" name="TextBox 8"/>
          <p:cNvSpPr txBox="1"/>
          <p:nvPr/>
        </p:nvSpPr>
        <p:spPr>
          <a:xfrm>
            <a:off x="914400" y="4654296"/>
            <a:ext cx="10332720" cy="125272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What I have learnt. </a:t>
            </a:r>
            <a:r>
              <a:rPr sz="1250" b="0" i="0">
                <a:solidFill>
                  <a:srgbClr val="1F2933"/>
                </a:solidFill>
                <a:latin typeface="Calibri"/>
              </a:rPr>
              <a:t>The forgetting policy was never the fragile part. The fragile parts sit around it: an answer prompt that quietly did P2's job, an extractor whose naming decides whether a contradiction is visible, and an LLM clean-up step that changes with its provider. Each one, uncontrolled, moved results more than the retrieval constants ever did.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058400" cy="228600"/>
          </a:xfrm>
          <a:prstGeom prst="rect">
            <a:avLst/>
          </a:prstGeom>
          <a:noFill/>
        </p:spPr>
        <p:txBody>
          <a:bodyPr wrap="square" lIns="91425" rIns="91425" tIns="45700" bIns="45700" anchor="ctr"/>
          <a:lstStyle/>
          <a:p>
            <a:pPr algn="l">
              <a:spcBef>
                <a:spcPts val="0"/>
              </a:spcBef>
              <a:spcAft>
                <a:spcPts val="0"/>
              </a:spcAft>
            </a:pPr>
            <a:r>
              <a:rPr sz="1050" b="1" i="0">
                <a:solidFill>
                  <a:srgbClr val="0F766E"/>
                </a:solidFill>
                <a:latin typeface="Calibri"/>
              </a:rPr>
              <a:t>NEXT WEEK</a:t>
            </a:r>
          </a:p>
        </p:txBody>
      </p:sp>
      <p:sp>
        <p:nvSpPr>
          <p:cNvPr id="3" name="TextBox 2"/>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What I will run</a:t>
            </a:r>
          </a:p>
        </p:txBody>
      </p:sp>
      <p:sp>
        <p:nvSpPr>
          <p:cNvPr id="4" name="TextBox 3"/>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5" name="TextBox 4"/>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15</a:t>
            </a:r>
          </a:p>
        </p:txBody>
      </p:sp>
      <p:sp>
        <p:nvSpPr>
          <p:cNvPr id="6" name="TextBox 5"/>
          <p:cNvSpPr txBox="1"/>
          <p:nvPr/>
        </p:nvSpPr>
        <p:spPr>
          <a:xfrm>
            <a:off x="640080" y="1554480"/>
            <a:ext cx="10881360" cy="3291840"/>
          </a:xfrm>
          <a:prstGeom prst="rect">
            <a:avLst/>
          </a:prstGeom>
          <a:noFill/>
        </p:spPr>
        <p:txBody>
          <a:bodyPr wrap="square" lIns="91425" rIns="91425" tIns="45700" bIns="45700" anchor="t"/>
          <a:lstStyle/>
          <a:p>
            <a:pPr algn="l" marL="342900" indent="-342900">
              <a:lnSpc>
                <a:spcPct val="150000"/>
              </a:lnSpc>
              <a:spcBef>
                <a:spcPts val="200"/>
              </a:spcBef>
              <a:spcAft>
                <a:spcPts val="0"/>
              </a:spcAft>
              <a:buClr>
                <a:srgbClr val="1F2933"/>
              </a:buClr>
              <a:buFont typeface="Calibri"/>
              <a:buChar char="•"/>
            </a:pPr>
            <a:r>
              <a:rPr sz="1500" b="1" i="0">
                <a:solidFill>
                  <a:srgbClr val="1F2933"/>
                </a:solidFill>
                <a:latin typeface="Calibri"/>
              </a:rPr>
              <a:t>Clean FactConsolidation matrix. </a:t>
            </a:r>
            <a:r>
              <a:rPr sz="1500" b="0" i="0">
                <a:solidFill>
                  <a:srgbClr val="1F2933"/>
                </a:solidFill>
                <a:latin typeface="Calibri"/>
              </a:rPr>
              <a:t>11 remaining cells under the current prompt with the pinned judge, then regenerate the cross-benchmark table and Spearman.</a:t>
            </a:r>
          </a:p>
          <a:p>
            <a:pPr algn="l" marL="342900" indent="-342900">
              <a:lnSpc>
                <a:spcPct val="150000"/>
              </a:lnSpc>
              <a:spcBef>
                <a:spcPts val="200"/>
              </a:spcBef>
              <a:spcAft>
                <a:spcPts val="0"/>
              </a:spcAft>
              <a:buClr>
                <a:srgbClr val="1F2933"/>
              </a:buClr>
              <a:buFont typeface="Calibri"/>
              <a:buChar char="•"/>
            </a:pPr>
            <a:r>
              <a:rPr sz="1500" b="1" i="0">
                <a:solidFill>
                  <a:srgbClr val="1F2933"/>
                </a:solidFill>
                <a:latin typeface="Calibri"/>
              </a:rPr>
              <a:t>Missing regrade cell. </a:t>
            </a:r>
            <a:r>
              <a:rPr sz="1500" b="0" i="0">
                <a:solidFill>
                  <a:srgbClr val="1F2933"/>
                </a:solidFill>
                <a:latin typeface="Calibri"/>
              </a:rPr>
              <a:t>P4 on MQuAKE-T with GLM, with the consolidation model pinned so it is a true regrade.</a:t>
            </a:r>
          </a:p>
          <a:p>
            <a:pPr algn="l" marL="342900" indent="-342900">
              <a:lnSpc>
                <a:spcPct val="150000"/>
              </a:lnSpc>
              <a:spcBef>
                <a:spcPts val="200"/>
              </a:spcBef>
              <a:spcAft>
                <a:spcPts val="0"/>
              </a:spcAft>
              <a:buClr>
                <a:srgbClr val="1F2933"/>
              </a:buClr>
              <a:buFont typeface="Calibri"/>
              <a:buChar char="•"/>
            </a:pPr>
            <a:r>
              <a:rPr sz="1500" b="1" i="0">
                <a:solidFill>
                  <a:srgbClr val="1F2933"/>
                </a:solidFill>
                <a:latin typeface="Calibri"/>
              </a:rPr>
              <a:t>ConvoMem measurement fix. </a:t>
            </a:r>
            <a:r>
              <a:rPr sz="1500" b="0" i="0">
                <a:solidFill>
                  <a:srgbClr val="1F2933"/>
                </a:solidFill>
                <a:latin typeface="Calibri"/>
              </a:rPr>
              <a:t>Store the short current value so the free sweep can measure gold support there.</a:t>
            </a:r>
          </a:p>
          <a:p>
            <a:pPr algn="l" marL="342900" indent="-342900">
              <a:lnSpc>
                <a:spcPct val="150000"/>
              </a:lnSpc>
              <a:spcBef>
                <a:spcPts val="200"/>
              </a:spcBef>
              <a:spcAft>
                <a:spcPts val="0"/>
              </a:spcAft>
              <a:buClr>
                <a:srgbClr val="1F2933"/>
              </a:buClr>
              <a:buFont typeface="Calibri"/>
              <a:buChar char="•"/>
            </a:pPr>
            <a:r>
              <a:rPr sz="1500" b="1" i="0">
                <a:solidFill>
                  <a:srgbClr val="1F2933"/>
                </a:solidFill>
                <a:latin typeface="Calibri"/>
              </a:rPr>
              <a:t>Every new cell now records which prompt it used, </a:t>
            </a:r>
            <a:r>
              <a:rPr sz="1500" b="0" i="0">
                <a:solidFill>
                  <a:srgbClr val="1F2933"/>
                </a:solidFill>
                <a:latin typeface="Calibri"/>
              </a:rPr>
              <a:t>so a mixed-prompt matrix cannot happen again.</a:t>
            </a:r>
          </a:p>
        </p:txBody>
      </p:sp>
      <p:sp>
        <p:nvSpPr>
          <p:cNvPr id="7" name="Rectangle 6"/>
          <p:cNvSpPr/>
          <p:nvPr/>
        </p:nvSpPr>
        <p:spPr>
          <a:xfrm>
            <a:off x="640080" y="5074920"/>
            <a:ext cx="10881360" cy="868680"/>
          </a:xfrm>
          <a:prstGeom prst="rect">
            <a:avLst/>
          </a:prstGeom>
          <a:solidFill>
            <a:srgbClr val="F7F8F9"/>
          </a:solidFill>
          <a:ln>
            <a:noFill/>
          </a:ln>
        </p:spPr>
        <p:txBody>
          <a:bodyPr rtlCol="0" anchor="ctr"/>
          <a:lstStyle/>
          <a:p>
            <a:pPr algn="ctr"/>
          </a:p>
        </p:txBody>
      </p:sp>
      <p:sp>
        <p:nvSpPr>
          <p:cNvPr id="8" name="Rectangle 7"/>
          <p:cNvSpPr/>
          <p:nvPr/>
        </p:nvSpPr>
        <p:spPr>
          <a:xfrm>
            <a:off x="640080" y="5074920"/>
            <a:ext cx="36576" cy="868680"/>
          </a:xfrm>
          <a:prstGeom prst="rect">
            <a:avLst/>
          </a:prstGeom>
          <a:solidFill>
            <a:srgbClr val="0F766E"/>
          </a:solidFill>
          <a:ln>
            <a:noFill/>
          </a:ln>
        </p:spPr>
        <p:txBody>
          <a:bodyPr rtlCol="0" anchor="ctr"/>
          <a:lstStyle/>
          <a:p>
            <a:pPr algn="ctr"/>
          </a:p>
        </p:txBody>
      </p:sp>
      <p:sp>
        <p:nvSpPr>
          <p:cNvPr id="9" name="TextBox 8"/>
          <p:cNvSpPr txBox="1"/>
          <p:nvPr/>
        </p:nvSpPr>
        <p:spPr>
          <a:xfrm>
            <a:off x="914400" y="5202936"/>
            <a:ext cx="10332720" cy="612647"/>
          </a:xfrm>
          <a:prstGeom prst="rect">
            <a:avLst/>
          </a:prstGeom>
          <a:noFill/>
        </p:spPr>
        <p:txBody>
          <a:bodyPr wrap="square" lIns="91425" rIns="91425" tIns="45700" bIns="45700" anchor="ctr"/>
          <a:lstStyle/>
          <a:p>
            <a:pPr algn="l">
              <a:spcBef>
                <a:spcPts val="0"/>
              </a:spcBef>
              <a:spcAft>
                <a:spcPts val="0"/>
              </a:spcAft>
            </a:pPr>
            <a:r>
              <a:rPr sz="1300" b="1" i="0">
                <a:solidFill>
                  <a:srgbClr val="1F2933"/>
                </a:solidFill>
                <a:latin typeface="Calibri"/>
              </a:rPr>
              <a:t>Cost. </a:t>
            </a:r>
            <a:r>
              <a:rPr sz="1300" b="0" i="0">
                <a:solidFill>
                  <a:srgbClr val="1F2933"/>
                </a:solidFill>
                <a:latin typeface="Calibri"/>
              </a:rPr>
              <a:t>About 1,100 answer calls and 1,100 judge calls for the clean FactConsolidation matrix. Extraction is cached.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Questions moving forward</a:t>
            </a:r>
          </a:p>
        </p:txBody>
      </p:sp>
      <p:sp>
        <p:nvSpPr>
          <p:cNvPr id="3" name="TextBox 2"/>
          <p:cNvSpPr txBox="1"/>
          <p:nvPr/>
        </p:nvSpPr>
        <p:spPr>
          <a:xfrm>
            <a:off x="640080" y="6355080"/>
            <a:ext cx="7315200" cy="256032"/>
          </a:xfrm>
          <a:prstGeom prst="rect">
            <a:avLst/>
          </a:prstGeom>
          <a:noFill/>
        </p:spPr>
        <p:txBody>
          <a:bodyPr wrap="square" lIns="91425" rIns="91425" tIns="45700" bIns="45700" anchor="t"/>
          <a:lstStyle/>
          <a:p>
            <a:pPr algn="l">
              <a:spcBef>
                <a:spcPts val="0"/>
              </a:spcBef>
              <a:spcAft>
                <a:spcPts val="0"/>
              </a:spcAft>
            </a:pPr>
            <a:r>
              <a:rPr sz="900" b="0" i="0">
                <a:solidFill>
                  <a:srgbClr val="7B8794"/>
                </a:solidFill>
                <a:latin typeface="Calibri"/>
              </a:rPr>
              <a:t>DRIFT  ·  weekly update  ·  1 October 2026</a:t>
            </a:r>
          </a:p>
        </p:txBody>
      </p:sp>
      <p:sp>
        <p:nvSpPr>
          <p:cNvPr id="4" name="TextBox 3"/>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16</a:t>
            </a:r>
          </a:p>
        </p:txBody>
      </p:sp>
      <p:sp>
        <p:nvSpPr>
          <p:cNvPr id="5" name="TextBox 4"/>
          <p:cNvSpPr txBox="1"/>
          <p:nvPr/>
        </p:nvSpPr>
        <p:spPr>
          <a:xfrm>
            <a:off x="640080" y="1417320"/>
            <a:ext cx="10881360" cy="4754880"/>
          </a:xfrm>
          <a:prstGeom prst="rect">
            <a:avLst/>
          </a:prstGeom>
          <a:noFill/>
        </p:spPr>
        <p:txBody>
          <a:bodyPr wrap="square" lIns="91425" rIns="91425" tIns="45700" bIns="45700" anchor="t"/>
          <a:lstStyle/>
          <a:p>
            <a:pPr algn="l">
              <a:lnSpc>
                <a:spcPct val="115000"/>
              </a:lnSpc>
              <a:spcBef>
                <a:spcPts val="0"/>
              </a:spcBef>
              <a:spcAft>
                <a:spcPts val="0"/>
              </a:spcAft>
            </a:pPr>
            <a:r>
              <a:rPr sz="1450" b="1" i="0">
                <a:solidFill>
                  <a:srgbClr val="1F2933"/>
                </a:solidFill>
                <a:latin typeface="Calibri"/>
              </a:rPr>
              <a:t>1. Framing the main result</a:t>
            </a:r>
          </a:p>
          <a:p>
            <a:pPr algn="l">
              <a:lnSpc>
                <a:spcPct val="115000"/>
              </a:lnSpc>
              <a:spcBef>
                <a:spcPts val="300"/>
              </a:spcBef>
              <a:spcAft>
                <a:spcPts val="0"/>
              </a:spcAft>
            </a:pPr>
            <a:r>
              <a:rPr sz="1400" b="0" i="0">
                <a:solidFill>
                  <a:srgbClr val="1F2933"/>
                </a:solidFill>
                <a:latin typeface="Calibri"/>
              </a:rPr>
              <a:t>The clean data suggests P2 wins clearly on FactConsolidation but only ties on MQuAKE-T. Would you be comfortable with me presenting the advantage as conditional on how much outdated information reaches the model, rather than as a general win?</a:t>
            </a:r>
          </a:p>
          <a:p>
            <a:pPr algn="l">
              <a:lnSpc>
                <a:spcPct val="115000"/>
              </a:lnSpc>
              <a:spcBef>
                <a:spcPts val="1000"/>
              </a:spcBef>
              <a:spcAft>
                <a:spcPts val="0"/>
              </a:spcAft>
            </a:pPr>
            <a:r>
              <a:rPr sz="1450" b="1" i="0">
                <a:solidFill>
                  <a:srgbClr val="1F2933"/>
                </a:solidFill>
                <a:latin typeface="Calibri"/>
              </a:rPr>
              <a:t>2. Grace period</a:t>
            </a:r>
          </a:p>
          <a:p>
            <a:pPr algn="l">
              <a:lnSpc>
                <a:spcPct val="115000"/>
              </a:lnSpc>
              <a:spcBef>
                <a:spcPts val="300"/>
              </a:spcBef>
              <a:spcAft>
                <a:spcPts val="0"/>
              </a:spcAft>
            </a:pPr>
            <a:r>
              <a:rPr sz="1400" b="0" i="0">
                <a:solidFill>
                  <a:srgbClr val="1F2933"/>
                </a:solidFill>
                <a:latin typeface="Calibri"/>
              </a:rPr>
              <a:t>Since the grace period never changed correctness, I would like to present it as a deployment choice, with a recommended range per scenario instead of one tuned number. Does that answer the question of why seven days?</a:t>
            </a:r>
          </a:p>
          <a:p>
            <a:pPr algn="l">
              <a:lnSpc>
                <a:spcPct val="115000"/>
              </a:lnSpc>
              <a:spcBef>
                <a:spcPts val="1000"/>
              </a:spcBef>
              <a:spcAft>
                <a:spcPts val="0"/>
              </a:spcAft>
            </a:pPr>
            <a:r>
              <a:rPr sz="1450" b="1" i="0">
                <a:solidFill>
                  <a:srgbClr val="1F2933"/>
                </a:solidFill>
                <a:latin typeface="Calibri"/>
              </a:rPr>
              <a:t>3. Retrieval formula</a:t>
            </a:r>
          </a:p>
          <a:p>
            <a:pPr algn="l">
              <a:lnSpc>
                <a:spcPct val="115000"/>
              </a:lnSpc>
              <a:spcBef>
                <a:spcPts val="300"/>
              </a:spcBef>
              <a:spcAft>
                <a:spcPts val="0"/>
              </a:spcAft>
            </a:pPr>
            <a:r>
              <a:rPr sz="1400" b="0" i="0">
                <a:solidFill>
                  <a:srgbClr val="1F2933"/>
                </a:solidFill>
                <a:latin typeface="Calibri"/>
              </a:rPr>
              <a:t>No weighting beat 0.6/0.3/0.1, and the weight-free method reached the same conclusions. Should I keep the formula and report the weight-free method as a robustness check, or switch to it so there are no constants left to defend?</a:t>
            </a:r>
          </a:p>
          <a:p>
            <a:pPr algn="l">
              <a:lnSpc>
                <a:spcPct val="115000"/>
              </a:lnSpc>
              <a:spcBef>
                <a:spcPts val="1000"/>
              </a:spcBef>
              <a:spcAft>
                <a:spcPts val="0"/>
              </a:spcAft>
            </a:pPr>
            <a:r>
              <a:rPr sz="1450" b="1" i="0">
                <a:solidFill>
                  <a:srgbClr val="1F2933"/>
                </a:solidFill>
                <a:latin typeface="Calibri"/>
              </a:rPr>
              <a:t>4. Where to spend the remaining time</a:t>
            </a:r>
          </a:p>
          <a:p>
            <a:pPr algn="l">
              <a:lnSpc>
                <a:spcPct val="115000"/>
              </a:lnSpc>
              <a:spcBef>
                <a:spcPts val="300"/>
              </a:spcBef>
              <a:spcAft>
                <a:spcPts val="0"/>
              </a:spcAft>
            </a:pPr>
            <a:r>
              <a:rPr sz="1400" b="0" i="0">
                <a:solidFill>
                  <a:srgbClr val="1F2933"/>
                </a:solidFill>
                <a:latin typeface="Calibri"/>
              </a:rPr>
              <a:t>ConvoMem showed that contradiction detection breaks when the extractor names the same fact two different ways. Is it worth building a naming-alignment step before submission, or should I report it as the main limitation and leave the fix for future work?</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