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discordant pairs</c:v>
                </c:pt>
              </c:strCache>
            </c:strRef>
          </c:tx>
          <c:spPr>
            <a:solidFill>
              <a:srgbClr val="0F766E"/>
            </a:solidFill>
            <a:effectLst/>
          </c:spPr>
          <c:invertIfNegative val="0"/>
          <c:dLbls>
            <c:numFmt formatCode="#,##0" sourceLinked="0"/>
            <c:txPr>
              <a:bodyPr/>
              <a:lstStyle/>
              <a:p>
                <a:pPr>
                  <a:defRPr b="1" i="0" strike="noStrike" sz="14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P2 right,
P5 wrong</c:v>
                  </c:pt>
                  <c:pt idx="1">
                    <c:v>P5 right,
P2 wrong</c:v>
                  </c:pt>
                </c:lvl>
              </c:multiLvlStrCache>
            </c:multiLvlStrRef>
          </c:cat>
          <c:val>
            <c:numRef>
              <c:f>Sheet1!$B$2:$B$3</c:f>
              <c:numCache>
                <c:formatCode>General</c:formatCode>
                <c:ptCount val="2"/>
                <c:pt idx="0">
                  <c:v>34</c:v>
                </c:pt>
                <c:pt idx="1">
                  <c:v>2</c:v>
                </c:pt>
              </c:numCache>
            </c:numRef>
          </c:val>
        </c:ser>
        <c:dLbls>
          <c:numFmt formatCode="#,##0" sourceLinked="0"/>
          <c:txPr>
            <a:bodyPr/>
            <a:lstStyle/>
            <a:p>
              <a:pPr>
                <a:defRPr b="1" i="0" strike="noStrike" sz="1400" u="none">
                  <a:solidFill>
                    <a:srgbClr val="1F2933"/>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probability</c:v>
                </c:pt>
              </c:strCache>
            </c:strRef>
          </c:tx>
          <c:spPr>
            <a:solidFill>
              <a:srgbClr val="9CC5C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Sheet1!$A$2:$A$38</c:f>
              <c:multiLvlStrCache>
                <c:ptCount val="3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lvl>
              </c:multiLvlStrCache>
            </c:multiLvlStrRef>
          </c:cat>
          <c:val>
            <c:numRef>
              <c:f>Sheet1!$B$2:$B$38</c:f>
              <c:numCache>
                <c:formatCode>General</c:formatCode>
                <c:ptCount val="37"/>
                <c:pt idx="0">
                  <c:v>0</c:v>
                </c:pt>
                <c:pt idx="1">
                  <c:v>0</c:v>
                </c:pt>
                <c:pt idx="2">
                  <c:v>0</c:v>
                </c:pt>
                <c:pt idx="3">
                  <c:v>0</c:v>
                </c:pt>
                <c:pt idx="4">
                  <c:v>0.000001</c:v>
                </c:pt>
                <c:pt idx="5">
                  <c:v>0.000005</c:v>
                </c:pt>
                <c:pt idx="6">
                  <c:v>0.000028</c:v>
                </c:pt>
                <c:pt idx="7">
                  <c:v>0.000121</c:v>
                </c:pt>
                <c:pt idx="8">
                  <c:v>0.00044</c:v>
                </c:pt>
                <c:pt idx="9">
                  <c:v>0.00137</c:v>
                </c:pt>
                <c:pt idx="10">
                  <c:v>0.003699</c:v>
                </c:pt>
                <c:pt idx="11">
                  <c:v>0.008743</c:v>
                </c:pt>
                <c:pt idx="12">
                  <c:v>0.018214</c:v>
                </c:pt>
                <c:pt idx="13">
                  <c:v>0.033626</c:v>
                </c:pt>
                <c:pt idx="14">
                  <c:v>0.055243</c:v>
                </c:pt>
                <c:pt idx="15">
                  <c:v>0.081024</c:v>
                </c:pt>
                <c:pt idx="16">
                  <c:v>0.106344</c:v>
                </c:pt>
                <c:pt idx="17">
                  <c:v>0.12511</c:v>
                </c:pt>
                <c:pt idx="18">
                  <c:v>0.132061</c:v>
                </c:pt>
                <c:pt idx="19">
                  <c:v>0.12511</c:v>
                </c:pt>
                <c:pt idx="20">
                  <c:v>0.106344</c:v>
                </c:pt>
                <c:pt idx="21">
                  <c:v>0.081024</c:v>
                </c:pt>
                <c:pt idx="22">
                  <c:v>0.055243</c:v>
                </c:pt>
                <c:pt idx="23">
                  <c:v>0.033626</c:v>
                </c:pt>
                <c:pt idx="24">
                  <c:v>0.018214</c:v>
                </c:pt>
                <c:pt idx="25">
                  <c:v>0.008743</c:v>
                </c:pt>
                <c:pt idx="26">
                  <c:v>0.003699</c:v>
                </c:pt>
                <c:pt idx="27">
                  <c:v>0.00137</c:v>
                </c:pt>
                <c:pt idx="28">
                  <c:v>0.00044</c:v>
                </c:pt>
                <c:pt idx="29">
                  <c:v>0.000121</c:v>
                </c:pt>
                <c:pt idx="30">
                  <c:v>0.000028</c:v>
                </c:pt>
                <c:pt idx="31">
                  <c:v>0.000005</c:v>
                </c:pt>
                <c:pt idx="32">
                  <c:v>0.000001</c:v>
                </c:pt>
                <c:pt idx="33">
                  <c:v>0</c:v>
                </c:pt>
                <c:pt idx="34">
                  <c:v>0</c:v>
                </c:pt>
                <c:pt idx="35">
                  <c:v>0</c:v>
                </c:pt>
                <c:pt idx="36">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0.14"/>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gold support</c:v>
                </c:pt>
              </c:strCache>
            </c:strRef>
          </c:tx>
          <c:spPr>
            <a:solidFill>
              <a:srgbClr val="0F766E"/>
            </a:solidFill>
            <a:ln w="254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66E"/>
              </a:solidFill>
              <a:ln w="9525" cap="flat">
                <a:solidFill>
                  <a:srgbClr val="0F766E"/>
                </a:solidFill>
                <a:prstDash val="solid"/>
                <a:round/>
              </a:ln>
              <a:effectLst/>
            </c:spPr>
          </c:marker>
          <c:cat>
            <c:multiLvlStrRef>
              <c:f>Sheet1!$A$2:$A$6</c:f>
              <c:multiLvlStrCache>
                <c:ptCount val="5"/>
                <c:lvl>
                  <c:pt idx="0">
                    <c:v>1 day</c:v>
                  </c:pt>
                  <c:pt idx="1">
                    <c:v>3 days</c:v>
                  </c:pt>
                  <c:pt idx="2">
                    <c:v>7 days</c:v>
                  </c:pt>
                  <c:pt idx="3">
                    <c:v>14 days</c:v>
                  </c:pt>
                  <c:pt idx="4">
                    <c:v>30 days</c:v>
                  </c:pt>
                </c:lvl>
              </c:multiLvlStrCache>
            </c:multiLvlStrRef>
          </c:cat>
          <c:val>
            <c:numRef>
              <c:f>Sheet1!$B$2:$B$6</c:f>
              <c:numCache>
                <c:formatCode>General</c:formatCode>
                <c:ptCount val="5"/>
                <c:pt idx="0">
                  <c:v>1</c:v>
                </c:pt>
                <c:pt idx="1">
                  <c:v>1</c:v>
                </c:pt>
                <c:pt idx="2">
                  <c:v>1</c:v>
                </c:pt>
                <c:pt idx="3">
                  <c:v>1</c:v>
                </c:pt>
                <c:pt idx="4">
                  <c:v>1</c:v>
                </c:pt>
              </c:numCache>
            </c:numRef>
          </c:val>
          <c:smooth val="0"/>
        </c:ser>
        <c:ser>
          <c:idx val="1"/>
          <c:order val="1"/>
          <c:tx>
            <c:strRef>
              <c:f>Sheet1!$C$1</c:f>
              <c:strCache>
                <c:ptCount val="1"/>
                <c:pt idx="0">
                  <c:v>clean retrieval</c:v>
                </c:pt>
              </c:strCache>
            </c:strRef>
          </c:tx>
          <c:spPr>
            <a:solidFill>
              <a:srgbClr val="9CC5C0"/>
            </a:solidFill>
            <a:ln w="25400" cap="flat">
              <a:solidFill>
                <a:srgbClr val="9CC5C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CC5C0"/>
              </a:solidFill>
              <a:ln w="9525" cap="flat">
                <a:solidFill>
                  <a:srgbClr val="9CC5C0"/>
                </a:solidFill>
                <a:prstDash val="solid"/>
                <a:round/>
              </a:ln>
              <a:effectLst/>
            </c:spPr>
          </c:marker>
          <c:cat>
            <c:multiLvlStrRef>
              <c:f>Sheet1!$A$2:$A$6</c:f>
              <c:multiLvlStrCache>
                <c:ptCount val="5"/>
                <c:lvl>
                  <c:pt idx="0">
                    <c:v>1 day</c:v>
                  </c:pt>
                  <c:pt idx="1">
                    <c:v>3 days</c:v>
                  </c:pt>
                  <c:pt idx="2">
                    <c:v>7 days</c:v>
                  </c:pt>
                  <c:pt idx="3">
                    <c:v>14 days</c:v>
                  </c:pt>
                  <c:pt idx="4">
                    <c:v>30 days</c:v>
                  </c:pt>
                </c:lvl>
              </c:multiLvlStrCache>
            </c:multiLvlStrRef>
          </c:cat>
          <c:val>
            <c:numRef>
              <c:f>Sheet1!$C$2:$C$6</c:f>
              <c:numCache>
                <c:formatCode>General</c:formatCode>
                <c:ptCount val="5"/>
                <c:pt idx="0">
                  <c:v>0.573</c:v>
                </c:pt>
                <c:pt idx="1">
                  <c:v>0.573</c:v>
                </c:pt>
                <c:pt idx="2">
                  <c:v>0.573</c:v>
                </c:pt>
                <c:pt idx="3">
                  <c:v>0.573</c:v>
                </c:pt>
                <c:pt idx="4">
                  <c:v>0.573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legend>
      <c:legendPos val="b"/>
      <c:overlay val="0"/>
      <c:txPr>
        <a:bodyPr/>
        <a:lstStyle/>
        <a:p>
          <a:pPr>
            <a:defRPr sz="1000">
              <a:solidFill>
                <a:srgbClr val="7B879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wasted slots</c:v>
                </c:pt>
              </c:strCache>
            </c:strRef>
          </c:tx>
          <c:spPr>
            <a:solidFill>
              <a:srgbClr val="0F766E"/>
            </a:solidFill>
            <a:ln w="25400" cap="flat">
              <a:solidFill>
                <a:srgbClr val="0F766E"/>
              </a:solidFill>
              <a:prstDash val="solid"/>
              <a:round/>
            </a:ln>
            <a:effectLst/>
          </c:spPr>
          <c:invertIfNegative val="0"/>
          <c:dLbls>
            <c:numFmt formatCode="0.00" sourceLinked="0"/>
            <c:txPr>
              <a:bodyPr/>
              <a:lstStyle/>
              <a:p>
                <a:pPr>
                  <a:defRPr b="0" i="0" strike="noStrike" sz="1000" u="none">
                    <a:solidFill>
                      <a:srgbClr val="7B8794"/>
                    </a:solidFill>
                    <a:latin typeface="Calibri"/>
                  </a:defRPr>
                </a:pPr>
              </a:p>
            </c:txPr>
            <c:dLblPos val="t"/>
            <c:showLegendKey val="0"/>
            <c:showVal val="1"/>
            <c:showCatName val="0"/>
            <c:showSerName val="0"/>
            <c:showPercent val="0"/>
            <c:showBubbleSize val="0"/>
            <c:showLeaderLines val="0"/>
          </c:dLbls>
          <c:marker>
            <c:symbol val="circle"/>
            <c:size val="6"/>
            <c:spPr>
              <a:solidFill>
                <a:srgbClr val="0F766E"/>
              </a:solidFill>
              <a:ln w="9525" cap="flat">
                <a:solidFill>
                  <a:srgbClr val="0F766E"/>
                </a:solidFill>
                <a:prstDash val="solid"/>
                <a:round/>
              </a:ln>
              <a:effectLst/>
            </c:spPr>
          </c:marker>
          <c:cat>
            <c:multiLvlStrRef>
              <c:f>Sheet1!$A$2:$A$6</c:f>
              <c:multiLvlStrCache>
                <c:ptCount val="5"/>
                <c:lvl>
                  <c:pt idx="0">
                    <c:v>1 day</c:v>
                  </c:pt>
                  <c:pt idx="1">
                    <c:v>3 days</c:v>
                  </c:pt>
                  <c:pt idx="2">
                    <c:v>7 days</c:v>
                  </c:pt>
                  <c:pt idx="3">
                    <c:v>14 days</c:v>
                  </c:pt>
                  <c:pt idx="4">
                    <c:v>30 days</c:v>
                  </c:pt>
                </c:lvl>
              </c:multiLvlStrCache>
            </c:multiLvlStrRef>
          </c:cat>
          <c:val>
            <c:numRef>
              <c:f>Sheet1!$B$2:$B$6</c:f>
              <c:numCache>
                <c:formatCode>General</c:formatCode>
                <c:ptCount val="5"/>
                <c:pt idx="0">
                  <c:v>2.63</c:v>
                </c:pt>
                <c:pt idx="1">
                  <c:v>2.78</c:v>
                </c:pt>
                <c:pt idx="2">
                  <c:v>3.51</c:v>
                </c:pt>
                <c:pt idx="3">
                  <c:v>4.46</c:v>
                </c:pt>
                <c:pt idx="4">
                  <c:v>4.8</c:v>
                </c:pt>
              </c:numCache>
            </c:numRef>
          </c:val>
          <c:smooth val="0"/>
        </c:ser>
        <c:dLbls>
          <c:numFmt formatCode="0.00" sourceLinked="0"/>
          <c:txPr>
            <a:bodyPr/>
            <a:lstStyle/>
            <a:p>
              <a:pPr>
                <a:defRPr b="0" i="0" strike="noStrike" sz="1000" u="none">
                  <a:solidFill>
                    <a:srgbClr val="7B8794"/>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B8794"/>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2960" y="2651760"/>
            <a:ext cx="548640" cy="36576"/>
          </a:xfrm>
          <a:prstGeom prst="rect">
            <a:avLst/>
          </a:prstGeom>
          <a:solidFill>
            <a:srgbClr val="0F766E"/>
          </a:solidFill>
          <a:ln/>
        </p:spPr>
      </p:sp>
      <p:sp>
        <p:nvSpPr>
          <p:cNvPr id="3" name="Text 1"/>
          <p:cNvSpPr/>
          <p:nvPr/>
        </p:nvSpPr>
        <p:spPr>
          <a:xfrm>
            <a:off x="822960" y="2834640"/>
            <a:ext cx="10058400" cy="640080"/>
          </a:xfrm>
          <a:prstGeom prst="rect">
            <a:avLst/>
          </a:prstGeom>
          <a:noFill/>
          <a:ln/>
        </p:spPr>
        <p:txBody>
          <a:bodyPr wrap="square" rtlCol="0" anchor="ctr"/>
          <a:lstStyle/>
          <a:p>
            <a:pPr indent="0" marL="0">
              <a:buNone/>
            </a:pPr>
            <a:r>
              <a:rPr lang="en-US" sz="3800" b="1" dirty="0">
                <a:solidFill>
                  <a:srgbClr val="1F2933"/>
                </a:solidFill>
                <a:latin typeface="Calibri" pitchFamily="34" charset="0"/>
                <a:ea typeface="Calibri" pitchFamily="34" charset="-122"/>
                <a:cs typeface="Calibri" pitchFamily="34" charset="-120"/>
              </a:rPr>
              <a:t>Weekly update</a:t>
            </a:r>
            <a:endParaRPr lang="en-US" sz="3800" dirty="0"/>
          </a:p>
        </p:txBody>
      </p:sp>
      <p:sp>
        <p:nvSpPr>
          <p:cNvPr id="4" name="Text 2"/>
          <p:cNvSpPr/>
          <p:nvPr/>
        </p:nvSpPr>
        <p:spPr>
          <a:xfrm>
            <a:off x="822960" y="3520440"/>
            <a:ext cx="10058400" cy="411480"/>
          </a:xfrm>
          <a:prstGeom prst="rect">
            <a:avLst/>
          </a:prstGeom>
          <a:noFill/>
          <a:ln/>
        </p:spPr>
        <p:txBody>
          <a:bodyPr wrap="square" rtlCol="0" anchor="ctr"/>
          <a:lstStyle/>
          <a:p>
            <a:pPr indent="0" marL="0">
              <a:buNone/>
            </a:pPr>
            <a:r>
              <a:rPr lang="en-US" sz="1600" dirty="0">
                <a:solidFill>
                  <a:srgbClr val="7B8794"/>
                </a:solidFill>
                <a:latin typeface="Calibri" pitchFamily="34" charset="0"/>
                <a:ea typeface="Calibri" pitchFamily="34" charset="-122"/>
                <a:cs typeface="Calibri" pitchFamily="34" charset="-120"/>
              </a:rPr>
              <a:t>Statistical significance, and the grace period experiment for P2</a:t>
            </a:r>
            <a:endParaRPr lang="en-US" sz="1600" dirty="0"/>
          </a:p>
        </p:txBody>
      </p:sp>
      <p:sp>
        <p:nvSpPr>
          <p:cNvPr id="5" name="Text 3"/>
          <p:cNvSpPr/>
          <p:nvPr/>
        </p:nvSpPr>
        <p:spPr>
          <a:xfrm>
            <a:off x="822960" y="4251960"/>
            <a:ext cx="10058400" cy="3200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Nandan Hemanth  ·  10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THIS WEEK</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Two experiments</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2011680"/>
            <a:ext cx="10881360" cy="2743200"/>
          </a:xfrm>
          <a:prstGeom prst="rect">
            <a:avLst/>
          </a:prstGeom>
          <a:noFill/>
          <a:ln/>
        </p:spPr>
        <p:txBody>
          <a:bodyPr wrap="square" rtlCol="0" anchor="t"/>
          <a:lstStyle/>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Significance testing. Every policy answers the same question set, so the comparisons are paired. I recomputed the exact p-values behind the headline claims rather than quoting a threshold.</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Grace period sweep for P2. Rebuilt the pipeline to accept the grace period as a variable, then measured retrieval directly at 0, 1, 3, 7, 14 and 30 days. That range brackets the 1 to 21 the committee asked about.</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The sweep costs nothing. Extraction comes from the run cache and embeddings are local, so no answer or judge calls are made. 382 facts, 96 questions, every value measured on identical inputs.</a:t>
            </a:r>
            <a:endParaRPr lang="en-US" sz="1500" dirty="0"/>
          </a:p>
        </p:txBody>
      </p:sp>
      <p:sp>
        <p:nvSpPr>
          <p:cNvPr id="6" name="Shape 4"/>
          <p:cNvSpPr/>
          <p:nvPr/>
        </p:nvSpPr>
        <p:spPr>
          <a:xfrm>
            <a:off x="640080" y="4983480"/>
            <a:ext cx="10881360" cy="960120"/>
          </a:xfrm>
          <a:prstGeom prst="rect">
            <a:avLst/>
          </a:prstGeom>
          <a:solidFill>
            <a:srgbClr val="F7F8F9"/>
          </a:solidFill>
          <a:ln/>
        </p:spPr>
      </p:sp>
      <p:sp>
        <p:nvSpPr>
          <p:cNvPr id="7" name="Shape 5"/>
          <p:cNvSpPr/>
          <p:nvPr/>
        </p:nvSpPr>
        <p:spPr>
          <a:xfrm>
            <a:off x="640080" y="4983480"/>
            <a:ext cx="41148" cy="960120"/>
          </a:xfrm>
          <a:prstGeom prst="rect">
            <a:avLst/>
          </a:prstGeom>
          <a:solidFill>
            <a:srgbClr val="0F766E"/>
          </a:solidFill>
          <a:ln/>
        </p:spPr>
      </p:sp>
      <p:sp>
        <p:nvSpPr>
          <p:cNvPr id="8" name="Text 6"/>
          <p:cNvSpPr/>
          <p:nvPr/>
        </p:nvSpPr>
        <p:spPr>
          <a:xfrm>
            <a:off x="914400" y="5129784"/>
            <a:ext cx="10332720" cy="685800"/>
          </a:xfrm>
          <a:prstGeom prst="rect">
            <a:avLst/>
          </a:prstGeom>
          <a:noFill/>
          <a:ln/>
        </p:spPr>
        <p:txBody>
          <a:bodyPr wrap="square"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What the sweep can and cannot do. </a:t>
            </a:r>
            <a:pPr indent="0" marL="0">
              <a:buNone/>
            </a:pPr>
            <a:r>
              <a:rPr lang="en-US" sz="1350" dirty="0">
                <a:solidFill>
                  <a:srgbClr val="1F2933"/>
                </a:solidFill>
                <a:latin typeface="Calibri" pitchFamily="34" charset="0"/>
                <a:ea typeface="Calibri" pitchFamily="34" charset="-122"/>
                <a:cs typeface="Calibri" pitchFamily="34" charset="-120"/>
              </a:rPr>
              <a:t>It measures what retrieval makes possible, before any model runs. It shows which grace values could differ. Confirming which one is best still needs the real pipeline, and those runs are built but not yet run.</a:t>
            </a:r>
            <a:endParaRPr lang="en-US" sz="1350" dirty="0"/>
          </a:p>
        </p:txBody>
      </p:sp>
      <p:sp>
        <p:nvSpPr>
          <p:cNvPr id="9" name="Text 7"/>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8"/>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WHAT IT IS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The probability of seeing evidence this lopsided by luck alone</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2011680"/>
            <a:ext cx="10881360" cy="2926080"/>
          </a:xfrm>
          <a:prstGeom prst="rect">
            <a:avLst/>
          </a:prstGeom>
          <a:noFill/>
          <a:ln/>
        </p:spPr>
        <p:txBody>
          <a:bodyPr wrap="square" rtlCol="0" anchor="t"/>
          <a:lstStyle/>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Start by assuming the boring explanation is true. Here that assumption, the null hypothesis, is that two policies are equally good and any gap between them is noise.</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Then ask: if that were true, how often would an experiment produce a result at least as extreme as the one I actually got?</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That probability is the p-value. A small value means luck is a poor explanation for what I measured, so something real is likely driving the difference.</a:t>
            </a:r>
            <a:endParaRPr lang="en-US" sz="1500" dirty="0"/>
          </a:p>
          <a:p>
            <a:pPr marL="342900" indent="-342900">
              <a:lnSpc>
                <a:spcPts val="2400"/>
              </a:lnSpc>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It is not the probability that the hypothesis is true, and it is not a measure of how large the effect is. It only speaks to whether chance alone can account for the pattern.</a:t>
            </a:r>
            <a:endParaRPr lang="en-US" sz="1500" dirty="0"/>
          </a:p>
        </p:txBody>
      </p:sp>
      <p:sp>
        <p:nvSpPr>
          <p:cNvPr id="6" name="Shape 4"/>
          <p:cNvSpPr/>
          <p:nvPr/>
        </p:nvSpPr>
        <p:spPr>
          <a:xfrm>
            <a:off x="640080" y="5120640"/>
            <a:ext cx="10881360" cy="822960"/>
          </a:xfrm>
          <a:prstGeom prst="rect">
            <a:avLst/>
          </a:prstGeom>
          <a:solidFill>
            <a:srgbClr val="F7F8F9"/>
          </a:solidFill>
          <a:ln/>
        </p:spPr>
      </p:sp>
      <p:sp>
        <p:nvSpPr>
          <p:cNvPr id="7" name="Shape 5"/>
          <p:cNvSpPr/>
          <p:nvPr/>
        </p:nvSpPr>
        <p:spPr>
          <a:xfrm>
            <a:off x="640080" y="5120640"/>
            <a:ext cx="41148" cy="822960"/>
          </a:xfrm>
          <a:prstGeom prst="rect">
            <a:avLst/>
          </a:prstGeom>
          <a:solidFill>
            <a:srgbClr val="0F766E"/>
          </a:solidFill>
          <a:ln/>
        </p:spPr>
      </p:sp>
      <p:sp>
        <p:nvSpPr>
          <p:cNvPr id="8" name="Text 6"/>
          <p:cNvSpPr/>
          <p:nvPr/>
        </p:nvSpPr>
        <p:spPr>
          <a:xfrm>
            <a:off x="914400" y="5266944"/>
            <a:ext cx="10332720" cy="548640"/>
          </a:xfrm>
          <a:prstGeom prst="rect">
            <a:avLst/>
          </a:prstGeom>
          <a:noFill/>
          <a:ln/>
        </p:spPr>
        <p:txBody>
          <a:bodyPr wrap="square" rtlCol="0" anchor="t"/>
          <a:lstStyle/>
          <a:p>
            <a:pPr indent="0" marL="0">
              <a:buNone/>
            </a:pPr>
            <a:r>
              <a:rPr lang="en-US" sz="1350" dirty="0">
                <a:solidFill>
                  <a:srgbClr val="1F2933"/>
                </a:solidFill>
                <a:latin typeface="Calibri" pitchFamily="34" charset="0"/>
                <a:ea typeface="Calibri" pitchFamily="34" charset="-122"/>
                <a:cs typeface="Calibri" pitchFamily="34" charset="-120"/>
              </a:rPr>
              <a:t>Convention: below 0.05 counts as significant, below 0.001 as strong evidence. Those are thresholds, not laws of nature.</a:t>
            </a:r>
            <a:endParaRPr lang="en-US" sz="1350" dirty="0"/>
          </a:p>
        </p:txBody>
      </p:sp>
      <p:sp>
        <p:nvSpPr>
          <p:cNvPr id="9" name="Text 7"/>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8"/>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HOW IT IS DERIVED</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Only the questions where the two policies disagree carry information</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1874520"/>
            <a:ext cx="5669280" cy="2377440"/>
          </a:xfrm>
          <a:prstGeom prst="rect">
            <a:avLst/>
          </a:prstGeom>
          <a:noFill/>
          <a:ln/>
        </p:spPr>
        <p:txBody>
          <a:bodyPr wrap="square" rtlCol="0" anchor="t"/>
          <a:lstStyle/>
          <a:p>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1.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Throw away every question where P2 and P5 agreed. If both were right, or both wrong, neither policy is shown to be better.
</a:t>
            </a:r>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2.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Count what is left, the discordant pairs. On MQuAKE-T accuracy there are 36 of them.
</a:t>
            </a:r>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3.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Under the null, each of those 36 is a coin flip, so a fair split would be about 18 and 18.
</a:t>
            </a:r>
            <a:pPr indent="0" marL="0">
              <a:lnSpc>
                <a:spcPts val="2100"/>
              </a:lnSpc>
              <a:buNone/>
            </a:pPr>
            <a:r>
              <a:rPr lang="en-US" sz="1350" b="1" dirty="0">
                <a:solidFill>
                  <a:srgbClr val="1F2933"/>
                </a:solidFill>
                <a:latin typeface="Calibri" pitchFamily="34" charset="0"/>
                <a:ea typeface="Calibri" pitchFamily="34" charset="-122"/>
                <a:cs typeface="Calibri" pitchFamily="34" charset="-120"/>
              </a:rPr>
              <a:t>Step 4. </a:t>
            </a:r>
            <a:pPr indent="0" marL="0">
              <a:lnSpc>
                <a:spcPts val="2100"/>
              </a:lnSpc>
              <a:buNone/>
            </a:pPr>
            <a:r>
              <a:rPr lang="en-US" sz="1350" dirty="0">
                <a:solidFill>
                  <a:srgbClr val="1F2933"/>
                </a:solidFill>
                <a:latin typeface="Calibri" pitchFamily="34" charset="0"/>
                <a:ea typeface="Calibri" pitchFamily="34" charset="-122"/>
                <a:cs typeface="Calibri" pitchFamily="34" charset="-120"/>
              </a:rPr>
              <a:t>Compute how often chance produces a split at least as lopsided as the one observed. That is McNemar's exact test.</a:t>
            </a:r>
            <a:endParaRPr lang="en-US" sz="1350" dirty="0"/>
          </a:p>
        </p:txBody>
      </p:sp>
      <p:graphicFrame>
        <p:nvGraphicFramePr>
          <p:cNvPr id="6" name="Chart 0" descr=""/>
          <p:cNvGraphicFramePr/>
          <p:nvPr/>
        </p:nvGraphicFramePr>
        <p:xfrm>
          <a:off x="6492240" y="1783080"/>
          <a:ext cx="502920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492240" y="4480560"/>
            <a:ext cx="5029200" cy="274320"/>
          </a:xfrm>
          <a:prstGeom prst="rect">
            <a:avLst/>
          </a:prstGeom>
          <a:noFill/>
          <a:ln/>
        </p:spPr>
        <p:txBody>
          <a:bodyPr wrap="square" rtlCol="0" anchor="ctr"/>
          <a:lstStyle/>
          <a:p>
            <a:pPr algn="ctr" indent="0" marL="0">
              <a:buNone/>
            </a:pPr>
            <a:r>
              <a:rPr lang="en-US" sz="1150" dirty="0">
                <a:solidFill>
                  <a:srgbClr val="7B8794"/>
                </a:solidFill>
                <a:latin typeface="Calibri" pitchFamily="34" charset="0"/>
                <a:ea typeface="Calibri" pitchFamily="34" charset="-122"/>
                <a:cs typeface="Calibri" pitchFamily="34" charset="-120"/>
              </a:rPr>
              <a:t>chance predicts 18 and 18</a:t>
            </a:r>
            <a:endParaRPr lang="en-US" sz="1150" dirty="0"/>
          </a:p>
        </p:txBody>
      </p:sp>
      <p:sp>
        <p:nvSpPr>
          <p:cNvPr id="8" name="Shape 5"/>
          <p:cNvSpPr/>
          <p:nvPr/>
        </p:nvSpPr>
        <p:spPr>
          <a:xfrm>
            <a:off x="640080" y="4892040"/>
            <a:ext cx="10881360" cy="1143000"/>
          </a:xfrm>
          <a:prstGeom prst="rect">
            <a:avLst/>
          </a:prstGeom>
          <a:solidFill>
            <a:srgbClr val="F7F8F9"/>
          </a:solidFill>
          <a:ln/>
        </p:spPr>
      </p:sp>
      <p:sp>
        <p:nvSpPr>
          <p:cNvPr id="9" name="Shape 6"/>
          <p:cNvSpPr/>
          <p:nvPr/>
        </p:nvSpPr>
        <p:spPr>
          <a:xfrm>
            <a:off x="640080" y="4892040"/>
            <a:ext cx="41148" cy="1143000"/>
          </a:xfrm>
          <a:prstGeom prst="rect">
            <a:avLst/>
          </a:prstGeom>
          <a:solidFill>
            <a:srgbClr val="0F766E"/>
          </a:solidFill>
          <a:ln/>
        </p:spPr>
      </p:sp>
      <p:sp>
        <p:nvSpPr>
          <p:cNvPr id="10" name="Text 7"/>
          <p:cNvSpPr/>
          <p:nvPr/>
        </p:nvSpPr>
        <p:spPr>
          <a:xfrm>
            <a:off x="914400" y="5038344"/>
            <a:ext cx="10332720" cy="868680"/>
          </a:xfrm>
          <a:prstGeom prst="rect">
            <a:avLst/>
          </a:prstGeom>
          <a:noFill/>
          <a:ln/>
        </p:spPr>
        <p:txBody>
          <a:bodyPr wrap="square"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The arithmetic, in full:   </a:t>
            </a:r>
            <a:pPr indent="0" marL="0">
              <a:buNone/>
            </a:pPr>
            <a:r>
              <a:rPr lang="en-US" sz="1300" dirty="0">
                <a:solidFill>
                  <a:srgbClr val="1F2933"/>
                </a:solidFill>
                <a:latin typeface="Calibri" pitchFamily="34" charset="0"/>
                <a:ea typeface="Calibri" pitchFamily="34" charset="-122"/>
                <a:cs typeface="Calibri" pitchFamily="34" charset="-120"/>
              </a:rPr>
              <a:t>p  =  2 × [ C(36,0) + C(36,1) + C(36,2) ] ÷ 2³⁶  =  2 × 667 ÷ 68,719,476,736  =  0.000000019
</a:t>
            </a:r>
            <a:pPr indent="0" marL="0">
              <a:buNone/>
            </a:pPr>
            <a:r>
              <a:rPr lang="en-US" sz="1300" dirty="0">
                <a:solidFill>
                  <a:srgbClr val="1F2933"/>
                </a:solidFill>
                <a:latin typeface="Calibri" pitchFamily="34" charset="0"/>
                <a:ea typeface="Calibri" pitchFamily="34" charset="-122"/>
                <a:cs typeface="Calibri" pitchFamily="34" charset="-120"/>
              </a:rPr>
              <a:t>The tables report this as p &lt; 0.001, which is conservative. The true figure is about two in a hundred million.</a:t>
            </a:r>
            <a:endParaRPr lang="en-US" sz="1300" dirty="0"/>
          </a:p>
        </p:txBody>
      </p:sp>
      <p:sp>
        <p:nvSpPr>
          <p:cNvPr id="11" name="Text 8"/>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2" name="Text 9"/>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WHY 34 TO 2 IS EXTREME</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What chance actually produces, across 36 coin flips</a:t>
            </a:r>
            <a:endParaRPr lang="en-US" sz="2500" dirty="0"/>
          </a:p>
        </p:txBody>
      </p:sp>
      <p:sp>
        <p:nvSpPr>
          <p:cNvPr id="4" name="Shape 2"/>
          <p:cNvSpPr/>
          <p:nvPr/>
        </p:nvSpPr>
        <p:spPr>
          <a:xfrm>
            <a:off x="640080" y="1298448"/>
            <a:ext cx="548640" cy="32004"/>
          </a:xfrm>
          <a:prstGeom prst="rect">
            <a:avLst/>
          </a:prstGeom>
          <a:solidFill>
            <a:srgbClr val="0F766E"/>
          </a:solidFill>
          <a:ln/>
        </p:spPr>
      </p:sp>
      <p:graphicFrame>
        <p:nvGraphicFramePr>
          <p:cNvPr id="5" name="Chart 0" descr=""/>
          <p:cNvGraphicFramePr/>
          <p:nvPr/>
        </p:nvGraphicFramePr>
        <p:xfrm>
          <a:off x="640080" y="1783080"/>
          <a:ext cx="768096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726680" y="3017520"/>
            <a:ext cx="1097280" cy="640080"/>
          </a:xfrm>
          <a:prstGeom prst="rect">
            <a:avLst/>
          </a:prstGeom>
          <a:noFill/>
          <a:ln/>
        </p:spPr>
        <p:txBody>
          <a:bodyPr wrap="square"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observed result</a:t>
            </a:r>
            <a:endParaRPr lang="en-US" sz="1100" dirty="0"/>
          </a:p>
          <a:p>
            <a:pPr algn="ctr" indent="0" marL="0">
              <a:buNone/>
            </a:pPr>
            <a:r>
              <a:rPr lang="en-US" sz="1100" b="1" dirty="0">
                <a:solidFill>
                  <a:srgbClr val="0F766E"/>
                </a:solidFill>
                <a:latin typeface="Calibri" pitchFamily="34" charset="0"/>
                <a:ea typeface="Calibri" pitchFamily="34" charset="-122"/>
                <a:cs typeface="Calibri" pitchFamily="34" charset="-120"/>
              </a:rPr>
              <a:t>sits here</a:t>
            </a:r>
            <a:endParaRPr lang="en-US" sz="1100" dirty="0"/>
          </a:p>
        </p:txBody>
      </p:sp>
      <p:sp>
        <p:nvSpPr>
          <p:cNvPr id="7" name="Text 4"/>
          <p:cNvSpPr/>
          <p:nvPr/>
        </p:nvSpPr>
        <p:spPr>
          <a:xfrm>
            <a:off x="640080" y="4800600"/>
            <a:ext cx="7680960" cy="274320"/>
          </a:xfrm>
          <a:prstGeom prst="rect">
            <a:avLst/>
          </a:prstGeom>
          <a:noFill/>
          <a:ln/>
        </p:spPr>
        <p:txBody>
          <a:bodyPr wrap="square" rtlCol="0" anchor="ctr"/>
          <a:lstStyle/>
          <a:p>
            <a:pPr algn="ctr" indent="0" marL="0">
              <a:buNone/>
            </a:pPr>
            <a:r>
              <a:rPr lang="en-US" sz="1100" dirty="0">
                <a:solidFill>
                  <a:srgbClr val="7B8794"/>
                </a:solidFill>
                <a:latin typeface="Calibri" pitchFamily="34" charset="0"/>
                <a:ea typeface="Calibri" pitchFamily="34" charset="-122"/>
                <a:cs typeface="Calibri" pitchFamily="34" charset="-120"/>
              </a:rPr>
              <a:t>number of the 36 disagreements that favour P2</a:t>
            </a:r>
            <a:endParaRPr lang="en-US" sz="1100" dirty="0"/>
          </a:p>
        </p:txBody>
      </p:sp>
      <p:sp>
        <p:nvSpPr>
          <p:cNvPr id="8" name="Text 5"/>
          <p:cNvSpPr/>
          <p:nvPr/>
        </p:nvSpPr>
        <p:spPr>
          <a:xfrm>
            <a:off x="8778240" y="1920240"/>
            <a:ext cx="2743200" cy="2743200"/>
          </a:xfrm>
          <a:prstGeom prst="rect">
            <a:avLst/>
          </a:prstGeom>
          <a:noFill/>
          <a:ln/>
        </p:spPr>
        <p:txBody>
          <a:bodyPr wrap="square" rtlCol="0" anchor="t"/>
          <a:lstStyle/>
          <a:p>
            <a:pPr indent="0" marL="0">
              <a:lnSpc>
                <a:spcPts val="2000"/>
              </a:lnSpc>
              <a:buNone/>
            </a:pPr>
            <a:r>
              <a:rPr lang="en-US" sz="1300" b="1" dirty="0">
                <a:solidFill>
                  <a:srgbClr val="1F2933"/>
                </a:solidFill>
                <a:latin typeface="Calibri" pitchFamily="34" charset="0"/>
                <a:ea typeface="Calibri" pitchFamily="34" charset="-122"/>
                <a:cs typeface="Calibri" pitchFamily="34" charset="-120"/>
              </a:rPr>
              <a:t>Chance clusters around 18.
</a:t>
            </a:r>
            <a:pPr indent="0" marL="0">
              <a:lnSpc>
                <a:spcPts val="2000"/>
              </a:lnSpc>
              <a:buNone/>
            </a:pPr>
            <a:r>
              <a:rPr lang="en-US" sz="1300" dirty="0">
                <a:solidFill>
                  <a:srgbClr val="1F2933"/>
                </a:solidFill>
                <a:latin typeface="Calibri" pitchFamily="34" charset="0"/>
                <a:ea typeface="Calibri" pitchFamily="34" charset="-122"/>
                <a:cs typeface="Calibri" pitchFamily="34" charset="-120"/>
              </a:rPr>
              <a:t>Splits of 15 to 21 are ordinary. A split of 34 to 2 is so far into the tail that its bar has no visible height on this axis.
</a:t>
            </a:r>
            <a:pPr indent="0" marL="0">
              <a:lnSpc>
                <a:spcPts val="2000"/>
              </a:lnSpc>
              <a:buNone/>
            </a:pPr>
            <a:r>
              <a:rPr lang="en-US" sz="1300" b="1" dirty="0">
                <a:solidFill>
                  <a:srgbClr val="1F2933"/>
                </a:solidFill>
                <a:latin typeface="Calibri" pitchFamily="34" charset="0"/>
                <a:ea typeface="Calibri" pitchFamily="34" charset="-122"/>
                <a:cs typeface="Calibri" pitchFamily="34" charset="-120"/>
              </a:rPr>
              <a:t>That invisibility is the result. </a:t>
            </a:r>
            <a:pPr indent="0" marL="0">
              <a:lnSpc>
                <a:spcPts val="2000"/>
              </a:lnSpc>
              <a:buNone/>
            </a:pPr>
            <a:r>
              <a:rPr lang="en-US" sz="1300" dirty="0">
                <a:solidFill>
                  <a:srgbClr val="1F2933"/>
                </a:solidFill>
                <a:latin typeface="Calibri" pitchFamily="34" charset="0"/>
                <a:ea typeface="Calibri" pitchFamily="34" charset="-122"/>
                <a:cs typeface="Calibri" pitchFamily="34" charset="-120"/>
              </a:rPr>
              <a:t>The gap between P2 and P5 is not something a coin could plausibly have produced.</a:t>
            </a:r>
            <a:endParaRPr lang="en-US" sz="1300" dirty="0"/>
          </a:p>
        </p:txBody>
      </p:sp>
      <p:sp>
        <p:nvSpPr>
          <p:cNvPr id="9" name="Text 6"/>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7"/>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P-VALUE  ·  WHAT IT MEANS FOR THIS THESIS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Significance and importance are different questions</a:t>
            </a:r>
            <a:endParaRPr lang="en-US" sz="2500" dirty="0"/>
          </a:p>
        </p:txBody>
      </p:sp>
      <p:sp>
        <p:nvSpPr>
          <p:cNvPr id="4" name="Shape 2"/>
          <p:cNvSpPr/>
          <p:nvPr/>
        </p:nvSpPr>
        <p:spPr>
          <a:xfrm>
            <a:off x="640080" y="1298448"/>
            <a:ext cx="548640" cy="32004"/>
          </a:xfrm>
          <a:prstGeom prst="rect">
            <a:avLst/>
          </a:prstGeom>
          <a:solidFill>
            <a:srgbClr val="0F766E"/>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881360" cy="914400"/>
        </p:xfrm>
        <a:graphic>
          <a:graphicData uri="http://schemas.openxmlformats.org/drawingml/2006/table">
            <a:tbl>
              <a:tblPr/>
              <a:tblGrid>
                <a:gridCol w="3840480"/>
                <a:gridCol w="1828800"/>
                <a:gridCol w="1737360"/>
                <a:gridCol w="3474720"/>
              </a:tblGrid>
              <a:tr h="365760">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comparison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difference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p-value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reading</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P5, accuracy</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+0.167</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real and large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P5, staleness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-0.177</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real and large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P0, accuracy</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no difference detectable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P4, accuracy</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+0.016</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0.549</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inside noise, not interpreted</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P2 against P5 on FactConsolidation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+0.045</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0.022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real but weaker</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434840"/>
            <a:ext cx="10881360" cy="1600200"/>
          </a:xfrm>
          <a:prstGeom prst="rect">
            <a:avLst/>
          </a:prstGeom>
          <a:solidFill>
            <a:srgbClr val="F7F8F9"/>
          </a:solidFill>
          <a:ln/>
        </p:spPr>
      </p:sp>
      <p:sp>
        <p:nvSpPr>
          <p:cNvPr id="7" name="Shape 4"/>
          <p:cNvSpPr/>
          <p:nvPr/>
        </p:nvSpPr>
        <p:spPr>
          <a:xfrm>
            <a:off x="640080" y="4434840"/>
            <a:ext cx="41148" cy="1600200"/>
          </a:xfrm>
          <a:prstGeom prst="rect">
            <a:avLst/>
          </a:prstGeom>
          <a:solidFill>
            <a:srgbClr val="0F766E"/>
          </a:solidFill>
          <a:ln/>
        </p:spPr>
      </p:sp>
      <p:sp>
        <p:nvSpPr>
          <p:cNvPr id="8" name="Text 5"/>
          <p:cNvSpPr/>
          <p:nvPr/>
        </p:nvSpPr>
        <p:spPr>
          <a:xfrm>
            <a:off x="914400" y="4581144"/>
            <a:ext cx="10332720" cy="1325880"/>
          </a:xfrm>
          <a:prstGeom prst="rect">
            <a:avLst/>
          </a:prstGeom>
          <a:noFill/>
          <a:ln/>
        </p:spPr>
        <p:txBody>
          <a:bodyPr wrap="square"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A small p-value alone does not make a result worth reporting. </a:t>
            </a:r>
            <a:pPr indent="0" marL="0">
              <a:buNone/>
            </a:pPr>
            <a:r>
              <a:rPr lang="en-US" sz="1300" dirty="0">
                <a:solidFill>
                  <a:srgbClr val="1F2933"/>
                </a:solidFill>
                <a:latin typeface="Calibri" pitchFamily="34" charset="0"/>
                <a:ea typeface="Calibri" pitchFamily="34" charset="-122"/>
                <a:cs typeface="Calibri" pitchFamily="34" charset="-120"/>
              </a:rPr>
              <a:t>The judge-reliability audit put the noise floor at roughly 3 accuracy points, so any gap smaller than that is not interpreted here whatever its p-value. That is why P2 against P4 is left alone at 1.6 points.</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The P2 against P5 result clears the floor five times over and has a p-value near zero, which is why it carries the strongest claim in the thesis.</a:t>
            </a:r>
            <a:endParaRPr lang="en-US" sz="1300" dirty="0"/>
          </a:p>
        </p:txBody>
      </p:sp>
      <p:sp>
        <p:nvSpPr>
          <p:cNvPr id="9" name="Text 6"/>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7"/>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GRACE PERIOD  ·  WHAT IT IS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How long a superseded fact stays in storage before deletion</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2011680"/>
            <a:ext cx="10881360" cy="3017520"/>
          </a:xfrm>
          <a:prstGeom prst="rect">
            <a:avLst/>
          </a:prstGeom>
          <a:noFill/>
          <a:ln/>
        </p:spPr>
        <p:txBody>
          <a:bodyPr wrap="square" rtlCol="0" anchor="t"/>
          <a:lstStyle/>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When a new fact contradicts an old one, P2 does not delete the old fact. It closes its validity window and leaves it in place, so the history stays intact.</a:t>
            </a:r>
            <a:endParaRPr lang="en-US" sz="1450" dirty="0"/>
          </a:p>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Retrieval then excludes any fact whose window is closed, every time, no matter how old the closure is.</a:t>
            </a:r>
            <a:endParaRPr lang="en-US" sz="1450" dirty="0"/>
          </a:p>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The grace period governs the separate question of when that closed fact is physically pruned from storage.</a:t>
            </a:r>
            <a:endParaRPr lang="en-US" sz="1450" dirty="0"/>
          </a:p>
          <a:p>
            <a:pPr marL="342900" indent="-342900">
              <a:lnSpc>
                <a:spcPts val="2400"/>
              </a:lnSpc>
              <a:spcAft>
                <a:spcPts val="1200"/>
              </a:spcAft>
              <a:buSzPct val="100000"/>
              <a:buChar char="•"/>
            </a:pPr>
            <a:r>
              <a:rPr lang="en-US" sz="1450" dirty="0">
                <a:solidFill>
                  <a:srgbClr val="1F2933"/>
                </a:solidFill>
                <a:latin typeface="Calibri" pitchFamily="34" charset="0"/>
                <a:ea typeface="Calibri" pitchFamily="34" charset="-122"/>
                <a:cs typeface="Calibri" pitchFamily="34" charset="-120"/>
              </a:rPr>
              <a:t>This is the important part: because retrieval already filters closed facts by validity rather than by age, the grace period can never decide whether a stale fact reaches the model. It can only decide how long that dead fact keeps occupying one of the 25 retrieval slots before pruning frees it.</a:t>
            </a:r>
            <a:endParaRPr lang="en-US" sz="1450" dirty="0"/>
          </a:p>
        </p:txBody>
      </p:sp>
      <p:sp>
        <p:nvSpPr>
          <p:cNvPr id="6" name="Shape 4"/>
          <p:cNvSpPr/>
          <p:nvPr/>
        </p:nvSpPr>
        <p:spPr>
          <a:xfrm>
            <a:off x="640080" y="5212080"/>
            <a:ext cx="10881360" cy="777240"/>
          </a:xfrm>
          <a:prstGeom prst="rect">
            <a:avLst/>
          </a:prstGeom>
          <a:solidFill>
            <a:srgbClr val="F7F8F9"/>
          </a:solidFill>
          <a:ln/>
        </p:spPr>
      </p:sp>
      <p:sp>
        <p:nvSpPr>
          <p:cNvPr id="7" name="Shape 5"/>
          <p:cNvSpPr/>
          <p:nvPr/>
        </p:nvSpPr>
        <p:spPr>
          <a:xfrm>
            <a:off x="640080" y="5212080"/>
            <a:ext cx="41148" cy="777240"/>
          </a:xfrm>
          <a:prstGeom prst="rect">
            <a:avLst/>
          </a:prstGeom>
          <a:solidFill>
            <a:srgbClr val="0F766E"/>
          </a:solidFill>
          <a:ln/>
        </p:spPr>
      </p:sp>
      <p:sp>
        <p:nvSpPr>
          <p:cNvPr id="8" name="Text 6"/>
          <p:cNvSpPr/>
          <p:nvPr/>
        </p:nvSpPr>
        <p:spPr>
          <a:xfrm>
            <a:off x="914400" y="5358384"/>
            <a:ext cx="10332720" cy="502920"/>
          </a:xfrm>
          <a:prstGeom prst="rect">
            <a:avLst/>
          </a:prstGeom>
          <a:noFill/>
          <a:ln/>
        </p:spPr>
        <p:txBody>
          <a:bodyPr wrap="square" rtlCol="0" anchor="t"/>
          <a:lstStyle/>
          <a:p>
            <a:pPr indent="0" marL="0">
              <a:buNone/>
            </a:pPr>
            <a:r>
              <a:rPr lang="en-US" sz="1350" dirty="0">
                <a:solidFill>
                  <a:srgbClr val="1F2933"/>
                </a:solidFill>
                <a:latin typeface="Calibri" pitchFamily="34" charset="0"/>
                <a:ea typeface="Calibri" pitchFamily="34" charset="-122"/>
                <a:cs typeface="Calibri" pitchFamily="34" charset="-120"/>
              </a:rPr>
              <a:t>Prediction before running anything: correctness should be flat across every grace value, and only cost should move.</a:t>
            </a:r>
            <a:endParaRPr lang="en-US" sz="1350" dirty="0"/>
          </a:p>
        </p:txBody>
      </p:sp>
      <p:sp>
        <p:nvSpPr>
          <p:cNvPr id="9" name="Text 7"/>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8"/>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GRACE PERIOD  ·  THE EXPERIMENT</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Correctness does not move. Cost does.</a:t>
            </a:r>
            <a:endParaRPr lang="en-US" sz="2500" dirty="0"/>
          </a:p>
        </p:txBody>
      </p:sp>
      <p:sp>
        <p:nvSpPr>
          <p:cNvPr id="4" name="Text 2"/>
          <p:cNvSpPr/>
          <p:nvPr/>
        </p:nvSpPr>
        <p:spPr>
          <a:xfrm>
            <a:off x="640080" y="1207008"/>
            <a:ext cx="10881360" cy="365760"/>
          </a:xfrm>
          <a:prstGeom prst="rect">
            <a:avLst/>
          </a:prstGeom>
          <a:noFill/>
          <a:ln/>
        </p:spPr>
        <p:txBody>
          <a:bodyPr wrap="square" rtlCol="0" anchor="ctr"/>
          <a:lstStyle/>
          <a:p>
            <a:pPr indent="0" marL="0">
              <a:buNone/>
            </a:pPr>
            <a:r>
              <a:rPr lang="en-US" sz="1400" dirty="0">
                <a:solidFill>
                  <a:srgbClr val="7B8794"/>
                </a:solidFill>
                <a:latin typeface="Calibri" pitchFamily="34" charset="0"/>
                <a:ea typeface="Calibri" pitchFamily="34" charset="-122"/>
                <a:cs typeface="Calibri" pitchFamily="34" charset="-120"/>
              </a:rPr>
              <a:t>Retrieval measured at every grace value on identical inputs: 382 facts, 96 questions, k = 25.</a:t>
            </a:r>
            <a:endParaRPr lang="en-US" sz="1400" dirty="0"/>
          </a:p>
        </p:txBody>
      </p:sp>
      <p:sp>
        <p:nvSpPr>
          <p:cNvPr id="5" name="Shape 3"/>
          <p:cNvSpPr/>
          <p:nvPr/>
        </p:nvSpPr>
        <p:spPr>
          <a:xfrm>
            <a:off x="640080" y="1627632"/>
            <a:ext cx="548640" cy="32004"/>
          </a:xfrm>
          <a:prstGeom prst="rect">
            <a:avLst/>
          </a:prstGeom>
          <a:solidFill>
            <a:srgbClr val="0F766E"/>
          </a:solidFill>
          <a:ln/>
        </p:spPr>
      </p:sp>
      <p:sp>
        <p:nvSpPr>
          <p:cNvPr id="6" name="Text 4"/>
          <p:cNvSpPr/>
          <p:nvPr/>
        </p:nvSpPr>
        <p:spPr>
          <a:xfrm>
            <a:off x="640080" y="1920240"/>
            <a:ext cx="5120640" cy="274320"/>
          </a:xfrm>
          <a:prstGeom prst="rect">
            <a:avLst/>
          </a:prstGeom>
          <a:noFill/>
          <a:ln/>
        </p:spPr>
        <p:txBody>
          <a:bodyPr wrap="square"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Correctness</a:t>
            </a:r>
            <a:endParaRPr lang="en-US" sz="1300" dirty="0"/>
          </a:p>
        </p:txBody>
      </p:sp>
      <p:graphicFrame>
        <p:nvGraphicFramePr>
          <p:cNvPr id="7" name="Chart 0" descr=""/>
          <p:cNvGraphicFramePr/>
          <p:nvPr/>
        </p:nvGraphicFramePr>
        <p:xfrm>
          <a:off x="640080" y="2240280"/>
          <a:ext cx="5120640" cy="24688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309360" y="1920240"/>
            <a:ext cx="5212080" cy="274320"/>
          </a:xfrm>
          <a:prstGeom prst="rect">
            <a:avLst/>
          </a:prstGeom>
          <a:noFill/>
          <a:ln/>
        </p:spPr>
        <p:txBody>
          <a:bodyPr wrap="square"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Cost: retrieval slots wasted per question</a:t>
            </a:r>
            <a:endParaRPr lang="en-US" sz="1300" dirty="0"/>
          </a:p>
        </p:txBody>
      </p:sp>
      <p:graphicFrame>
        <p:nvGraphicFramePr>
          <p:cNvPr id="9" name="Chart 1" descr=""/>
          <p:cNvGraphicFramePr/>
          <p:nvPr/>
        </p:nvGraphicFramePr>
        <p:xfrm>
          <a:off x="6309360" y="2240280"/>
          <a:ext cx="5212080" cy="246888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640080" y="4709160"/>
            <a:ext cx="10881360" cy="274320"/>
          </a:xfrm>
          <a:prstGeom prst="rect">
            <a:avLst/>
          </a:prstGeom>
          <a:noFill/>
          <a:ln/>
        </p:spPr>
        <p:txBody>
          <a:bodyPr wrap="square" rtlCol="0" anchor="ctr"/>
          <a:lstStyle/>
          <a:p>
            <a:pPr algn="ctr" indent="0" marL="0">
              <a:buNone/>
            </a:pPr>
            <a:r>
              <a:rPr lang="en-US" sz="1100" dirty="0">
                <a:solidFill>
                  <a:srgbClr val="7B8794"/>
                </a:solidFill>
                <a:latin typeface="Calibri" pitchFamily="34" charset="0"/>
                <a:ea typeface="Calibri" pitchFamily="34" charset="-122"/>
                <a:cs typeface="Calibri" pitchFamily="34" charset="-120"/>
              </a:rPr>
              <a:t>grace period in days</a:t>
            </a:r>
            <a:endParaRPr lang="en-US" sz="1100" dirty="0"/>
          </a:p>
        </p:txBody>
      </p:sp>
      <p:sp>
        <p:nvSpPr>
          <p:cNvPr id="11" name="Shape 7"/>
          <p:cNvSpPr/>
          <p:nvPr/>
        </p:nvSpPr>
        <p:spPr>
          <a:xfrm>
            <a:off x="640080" y="5074920"/>
            <a:ext cx="10881360" cy="960120"/>
          </a:xfrm>
          <a:prstGeom prst="rect">
            <a:avLst/>
          </a:prstGeom>
          <a:solidFill>
            <a:srgbClr val="F7F8F9"/>
          </a:solidFill>
          <a:ln/>
        </p:spPr>
      </p:sp>
      <p:sp>
        <p:nvSpPr>
          <p:cNvPr id="12" name="Shape 8"/>
          <p:cNvSpPr/>
          <p:nvPr/>
        </p:nvSpPr>
        <p:spPr>
          <a:xfrm>
            <a:off x="640080" y="5074920"/>
            <a:ext cx="41148" cy="960120"/>
          </a:xfrm>
          <a:prstGeom prst="rect">
            <a:avLst/>
          </a:prstGeom>
          <a:solidFill>
            <a:srgbClr val="0F766E"/>
          </a:solidFill>
          <a:ln/>
        </p:spPr>
      </p:sp>
      <p:sp>
        <p:nvSpPr>
          <p:cNvPr id="13" name="Text 9"/>
          <p:cNvSpPr/>
          <p:nvPr/>
        </p:nvSpPr>
        <p:spPr>
          <a:xfrm>
            <a:off x="914400" y="5221224"/>
            <a:ext cx="10332720" cy="685800"/>
          </a:xfrm>
          <a:prstGeom prst="rect">
            <a:avLst/>
          </a:prstGeom>
          <a:noFill/>
          <a:ln/>
        </p:spPr>
        <p:txBody>
          <a:bodyPr wrap="square"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The prediction held exactly. </a:t>
            </a:r>
            <a:pPr indent="0" marL="0">
              <a:buNone/>
            </a:pPr>
            <a:r>
              <a:rPr lang="en-US" sz="1350" dirty="0">
                <a:solidFill>
                  <a:srgbClr val="1F2933"/>
                </a:solidFill>
                <a:latin typeface="Calibri" pitchFamily="34" charset="0"/>
                <a:ea typeface="Calibri" pitchFamily="34" charset="-122"/>
                <a:cs typeface="Calibri" pitchFamily="34" charset="-120"/>
              </a:rPr>
              <a:t>Gold support is 1.000 and clean retrieval is 0.573 at every single value. Wasted slots climb steadily from 2.63 to 4.80, which means fewer live facts reach the model as the grace period lengthens.</a:t>
            </a:r>
            <a:endParaRPr lang="en-US" sz="1350" dirty="0"/>
          </a:p>
        </p:txBody>
      </p:sp>
      <p:sp>
        <p:nvSpPr>
          <p:cNvPr id="14" name="Text 10"/>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5" name="Text 11"/>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GRACE PERIOD  ·  RESULTS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Every value is equally correct, so the shortest one wins on cost</a:t>
            </a:r>
            <a:endParaRPr lang="en-US" sz="2500" dirty="0"/>
          </a:p>
        </p:txBody>
      </p:sp>
      <p:sp>
        <p:nvSpPr>
          <p:cNvPr id="4" name="Shape 2"/>
          <p:cNvSpPr/>
          <p:nvPr/>
        </p:nvSpPr>
        <p:spPr>
          <a:xfrm>
            <a:off x="640080" y="1298448"/>
            <a:ext cx="548640" cy="32004"/>
          </a:xfrm>
          <a:prstGeom prst="rect">
            <a:avLst/>
          </a:prstGeom>
          <a:solidFill>
            <a:srgbClr val="0F766E"/>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1813560"/>
                <a:gridCol w="1813560"/>
                <a:gridCol w="1813560"/>
                <a:gridCol w="1813560"/>
                <a:gridCol w="1813560"/>
                <a:gridCol w="1813560"/>
              </a:tblGrid>
              <a:tr h="329184">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grace (days)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gold support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clean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wasted slots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live facts in context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facts pruned</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7F8F9"/>
                    </a:solidFill>
                  </a:tcPr>
                </a:tc>
              </a:tr>
              <a:tr h="329184">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2.63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22.38</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2.78</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22.22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37</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7  (current)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3.51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21.49</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4.46</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20.54</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0.573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4.80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20.20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3931920"/>
            <a:ext cx="3200400" cy="640080"/>
          </a:xfrm>
          <a:prstGeom prst="rect">
            <a:avLst/>
          </a:prstGeom>
          <a:noFill/>
          <a:ln/>
        </p:spPr>
        <p:txBody>
          <a:bodyPr wrap="square" rtlCol="0" anchor="ctr"/>
          <a:lstStyle/>
          <a:p>
            <a:pPr indent="0" marL="0">
              <a:buNone/>
            </a:pPr>
            <a:r>
              <a:rPr lang="en-US" sz="3400" b="1" dirty="0">
                <a:solidFill>
                  <a:srgbClr val="0F766E"/>
                </a:solidFill>
                <a:latin typeface="Calibri" pitchFamily="34" charset="0"/>
                <a:ea typeface="Calibri" pitchFamily="34" charset="-122"/>
                <a:cs typeface="Calibri" pitchFamily="34" charset="-120"/>
              </a:rPr>
              <a:t>0.000</a:t>
            </a:r>
            <a:endParaRPr lang="en-US" sz="3400" dirty="0"/>
          </a:p>
        </p:txBody>
      </p:sp>
      <p:sp>
        <p:nvSpPr>
          <p:cNvPr id="7" name="Text 4"/>
          <p:cNvSpPr/>
          <p:nvPr/>
        </p:nvSpPr>
        <p:spPr>
          <a:xfrm>
            <a:off x="640080" y="4553712"/>
            <a:ext cx="3200400" cy="5486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change in any correctness metric across the range</a:t>
            </a:r>
            <a:endParaRPr lang="en-US" sz="1200" dirty="0"/>
          </a:p>
        </p:txBody>
      </p:sp>
      <p:sp>
        <p:nvSpPr>
          <p:cNvPr id="8" name="Text 5"/>
          <p:cNvSpPr/>
          <p:nvPr/>
        </p:nvSpPr>
        <p:spPr>
          <a:xfrm>
            <a:off x="4206240" y="3931920"/>
            <a:ext cx="3200400" cy="640080"/>
          </a:xfrm>
          <a:prstGeom prst="rect">
            <a:avLst/>
          </a:prstGeom>
          <a:noFill/>
          <a:ln/>
        </p:spPr>
        <p:txBody>
          <a:bodyPr wrap="square" rtlCol="0" anchor="ctr"/>
          <a:lstStyle/>
          <a:p>
            <a:pPr indent="0" marL="0">
              <a:buNone/>
            </a:pPr>
            <a:r>
              <a:rPr lang="en-US" sz="3400" b="1" dirty="0">
                <a:solidFill>
                  <a:srgbClr val="0F766E"/>
                </a:solidFill>
                <a:latin typeface="Calibri" pitchFamily="34" charset="0"/>
                <a:ea typeface="Calibri" pitchFamily="34" charset="-122"/>
                <a:cs typeface="Calibri" pitchFamily="34" charset="-120"/>
              </a:rPr>
              <a:t>2.2x</a:t>
            </a:r>
            <a:endParaRPr lang="en-US" sz="3400" dirty="0"/>
          </a:p>
        </p:txBody>
      </p:sp>
      <p:sp>
        <p:nvSpPr>
          <p:cNvPr id="9" name="Text 6"/>
          <p:cNvSpPr/>
          <p:nvPr/>
        </p:nvSpPr>
        <p:spPr>
          <a:xfrm>
            <a:off x="4206240" y="4553712"/>
            <a:ext cx="3200400" cy="5486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more slots wasted at 30 days than at 1 day</a:t>
            </a:r>
            <a:endParaRPr lang="en-US" sz="1200" dirty="0"/>
          </a:p>
        </p:txBody>
      </p:sp>
      <p:sp>
        <p:nvSpPr>
          <p:cNvPr id="10" name="Text 7"/>
          <p:cNvSpPr/>
          <p:nvPr/>
        </p:nvSpPr>
        <p:spPr>
          <a:xfrm>
            <a:off x="7772400" y="3931920"/>
            <a:ext cx="3200400" cy="640080"/>
          </a:xfrm>
          <a:prstGeom prst="rect">
            <a:avLst/>
          </a:prstGeom>
          <a:noFill/>
          <a:ln/>
        </p:spPr>
        <p:txBody>
          <a:bodyPr wrap="square" rtlCol="0" anchor="ctr"/>
          <a:lstStyle/>
          <a:p>
            <a:pPr indent="0" marL="0">
              <a:buNone/>
            </a:pPr>
            <a:r>
              <a:rPr lang="en-US" sz="3400" b="1" dirty="0">
                <a:solidFill>
                  <a:srgbClr val="0F766E"/>
                </a:solidFill>
                <a:latin typeface="Calibri" pitchFamily="34" charset="0"/>
                <a:ea typeface="Calibri" pitchFamily="34" charset="-122"/>
                <a:cs typeface="Calibri" pitchFamily="34" charset="-120"/>
              </a:rPr>
              <a:t>1 day</a:t>
            </a:r>
            <a:endParaRPr lang="en-US" sz="3400" dirty="0"/>
          </a:p>
        </p:txBody>
      </p:sp>
      <p:sp>
        <p:nvSpPr>
          <p:cNvPr id="11" name="Text 8"/>
          <p:cNvSpPr/>
          <p:nvPr/>
        </p:nvSpPr>
        <p:spPr>
          <a:xfrm>
            <a:off x="7772400" y="4553712"/>
            <a:ext cx="3200400" cy="548640"/>
          </a:xfrm>
          <a:prstGeom prst="rect">
            <a:avLst/>
          </a:prstGeom>
          <a:noFill/>
          <a:ln/>
        </p:spPr>
        <p:txBody>
          <a:bodyPr wrap="square" rtlCol="0" anchor="ctr"/>
          <a:lstStyle/>
          <a:p>
            <a:pPr indent="0" marL="0">
              <a:buNone/>
            </a:pPr>
            <a:r>
              <a:rPr lang="en-US" sz="1200" dirty="0">
                <a:solidFill>
                  <a:srgbClr val="7B8794"/>
                </a:solidFill>
                <a:latin typeface="Calibri" pitchFamily="34" charset="0"/>
                <a:ea typeface="Calibri" pitchFamily="34" charset="-122"/>
                <a:cs typeface="Calibri" pitchFamily="34" charset="-120"/>
              </a:rPr>
              <a:t>best value on the evidence available so far</a:t>
            </a:r>
            <a:endParaRPr lang="en-US" sz="1200" dirty="0"/>
          </a:p>
        </p:txBody>
      </p:sp>
      <p:sp>
        <p:nvSpPr>
          <p:cNvPr id="12" name="Shape 9"/>
          <p:cNvSpPr/>
          <p:nvPr/>
        </p:nvSpPr>
        <p:spPr>
          <a:xfrm>
            <a:off x="640080" y="5257800"/>
            <a:ext cx="10881360" cy="914400"/>
          </a:xfrm>
          <a:prstGeom prst="rect">
            <a:avLst/>
          </a:prstGeom>
          <a:solidFill>
            <a:srgbClr val="F7F8F9"/>
          </a:solidFill>
          <a:ln/>
        </p:spPr>
      </p:sp>
      <p:sp>
        <p:nvSpPr>
          <p:cNvPr id="13" name="Shape 10"/>
          <p:cNvSpPr/>
          <p:nvPr/>
        </p:nvSpPr>
        <p:spPr>
          <a:xfrm>
            <a:off x="640080" y="5257800"/>
            <a:ext cx="41148" cy="914400"/>
          </a:xfrm>
          <a:prstGeom prst="rect">
            <a:avLst/>
          </a:prstGeom>
          <a:solidFill>
            <a:srgbClr val="0F766E"/>
          </a:solidFill>
          <a:ln/>
        </p:spPr>
      </p:sp>
      <p:sp>
        <p:nvSpPr>
          <p:cNvPr id="14" name="Text 11"/>
          <p:cNvSpPr/>
          <p:nvPr/>
        </p:nvSpPr>
        <p:spPr>
          <a:xfrm>
            <a:off x="914400" y="5404104"/>
            <a:ext cx="10332720" cy="640080"/>
          </a:xfrm>
          <a:prstGeom prst="rect">
            <a:avLst/>
          </a:prstGeom>
          <a:noFill/>
          <a:ln/>
        </p:spPr>
        <p:txBody>
          <a:bodyPr wrap="square"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Caveat worth stating plainly. </a:t>
            </a:r>
            <a:pPr indent="0" marL="0">
              <a:buNone/>
            </a:pPr>
            <a:r>
              <a:rPr lang="en-US" sz="1350" dirty="0">
                <a:solidFill>
                  <a:srgbClr val="1F2933"/>
                </a:solidFill>
                <a:latin typeface="Calibri" pitchFamily="34" charset="0"/>
                <a:ea typeface="Calibri" pitchFamily="34" charset="-122"/>
                <a:cs typeface="Calibri" pitchFamily="34" charset="-120"/>
              </a:rPr>
              <a:t>This is retrieval evidence, not answer accuracy. It shows a shorter grace period leaves more live facts in context at no correctness cost. The end-to-end runs at 1, 3, 7, 14 and 21 days are built and will confirm whether that shows up in measured accuracy.</a:t>
            </a:r>
            <a:endParaRPr lang="en-US" sz="1350" dirty="0"/>
          </a:p>
        </p:txBody>
      </p:sp>
      <p:sp>
        <p:nvSpPr>
          <p:cNvPr id="15" name="Text 12"/>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16" name="Text 13"/>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11480"/>
            <a:ext cx="10058400" cy="228600"/>
          </a:xfrm>
          <a:prstGeom prst="rect">
            <a:avLst/>
          </a:prstGeom>
          <a:noFill/>
          <a:ln/>
        </p:spPr>
        <p:txBody>
          <a:bodyPr wrap="square" rtlCol="0" anchor="ctr"/>
          <a:lstStyle/>
          <a:p>
            <a:pPr indent="0" marL="0">
              <a:buNone/>
            </a:pPr>
            <a:r>
              <a:rPr lang="en-US" sz="1050" b="1" spc="160" kern="0" dirty="0">
                <a:solidFill>
                  <a:srgbClr val="0F766E"/>
                </a:solidFill>
                <a:latin typeface="Calibri" pitchFamily="34" charset="0"/>
                <a:ea typeface="Calibri" pitchFamily="34" charset="-122"/>
                <a:cs typeface="Calibri" pitchFamily="34" charset="-120"/>
              </a:rPr>
              <a:t>QUESTIONS</a:t>
            </a:r>
            <a:endParaRPr lang="en-US" sz="1050" dirty="0"/>
          </a:p>
        </p:txBody>
      </p:sp>
      <p:sp>
        <p:nvSpPr>
          <p:cNvPr id="3" name="Text 1"/>
          <p:cNvSpPr/>
          <p:nvPr/>
        </p:nvSpPr>
        <p:spPr>
          <a:xfrm>
            <a:off x="640080" y="676656"/>
            <a:ext cx="10881360" cy="548640"/>
          </a:xfrm>
          <a:prstGeom prst="rect">
            <a:avLst/>
          </a:prstGeom>
          <a:noFill/>
          <a:ln/>
        </p:spPr>
        <p:txBody>
          <a:bodyPr wrap="square" rtlCol="0" anchor="ctr"/>
          <a:lstStyle/>
          <a:p>
            <a:pPr indent="0" marL="0">
              <a:buNone/>
            </a:pPr>
            <a:r>
              <a:rPr lang="en-US" sz="2500" b="1" dirty="0">
                <a:solidFill>
                  <a:srgbClr val="1F2933"/>
                </a:solidFill>
                <a:latin typeface="Calibri" pitchFamily="34" charset="0"/>
                <a:ea typeface="Calibri" pitchFamily="34" charset="-122"/>
                <a:cs typeface="Calibri" pitchFamily="34" charset="-120"/>
              </a:rPr>
              <a:t>Where I would like your steer on the remaining checkpoints</a:t>
            </a:r>
            <a:endParaRPr lang="en-US" sz="2500" dirty="0"/>
          </a:p>
        </p:txBody>
      </p:sp>
      <p:sp>
        <p:nvSpPr>
          <p:cNvPr id="4" name="Shape 2"/>
          <p:cNvSpPr/>
          <p:nvPr/>
        </p:nvSpPr>
        <p:spPr>
          <a:xfrm>
            <a:off x="640080" y="1298448"/>
            <a:ext cx="548640" cy="32004"/>
          </a:xfrm>
          <a:prstGeom prst="rect">
            <a:avLst/>
          </a:prstGeom>
          <a:solidFill>
            <a:srgbClr val="0F766E"/>
          </a:solidFill>
          <a:ln/>
        </p:spPr>
      </p:sp>
      <p:sp>
        <p:nvSpPr>
          <p:cNvPr id="5" name="Text 3"/>
          <p:cNvSpPr/>
          <p:nvPr/>
        </p:nvSpPr>
        <p:spPr>
          <a:xfrm>
            <a:off x="640080" y="1920240"/>
            <a:ext cx="10881360" cy="4206240"/>
          </a:xfrm>
          <a:prstGeom prst="rect">
            <a:avLst/>
          </a:prstGeom>
          <a:noFill/>
          <a:ln/>
        </p:spPr>
        <p:txBody>
          <a:bodyPr wrap="square" rtlCol="0" anchor="t"/>
          <a:lstStyle/>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RQ4. The pilot found that five different extraction models write the same relation under three different predicate strings, which defeats P2's exact-match invalidation. Do I run the remaining 16 cells as they stand and report the boundary, or add predicate canonicalisation first so RQ4 tests the mechanism as intended?</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RQ4. If budget forces a choice, is one topology with all seven policies worth more than three topologies with five?</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Weights. Choosing the weighting on the same benchmark I report results on is tuning on the test set. Do you want selection on FactConsolidation and validation on MQuAKE-T, or both reported with no single winner declared?</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Weights. If nothing beats the current setting by more than the noise floor, is "no change, search documented" an acceptable outcome for that checkpoint?</a:t>
            </a:r>
            <a:endParaRPr lang="en-US" sz="1300" dirty="0"/>
          </a:p>
          <a:p>
            <a:pPr marL="342900" indent="-342900">
              <a:lnSpc>
                <a:spcPts val="2400"/>
              </a:lnSpc>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Frontier models. Is a four-cell confirmation enough, or do you want the full seven-policy matrix at frontier scale?</a:t>
            </a:r>
            <a:endParaRPr lang="en-US" sz="1300" dirty="0"/>
          </a:p>
        </p:txBody>
      </p:sp>
      <p:sp>
        <p:nvSpPr>
          <p:cNvPr id="6" name="Text 4"/>
          <p:cNvSpPr/>
          <p:nvPr/>
        </p:nvSpPr>
        <p:spPr>
          <a:xfrm>
            <a:off x="640080" y="6355080"/>
            <a:ext cx="7315200" cy="256032"/>
          </a:xfrm>
          <a:prstGeom prst="rect">
            <a:avLst/>
          </a:prstGeom>
          <a:noFill/>
          <a:ln/>
        </p:spPr>
        <p:txBody>
          <a:bodyPr wrap="square" rtlCol="0" anchor="ctr"/>
          <a:lstStyle/>
          <a:p>
            <a:pPr indent="0" marL="0">
              <a:buNone/>
            </a:pPr>
            <a:r>
              <a:rPr lang="en-US" sz="900" dirty="0">
                <a:solidFill>
                  <a:srgbClr val="7B8794"/>
                </a:solidFill>
                <a:latin typeface="Calibri" pitchFamily="34" charset="0"/>
                <a:ea typeface="Calibri" pitchFamily="34" charset="-122"/>
                <a:cs typeface="Calibri" pitchFamily="34" charset="-120"/>
              </a:rPr>
              <a:t>DRIFT  ·  weekly update  ·  10 September 2026</a:t>
            </a:r>
            <a:endParaRPr lang="en-US" sz="900" dirty="0"/>
          </a:p>
        </p:txBody>
      </p:sp>
      <p:sp>
        <p:nvSpPr>
          <p:cNvPr id="7" name="Text 5"/>
          <p:cNvSpPr/>
          <p:nvPr/>
        </p:nvSpPr>
        <p:spPr>
          <a:xfrm>
            <a:off x="11064240" y="6355080"/>
            <a:ext cx="457200" cy="256032"/>
          </a:xfrm>
          <a:prstGeom prst="rect">
            <a:avLst/>
          </a:prstGeom>
          <a:noFill/>
          <a:ln/>
        </p:spPr>
        <p:txBody>
          <a:bodyPr wrap="square" rtlCol="0" anchor="ctr"/>
          <a:lstStyle/>
          <a:p>
            <a:pPr algn="r" indent="0" marL="0">
              <a:buNone/>
            </a:pPr>
            <a:r>
              <a:rPr lang="en-US" sz="900" dirty="0">
                <a:solidFill>
                  <a:srgbClr val="7B87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DRIFT weekly update</dc:title>
  <dc:subject>PptxGenJS Presentation</dc:subject>
  <dc:creator>Nandan Hemanth</dc:creator>
  <cp:lastModifiedBy>Nandan Hemanth</cp:lastModifiedBy>
  <cp:revision>1</cp:revision>
  <dcterms:created xsi:type="dcterms:W3CDTF">2026-09-10T17:37:13Z</dcterms:created>
  <dcterms:modified xsi:type="dcterms:W3CDTF">2026-09-10T17:37:13Z</dcterms:modified>
</cp:coreProperties>
</file>