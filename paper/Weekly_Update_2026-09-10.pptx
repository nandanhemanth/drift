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822960" y="2286000"/>
            <a:ext cx="822960" cy="45720"/>
          </a:xfrm>
          <a:prstGeom prst="rect">
            <a:avLst/>
          </a:prstGeom>
          <a:solidFill>
            <a:srgbClr val="C8811A"/>
          </a:solidFill>
          <a:ln/>
        </p:spPr>
      </p:sp>
      <p:sp>
        <p:nvSpPr>
          <p:cNvPr id="3" name="Text 1"/>
          <p:cNvSpPr/>
          <p:nvPr/>
        </p:nvSpPr>
        <p:spPr>
          <a:xfrm>
            <a:off x="822960" y="2514600"/>
            <a:ext cx="10058400" cy="73152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Weekly update</a:t>
            </a:r>
            <a:endParaRPr lang="en-US" sz="4000" dirty="0"/>
          </a:p>
        </p:txBody>
      </p:sp>
      <p:sp>
        <p:nvSpPr>
          <p:cNvPr id="4" name="Text 2"/>
          <p:cNvSpPr/>
          <p:nvPr/>
        </p:nvSpPr>
        <p:spPr>
          <a:xfrm>
            <a:off x="822960" y="3291840"/>
            <a:ext cx="10058400" cy="457200"/>
          </a:xfrm>
          <a:prstGeom prst="rect">
            <a:avLst/>
          </a:prstGeom>
          <a:noFill/>
          <a:ln/>
        </p:spPr>
        <p:txBody>
          <a:bodyPr wrap="square" rtlCol="0" anchor="ctr"/>
          <a:lstStyle/>
          <a:p>
            <a:pPr indent="0" marL="0">
              <a:buNone/>
            </a:pPr>
            <a:r>
              <a:rPr lang="en-US" sz="1700" dirty="0">
                <a:solidFill>
                  <a:srgbClr val="C9D2E4"/>
                </a:solidFill>
                <a:latin typeface="Calibri" pitchFamily="34" charset="0"/>
                <a:ea typeface="Calibri" pitchFamily="34" charset="-122"/>
                <a:cs typeface="Calibri" pitchFamily="34" charset="-120"/>
              </a:rPr>
              <a:t>Hyperparameter sensitivity: answering the defense questions with evidence</a:t>
            </a:r>
            <a:endParaRPr lang="en-US" sz="1700" dirty="0"/>
          </a:p>
        </p:txBody>
      </p:sp>
      <p:sp>
        <p:nvSpPr>
          <p:cNvPr id="5" name="Text 3"/>
          <p:cNvSpPr/>
          <p:nvPr/>
        </p:nvSpPr>
        <p:spPr>
          <a:xfrm>
            <a:off x="822960" y="4114800"/>
            <a:ext cx="10058400" cy="365760"/>
          </a:xfrm>
          <a:prstGeom prst="rect">
            <a:avLst/>
          </a:prstGeom>
          <a:noFill/>
          <a:ln/>
        </p:spPr>
        <p:txBody>
          <a:bodyPr wrap="square" rtlCol="0" anchor="ctr"/>
          <a:lstStyle/>
          <a:p>
            <a:pPr indent="0" marL="0">
              <a:buNone/>
            </a:pPr>
            <a:r>
              <a:rPr lang="en-US" sz="1300" dirty="0">
                <a:solidFill>
                  <a:srgbClr val="9FB0CC"/>
                </a:solidFill>
                <a:latin typeface="Calibri" pitchFamily="34" charset="0"/>
                <a:ea typeface="Calibri" pitchFamily="34" charset="-122"/>
                <a:cs typeface="Calibri" pitchFamily="34" charset="-120"/>
              </a:rPr>
              <a:t>Nandan Hemanth  ·  10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WHERE THINGS STAND</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Four fixed constants now have evidence behind them</a:t>
            </a:r>
            <a:endParaRPr lang="en-US" sz="2700" dirty="0"/>
          </a:p>
        </p:txBody>
      </p:sp>
      <p:sp>
        <p:nvSpPr>
          <p:cNvPr id="4" name="Text 2"/>
          <p:cNvSpPr/>
          <p:nvPr/>
        </p:nvSpPr>
        <p:spPr>
          <a:xfrm>
            <a:off x="548640" y="1645920"/>
            <a:ext cx="11064240" cy="4114800"/>
          </a:xfrm>
          <a:prstGeom prst="rect">
            <a:avLst/>
          </a:prstGeom>
          <a:noFill/>
          <a:ln/>
        </p:spPr>
        <p:txBody>
          <a:bodyPr wrap="square" rtlCol="0" anchor="ctr"/>
          <a:lstStyle/>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Defense feedback asked why the pipeline uses 0.6 / 0.3 / 0.1 retrieval weights, k = 25, a 7-day grace period, a 20-day TTL, and tau = 0.9.</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Built a sweep harness that varies each constant and measures the retrieval step directly, before any answer or judge model runs.</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Cost: zero paid API calls. Extraction is served from cache, embeddings run locally, and no published number is touched.</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Ran the full sweep on MQuAKE-T this week. 66 weightings, 4 retrieval depths, and every policy hyperparameter.</a:t>
            </a:r>
            <a:endParaRPr lang="en-US" sz="1500" dirty="0"/>
          </a:p>
        </p:txBody>
      </p:sp>
      <p:sp>
        <p:nvSpPr>
          <p:cNvPr id="5" name="Text 3"/>
          <p:cNvSpPr/>
          <p:nvPr/>
        </p:nvSpPr>
        <p:spPr>
          <a:xfrm>
            <a:off x="548640" y="5120640"/>
            <a:ext cx="11064240" cy="731520"/>
          </a:xfrm>
          <a:prstGeom prst="rect">
            <a:avLst/>
          </a:prstGeom>
          <a:noFill/>
          <a:ln/>
        </p:spPr>
        <p:txBody>
          <a:bodyPr wrap="square" rtlCol="0" anchor="t"/>
          <a:lstStyle/>
          <a:p>
            <a:pPr indent="0" marL="0">
              <a:buNone/>
            </a:pPr>
            <a:r>
              <a:rPr lang="en-US" sz="1300" i="1" dirty="0">
                <a:solidFill>
                  <a:srgbClr val="222222"/>
                </a:solidFill>
                <a:latin typeface="Calibri" pitchFamily="34" charset="0"/>
                <a:ea typeface="Calibri" pitchFamily="34" charset="-122"/>
                <a:cs typeface="Calibri" pitchFamily="34" charset="-120"/>
              </a:rPr>
              <a:t>The claim being tested is not that these values are optimal. It is that the conclusions do not depend on them.</a:t>
            </a:r>
            <a:endParaRPr lang="en-US" sz="1300" dirty="0"/>
          </a:p>
        </p:txBody>
      </p:sp>
      <p:sp>
        <p:nvSpPr>
          <p:cNvPr id="6" name="Text 4"/>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7" name="Text 5"/>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Measure retrieval, not end-task accuracy</a:t>
            </a:r>
            <a:endParaRPr lang="en-US" sz="2700" dirty="0"/>
          </a:p>
        </p:txBody>
      </p:sp>
      <p:sp>
        <p:nvSpPr>
          <p:cNvPr id="4" name="Text 2"/>
          <p:cNvSpPr/>
          <p:nvPr/>
        </p:nvSpPr>
        <p:spPr>
          <a:xfrm>
            <a:off x="548640" y="1645920"/>
            <a:ext cx="11064240" cy="2926080"/>
          </a:xfrm>
          <a:prstGeom prst="rect">
            <a:avLst/>
          </a:prstGeom>
          <a:noFill/>
          <a:ln/>
        </p:spPr>
        <p:txBody>
          <a:bodyPr wrap="square" rtlCol="0" anchor="ctr"/>
          <a:lstStyle/>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Sweeping with the full pipeline would mean thousands of paid calls, and would mix judge noise into a question about retrieval.</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gold support: the correct answer reaches the context, so the model can answer correctly.</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stale exposure: the superseded answer reaches the context, so the model can answer staleley.</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wasted slots: facts that occupied one of the k slots and were then dropped by the policy.</a:t>
            </a:r>
            <a:endParaRPr lang="en-US" sz="1500" dirty="0"/>
          </a:p>
        </p:txBody>
      </p:sp>
      <p:sp>
        <p:nvSpPr>
          <p:cNvPr id="5" name="Shape 3"/>
          <p:cNvSpPr/>
          <p:nvPr/>
        </p:nvSpPr>
        <p:spPr>
          <a:xfrm>
            <a:off x="548640" y="4709160"/>
            <a:ext cx="11064240" cy="1051560"/>
          </a:xfrm>
          <a:prstGeom prst="rect">
            <a:avLst/>
          </a:prstGeom>
          <a:solidFill>
            <a:srgbClr val="F4F6FA"/>
          </a:solidFill>
          <a:ln/>
        </p:spPr>
      </p:sp>
      <p:sp>
        <p:nvSpPr>
          <p:cNvPr id="6" name="Text 4"/>
          <p:cNvSpPr/>
          <p:nvPr/>
        </p:nvSpPr>
        <p:spPr>
          <a:xfrm>
            <a:off x="822960" y="4892040"/>
            <a:ext cx="10515600" cy="731520"/>
          </a:xfrm>
          <a:prstGeom prst="rect">
            <a:avLst/>
          </a:prstGeom>
          <a:noFill/>
          <a:ln/>
        </p:spPr>
        <p:txBody>
          <a:bodyPr wrap="square" rtlCol="0" anchor="ctr"/>
          <a:lstStyle/>
          <a:p>
            <a:pPr indent="0" marL="0">
              <a:buNone/>
            </a:pPr>
            <a:r>
              <a:rPr lang="en-US" sz="1300" dirty="0">
                <a:solidFill>
                  <a:srgbClr val="222222"/>
                </a:solidFill>
                <a:latin typeface="Calibri" pitchFamily="34" charset="0"/>
                <a:ea typeface="Calibri" pitchFamily="34" charset="-122"/>
                <a:cs typeface="Calibri" pitchFamily="34" charset="-120"/>
              </a:rPr>
              <a:t>These are deterministic, free, and judge-independent, which makes them safe to sweep. The trade-off is that they measure what retrieval makes possible, not what the answer model does with it.</a:t>
            </a:r>
            <a:endParaRPr lang="en-US" sz="1300" dirty="0"/>
          </a:p>
        </p:txBody>
      </p:sp>
      <p:sp>
        <p:nvSpPr>
          <p:cNvPr id="7" name="Text 5"/>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6"/>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RESULT 1  ·  WHY 7 DAYS</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The grace period is a cost parameter, not a correctness parameter</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844040"/>
                <a:gridCol w="1844040"/>
                <a:gridCol w="1844040"/>
                <a:gridCol w="1844040"/>
                <a:gridCol w="1844040"/>
                <a:gridCol w="1844040"/>
              </a:tblGrid>
              <a:tr h="29260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grace (days)</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gold support</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stale exposure</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clean</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wasted slots</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facts pruned</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292608">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0.427</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0.573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2.10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292608">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0.427</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0.573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2.63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292608">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0.427</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0.573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2.78</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37</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292608">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7  (published)</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0.427</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0.573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3.51</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292608">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0.427</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0.573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4.46</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292608">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0.427</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0.573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4.80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bl>
          </a:graphicData>
        </a:graphic>
      </p:graphicFrame>
      <p:sp>
        <p:nvSpPr>
          <p:cNvPr id="5" name="Shape 2"/>
          <p:cNvSpPr/>
          <p:nvPr/>
        </p:nvSpPr>
        <p:spPr>
          <a:xfrm>
            <a:off x="548640" y="4343400"/>
            <a:ext cx="11064240" cy="1371600"/>
          </a:xfrm>
          <a:prstGeom prst="rect">
            <a:avLst/>
          </a:prstGeom>
          <a:solidFill>
            <a:srgbClr val="F4F6FA"/>
          </a:solidFill>
          <a:ln/>
        </p:spPr>
      </p:sp>
      <p:sp>
        <p:nvSpPr>
          <p:cNvPr id="6" name="Text 3"/>
          <p:cNvSpPr/>
          <p:nvPr/>
        </p:nvSpPr>
        <p:spPr>
          <a:xfrm>
            <a:off x="822960" y="4526280"/>
            <a:ext cx="10515600" cy="1005840"/>
          </a:xfrm>
          <a:prstGeom prst="rect">
            <a:avLst/>
          </a:prstGeom>
          <a:noFill/>
          <a:ln/>
        </p:spPr>
        <p:txBody>
          <a:bodyPr wrap="square"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Every correctness column is identical at every value. </a:t>
            </a:r>
            <a:pPr indent="0" marL="0">
              <a:buNone/>
            </a:pPr>
            <a:r>
              <a:rPr lang="en-US" sz="1400" dirty="0">
                <a:solidFill>
                  <a:srgbClr val="222222"/>
                </a:solidFill>
                <a:latin typeface="Calibri" pitchFamily="34" charset="0"/>
                <a:ea typeface="Calibri" pitchFamily="34" charset="-122"/>
                <a:cs typeface="Calibri" pitchFamily="34" charset="-120"/>
              </a:rPr>
              <a:t>Only cost moves. The retrieval hook already excludes invalidated facts regardless of age, so the grace period can only decide how long a superseded fact keeps occupying a retrieval slot before it is pruned. That is why 7 was never tuned, and why 6 or 8 would give the same answers.</a:t>
            </a:r>
            <a:endParaRPr lang="en-US" sz="1400" dirty="0"/>
          </a:p>
        </p:txBody>
      </p:sp>
      <p:sp>
        <p:nvSpPr>
          <p:cNvPr id="7" name="Text 4"/>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5"/>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RESULT 2  ·  WHY K = 25</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k = 25 is conservative. Nothing depends on it.</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212848"/>
                <a:gridCol w="2212848"/>
                <a:gridCol w="2212848"/>
                <a:gridCol w="2212848"/>
                <a:gridCol w="2212848"/>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retrieval depth k</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P0 gold support</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P2 gold support</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P5 gold support</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P2 context tokens</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365760">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0.854</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77</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65760">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0.854</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149</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365760">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25  (published)</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0.854</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373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65760">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0.854</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711</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bl>
          </a:graphicData>
        </a:graphic>
      </p:graphicFrame>
      <p:sp>
        <p:nvSpPr>
          <p:cNvPr id="5" name="Shape 2"/>
          <p:cNvSpPr/>
          <p:nvPr/>
        </p:nvSpPr>
        <p:spPr>
          <a:xfrm>
            <a:off x="548640" y="3977640"/>
            <a:ext cx="11064240" cy="1737360"/>
          </a:xfrm>
          <a:prstGeom prst="rect">
            <a:avLst/>
          </a:prstGeom>
          <a:solidFill>
            <a:srgbClr val="F4F6FA"/>
          </a:solidFill>
          <a:ln/>
        </p:spPr>
      </p:sp>
      <p:sp>
        <p:nvSpPr>
          <p:cNvPr id="6" name="Text 3"/>
          <p:cNvSpPr/>
          <p:nvPr/>
        </p:nvSpPr>
        <p:spPr>
          <a:xfrm>
            <a:off x="822960" y="4160520"/>
            <a:ext cx="10515600" cy="1371600"/>
          </a:xfrm>
          <a:prstGeom prst="rect">
            <a:avLst/>
          </a:prstGeom>
          <a:noFill/>
          <a:ln/>
        </p:spPr>
        <p:txBody>
          <a:bodyPr wrap="square"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Gold support is flat across a tenfold range of k, for every policy. </a:t>
            </a:r>
            <a:pPr indent="0" marL="0">
              <a:buNone/>
            </a:pPr>
            <a:r>
              <a:rPr lang="en-US" sz="1400" dirty="0">
                <a:solidFill>
                  <a:srgbClr val="222222"/>
                </a:solidFill>
                <a:latin typeface="Calibri" pitchFamily="34" charset="0"/>
                <a:ea typeface="Calibri" pitchFamily="34" charset="-122"/>
                <a:cs typeface="Calibri" pitchFamily="34" charset="-120"/>
              </a:rPr>
              <a:t>The conclusions therefore hold for any k between 5 and 50. It also means k = 25 buys no additional answerability over k = 5 on this benchmark while spending roughly five times the context. That is a deployment recommendation the thesis can now make, and an open question for the write-up: report it as sensitivity only, or re-run the headline cells at a smaller k?</a:t>
            </a:r>
            <a:endParaRPr lang="en-US" sz="1400" dirty="0"/>
          </a:p>
        </p:txBody>
      </p:sp>
      <p:sp>
        <p:nvSpPr>
          <p:cNvPr id="7" name="Text 4"/>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5"/>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RESULT 3  ·  WHY 0.6 / 0.3 / 0.1</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Every ordering the thesis claims is stable. One it does not claim is not.</a:t>
            </a:r>
            <a:endParaRPr lang="en-US" sz="2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737360"/>
                <a:gridCol w="3291840"/>
                <a:gridCol w="1828800"/>
                <a:gridCol w="2011680"/>
                <a:gridCol w="219456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ordering</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what it supports</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held</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reversed</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stability</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411480">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P2 &gt; P5</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RQ3, the strongest result</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F6F4E"/>
                          </a:solidFill>
                          <a:latin typeface="Calibri" pitchFamily="34" charset="0"/>
                          <a:ea typeface="Calibri" pitchFamily="34" charset="-122"/>
                          <a:cs typeface="Calibri" pitchFamily="34" charset="-120"/>
                        </a:rPr>
                        <a:t>66 / 66</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F6F4E"/>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411480">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P2 &gt; P0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RQ2 mechanism claim</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b="1" dirty="0">
                          <a:solidFill>
                            <a:srgbClr val="2F6F4E"/>
                          </a:solidFill>
                          <a:latin typeface="Calibri" pitchFamily="34" charset="0"/>
                          <a:ea typeface="Calibri" pitchFamily="34" charset="-122"/>
                          <a:cs typeface="Calibri" pitchFamily="34" charset="-120"/>
                        </a:rPr>
                        <a:t>65 / 66</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  (1 tie)</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b="1" dirty="0">
                          <a:solidFill>
                            <a:srgbClr val="2F6F4E"/>
                          </a:solidFill>
                          <a:latin typeface="Calibri" pitchFamily="34" charset="0"/>
                          <a:ea typeface="Calibri" pitchFamily="34" charset="-122"/>
                          <a:cs typeface="Calibri" pitchFamily="34" charset="-120"/>
                        </a:rPr>
                        <a:t>98.5%</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411480">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P5 &gt; P0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no claim depends on this</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33A3A"/>
                          </a:solidFill>
                          <a:latin typeface="Calibri" pitchFamily="34" charset="0"/>
                          <a:ea typeface="Calibri" pitchFamily="34" charset="-122"/>
                          <a:cs typeface="Calibri" pitchFamily="34" charset="-120"/>
                        </a:rPr>
                        <a:t>24 / 66</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33A3A"/>
                          </a:solidFill>
                          <a:latin typeface="Calibri" pitchFamily="34" charset="0"/>
                          <a:ea typeface="Calibri" pitchFamily="34" charset="-122"/>
                          <a:cs typeface="Calibri" pitchFamily="34" charset="-120"/>
                        </a:rPr>
                        <a:t>38</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33A3A"/>
                          </a:solidFill>
                          <a:latin typeface="Calibri" pitchFamily="34" charset="0"/>
                          <a:ea typeface="Calibri" pitchFamily="34" charset="-122"/>
                          <a:cs typeface="Calibri" pitchFamily="34" charset="-120"/>
                        </a:rPr>
                        <a:t>36.4%</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840480"/>
            <a:ext cx="11064240" cy="1828800"/>
          </a:xfrm>
          <a:prstGeom prst="rect">
            <a:avLst/>
          </a:prstGeom>
          <a:solidFill>
            <a:srgbClr val="F4F6FA"/>
          </a:solidFill>
          <a:ln/>
        </p:spPr>
      </p:sp>
      <p:sp>
        <p:nvSpPr>
          <p:cNvPr id="6" name="Text 3"/>
          <p:cNvSpPr/>
          <p:nvPr/>
        </p:nvSpPr>
        <p:spPr>
          <a:xfrm>
            <a:off x="822960" y="4023360"/>
            <a:ext cx="10515600" cy="1463040"/>
          </a:xfrm>
          <a:prstGeom prst="rect">
            <a:avLst/>
          </a:prstGeom>
          <a:noFill/>
          <a:ln/>
        </p:spPr>
        <p:txBody>
          <a:bodyPr wrap="square"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Read this carefully before quoting it. </a:t>
            </a:r>
            <a:pPr indent="0" marL="0">
              <a:buNone/>
            </a:pPr>
            <a:r>
              <a:rPr lang="en-US" sz="1400" dirty="0">
                <a:solidFill>
                  <a:srgbClr val="222222"/>
                </a:solidFill>
                <a:latin typeface="Calibri" pitchFamily="34" charset="0"/>
                <a:ea typeface="Calibri" pitchFamily="34" charset="-122"/>
                <a:cs typeface="Calibri" pitchFamily="34" charset="-120"/>
              </a:rPr>
              <a:t>The three-way ordering holds in only 36 percent of weightings, and that number sounds alarming out of context. All of the instability sits in the P5 against P0 pair, which no research question in this thesis is about. The two orderings that carry claims, P2 over P5 and P2 over P0, are never once reversed anywhere on the simplex.</a:t>
            </a:r>
            <a:endParaRPr lang="en-US" sz="1400" dirty="0"/>
          </a:p>
        </p:txBody>
      </p:sp>
      <p:sp>
        <p:nvSpPr>
          <p:cNvPr id="7" name="Text 4"/>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8" name="Text 5"/>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RESULT 4  ·  THE STRONGEST NEW FINDING</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The novelty gate fails at every threshold, not just at 0.9</a:t>
            </a:r>
            <a:endParaRPr lang="en-US" sz="2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315200" cy="914400"/>
        </p:xfrm>
        <a:graphic>
          <a:graphicData uri="http://schemas.openxmlformats.org/drawingml/2006/table">
            <a:tbl>
              <a:tblPr/>
              <a:tblGrid>
                <a:gridCol w="1828800"/>
                <a:gridCol w="1828800"/>
                <a:gridCol w="1828800"/>
                <a:gridCol w="1828800"/>
              </a:tblGrid>
              <a:tr h="347472">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tau</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gold support</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stale exposure</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active facts</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347472">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A33A3A"/>
                          </a:solidFill>
                          <a:latin typeface="Calibri" pitchFamily="34" charset="0"/>
                          <a:ea typeface="Calibri" pitchFamily="34" charset="-122"/>
                          <a:cs typeface="Calibri" pitchFamily="34" charset="-120"/>
                        </a:rPr>
                        <a:t>0.156</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0.990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262</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47472">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A33A3A"/>
                          </a:solidFill>
                          <a:latin typeface="Calibri" pitchFamily="34" charset="0"/>
                          <a:ea typeface="Calibri" pitchFamily="34" charset="-122"/>
                          <a:cs typeface="Calibri" pitchFamily="34" charset="-120"/>
                        </a:rPr>
                        <a:t>0.562</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313</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347472">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0.90  (published)</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0.906</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0.990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22222"/>
                          </a:solidFill>
                          <a:latin typeface="Calibri" pitchFamily="34" charset="0"/>
                          <a:ea typeface="Calibri" pitchFamily="34" charset="-122"/>
                          <a:cs typeface="Calibri" pitchFamily="34" charset="-120"/>
                        </a:rPr>
                        <a:t>351</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47472">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0.990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365</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347472">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382</a:t>
                      </a:r>
                      <a:endParaRPr lang="en-US" sz="13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bl>
          </a:graphicData>
        </a:graphic>
      </p:graphicFrame>
      <p:sp>
        <p:nvSpPr>
          <p:cNvPr id="5" name="Shape 2"/>
          <p:cNvSpPr/>
          <p:nvPr/>
        </p:nvSpPr>
        <p:spPr>
          <a:xfrm>
            <a:off x="8138160" y="1691640"/>
            <a:ext cx="3474720" cy="2084832"/>
          </a:xfrm>
          <a:prstGeom prst="rect">
            <a:avLst/>
          </a:prstGeom>
          <a:solidFill>
            <a:srgbClr val="F4F6FA"/>
          </a:solidFill>
          <a:ln/>
        </p:spPr>
      </p:sp>
      <p:sp>
        <p:nvSpPr>
          <p:cNvPr id="6" name="Text 3"/>
          <p:cNvSpPr/>
          <p:nvPr/>
        </p:nvSpPr>
        <p:spPr>
          <a:xfrm>
            <a:off x="8366760" y="1874520"/>
            <a:ext cx="3017520" cy="1737360"/>
          </a:xfrm>
          <a:prstGeom prst="rect">
            <a:avLst/>
          </a:prstGeom>
          <a:noFill/>
          <a:ln/>
        </p:spPr>
        <p:txBody>
          <a:bodyPr wrap="square" rtlCol="0" anchor="t"/>
          <a:lstStyle/>
          <a:p>
            <a:pPr indent="0" marL="0">
              <a:buNone/>
            </a:pPr>
            <a:r>
              <a:rPr lang="en-US" sz="1500" b="1" dirty="0">
                <a:solidFill>
                  <a:srgbClr val="222222"/>
                </a:solidFill>
                <a:latin typeface="Calibri" pitchFamily="34" charset="0"/>
                <a:ea typeface="Calibri" pitchFamily="34" charset="-122"/>
                <a:cs typeface="Calibri" pitchFamily="34" charset="-120"/>
              </a:rPr>
              <a:t>Stale exposure never falls below 0.99 at any threshold.</a:t>
            </a:r>
            <a:endParaRPr lang="en-US" sz="1500" dirty="0"/>
          </a:p>
        </p:txBody>
      </p:sp>
      <p:sp>
        <p:nvSpPr>
          <p:cNvPr id="7" name="Shape 4"/>
          <p:cNvSpPr/>
          <p:nvPr/>
        </p:nvSpPr>
        <p:spPr>
          <a:xfrm>
            <a:off x="548640" y="4023360"/>
            <a:ext cx="11064240" cy="1645920"/>
          </a:xfrm>
          <a:prstGeom prst="rect">
            <a:avLst/>
          </a:prstGeom>
          <a:solidFill>
            <a:srgbClr val="F4F6FA"/>
          </a:solidFill>
          <a:ln/>
        </p:spPr>
      </p:sp>
      <p:sp>
        <p:nvSpPr>
          <p:cNvPr id="8" name="Text 5"/>
          <p:cNvSpPr/>
          <p:nvPr/>
        </p:nvSpPr>
        <p:spPr>
          <a:xfrm>
            <a:off x="822960" y="4206240"/>
            <a:ext cx="10515600" cy="1280160"/>
          </a:xfrm>
          <a:prstGeom prst="rect">
            <a:avLst/>
          </a:prstGeom>
          <a:noFill/>
          <a:ln/>
        </p:spPr>
        <p:txBody>
          <a:bodyPr wrap="square"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Tightening the gate never buys hygiene. It only destroys answerability. </a:t>
            </a:r>
            <a:pPr indent="0" marL="0">
              <a:buNone/>
            </a:pPr>
            <a:r>
              <a:rPr lang="en-US" sz="1400" dirty="0">
                <a:solidFill>
                  <a:srgbClr val="222222"/>
                </a:solidFill>
                <a:latin typeface="Calibri" pitchFamily="34" charset="0"/>
                <a:ea typeface="Calibri" pitchFamily="34" charset="-122"/>
                <a:cs typeface="Calibri" pitchFamily="34" charset="-120"/>
              </a:rPr>
              <a:t>This upgrades the P3 result from "bad at one setting" to "bad by construction across its whole operating range", which is exactly the transferable claim the thesis wants, and it is now demonstrated rather than argued.</a:t>
            </a:r>
            <a:endParaRPr lang="en-US" sz="1400" dirty="0"/>
          </a:p>
        </p:txBody>
      </p:sp>
      <p:sp>
        <p:nvSpPr>
          <p:cNvPr id="9" name="Text 6"/>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10" name="Text 7"/>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VALIDATION</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The harness reproduces the published pipeline exactly</a:t>
            </a:r>
            <a:endParaRPr lang="en-US" sz="2700" dirty="0"/>
          </a:p>
        </p:txBody>
      </p:sp>
      <p:sp>
        <p:nvSpPr>
          <p:cNvPr id="4" name="Text 2"/>
          <p:cNvSpPr/>
          <p:nvPr/>
        </p:nvSpPr>
        <p:spPr>
          <a:xfrm>
            <a:off x="548640" y="1554480"/>
            <a:ext cx="5120640" cy="2743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Memory footprint, recomputed against Chapter 5</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5120640" cy="914400"/>
        </p:xfrm>
        <a:graphic>
          <a:graphicData uri="http://schemas.openxmlformats.org/drawingml/2006/table">
            <a:tbl>
              <a:tblPr/>
              <a:tblGrid>
                <a:gridCol w="1706880"/>
                <a:gridCol w="1706880"/>
                <a:gridCol w="1706880"/>
              </a:tblGrid>
              <a:tr h="31089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policy</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published</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recomputed</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310896">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P0</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382</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F6F4E"/>
                          </a:solidFill>
                          <a:latin typeface="Calibri" pitchFamily="34" charset="0"/>
                          <a:ea typeface="Calibri" pitchFamily="34" charset="-122"/>
                          <a:cs typeface="Calibri" pitchFamily="34" charset="-120"/>
                        </a:rPr>
                        <a:t>382</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10896">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357</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b="1" dirty="0">
                          <a:solidFill>
                            <a:srgbClr val="2F6F4E"/>
                          </a:solidFill>
                          <a:latin typeface="Calibri" pitchFamily="34" charset="0"/>
                          <a:ea typeface="Calibri" pitchFamily="34" charset="-122"/>
                          <a:cs typeface="Calibri" pitchFamily="34" charset="-120"/>
                        </a:rPr>
                        <a:t>357</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310896">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P1 (ttl 20)</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251</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F6F4E"/>
                          </a:solidFill>
                          <a:latin typeface="Calibri" pitchFamily="34" charset="0"/>
                          <a:ea typeface="Calibri" pitchFamily="34" charset="-122"/>
                          <a:cs typeface="Calibri" pitchFamily="34" charset="-120"/>
                        </a:rPr>
                        <a:t>251</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10896">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P3 (tau 0.9)</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351</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b="1" dirty="0">
                          <a:solidFill>
                            <a:srgbClr val="2F6F4E"/>
                          </a:solidFill>
                          <a:latin typeface="Calibri" pitchFamily="34" charset="0"/>
                          <a:ea typeface="Calibri" pitchFamily="34" charset="-122"/>
                          <a:cs typeface="Calibri" pitchFamily="34" charset="-120"/>
                        </a:rPr>
                        <a:t>351</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bl>
          </a:graphicData>
        </a:graphic>
      </p:graphicFrame>
      <p:sp>
        <p:nvSpPr>
          <p:cNvPr id="6" name="Text 3"/>
          <p:cNvSpPr/>
          <p:nvPr/>
        </p:nvSpPr>
        <p:spPr>
          <a:xfrm>
            <a:off x="6309360" y="1554480"/>
            <a:ext cx="5303520" cy="2743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Gold support predicts measured accuracy</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309360" y="1920240"/>
          <a:ext cx="5303520" cy="914400"/>
        </p:xfrm>
        <a:graphic>
          <a:graphicData uri="http://schemas.openxmlformats.org/drawingml/2006/table">
            <a:tbl>
              <a:tblPr/>
              <a:tblGrid>
                <a:gridCol w="1767840"/>
                <a:gridCol w="1767840"/>
                <a:gridCol w="1767840"/>
              </a:tblGrid>
              <a:tr h="310896">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policy</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gold support</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1B2A4A"/>
                    </a:solidFill>
                  </a:tcPr>
                </a:tc>
              </a:tr>
              <a:tr h="310896">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P0</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0.969</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10896">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0.969</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310896">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P1 (ttl 20)</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0.896</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0.870</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r h="310896">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P5</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0.854</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0.802</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4F6FA"/>
                    </a:solidFill>
                  </a:tcPr>
                </a:tc>
              </a:tr>
              <a:tr h="310896">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P3 (tau 0.9)</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0.906</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0.792</a:t>
                      </a:r>
                      <a:endParaRPr lang="en-US" sz="1200" dirty="0">
                        <a:latin typeface="Calibri" charset="0"/>
                        <a:ea typeface="Calibri" charset="0"/>
                        <a:cs typeface="Calibri" charset="0"/>
                      </a:endParaRPr>
                    </a:p>
                  </a:txBody>
                  <a:tcPr marL="91440" marR="91440" marT="45720" marB="45720" anchor="ctr">
                    <a:lnL w="6350" cap="flat" cmpd="sng" algn="ctr">
                      <a:solidFill>
                        <a:srgbClr val="D9DDE5"/>
                      </a:solidFill>
                      <a:prstDash val="solid"/>
                      <a:round/>
                      <a:headEnd type="none" w="med" len="med"/>
                      <a:tailEnd type="none" w="med" len="med"/>
                    </a:lnL>
                    <a:lnR w="6350" cap="flat" cmpd="sng" algn="ctr">
                      <a:solidFill>
                        <a:srgbClr val="D9DDE5"/>
                      </a:solidFill>
                      <a:prstDash val="solid"/>
                      <a:round/>
                      <a:headEnd type="none" w="med" len="med"/>
                      <a:tailEnd type="none" w="med" len="med"/>
                    </a:lnR>
                    <a:lnT w="6350" cap="flat" cmpd="sng" algn="ctr">
                      <a:solidFill>
                        <a:srgbClr val="D9DDE5"/>
                      </a:solidFill>
                      <a:prstDash val="solid"/>
                      <a:round/>
                      <a:headEnd type="none" w="med" len="med"/>
                      <a:tailEnd type="none" w="med" len="med"/>
                    </a:lnT>
                    <a:lnB w="6350" cap="flat" cmpd="sng" algn="ctr">
                      <a:solidFill>
                        <a:srgbClr val="D9DDE5"/>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114800"/>
            <a:ext cx="11064240" cy="1554480"/>
          </a:xfrm>
          <a:prstGeom prst="rect">
            <a:avLst/>
          </a:prstGeom>
          <a:solidFill>
            <a:srgbClr val="F4F6FA"/>
          </a:solidFill>
          <a:ln/>
        </p:spPr>
      </p:sp>
      <p:sp>
        <p:nvSpPr>
          <p:cNvPr id="9" name="Text 5"/>
          <p:cNvSpPr/>
          <p:nvPr/>
        </p:nvSpPr>
        <p:spPr>
          <a:xfrm>
            <a:off x="822960" y="4297680"/>
            <a:ext cx="10515600" cy="1188720"/>
          </a:xfrm>
          <a:prstGeom prst="rect">
            <a:avLst/>
          </a:prstGeom>
          <a:noFill/>
          <a:ln/>
        </p:spPr>
        <p:txBody>
          <a:bodyPr wrap="square"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Four footprints match to the unit, which shows the sweep exercises the same pipeline that produced the thesis numbers. </a:t>
            </a:r>
            <a:pPr indent="0" marL="0">
              <a:buNone/>
            </a:pPr>
            <a:r>
              <a:rPr lang="en-US" sz="1400" dirty="0">
                <a:solidFill>
                  <a:srgbClr val="222222"/>
                </a:solidFill>
                <a:latin typeface="Calibri" pitchFamily="34" charset="0"/>
                <a:ea typeface="Calibri" pitchFamily="34" charset="-122"/>
                <a:cs typeface="Calibri" pitchFamily="34" charset="-120"/>
              </a:rPr>
              <a:t>Gold support tracks accuracy within about five points for four policies. P3 is the informative exception: it has the gold fact available but also the stale one, so its accuracy sits well below what retrieval alone would predict.</a:t>
            </a:r>
            <a:endParaRPr lang="en-US" sz="1400" dirty="0"/>
          </a:p>
        </p:txBody>
      </p:sp>
      <p:sp>
        <p:nvSpPr>
          <p:cNvPr id="10" name="Text 6"/>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11" name="Text 7"/>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STATUS</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What is closed, and what is still open</a:t>
            </a:r>
            <a:endParaRPr lang="en-US" sz="2700" dirty="0"/>
          </a:p>
        </p:txBody>
      </p:sp>
      <p:sp>
        <p:nvSpPr>
          <p:cNvPr id="4" name="Text 2"/>
          <p:cNvSpPr/>
          <p:nvPr/>
        </p:nvSpPr>
        <p:spPr>
          <a:xfrm>
            <a:off x="548640" y="1554480"/>
            <a:ext cx="5303520" cy="274320"/>
          </a:xfrm>
          <a:prstGeom prst="rect">
            <a:avLst/>
          </a:prstGeom>
          <a:noFill/>
          <a:ln/>
        </p:spPr>
        <p:txBody>
          <a:bodyPr wrap="square" rtlCol="0" anchor="ctr"/>
          <a:lstStyle/>
          <a:p>
            <a:pPr indent="0" marL="0">
              <a:buNone/>
            </a:pPr>
            <a:r>
              <a:rPr lang="en-US" sz="1400" b="1" dirty="0">
                <a:solidFill>
                  <a:srgbClr val="2F6F4E"/>
                </a:solidFill>
                <a:latin typeface="Calibri" pitchFamily="34" charset="0"/>
                <a:ea typeface="Calibri" pitchFamily="34" charset="-122"/>
                <a:cs typeface="Calibri" pitchFamily="34" charset="-120"/>
              </a:rPr>
              <a:t>Closed this week</a:t>
            </a:r>
            <a:endParaRPr lang="en-US" sz="1400" dirty="0"/>
          </a:p>
        </p:txBody>
      </p:sp>
      <p:sp>
        <p:nvSpPr>
          <p:cNvPr id="5" name="Text 3"/>
          <p:cNvSpPr/>
          <p:nvPr/>
        </p:nvSpPr>
        <p:spPr>
          <a:xfrm>
            <a:off x="548640" y="1874520"/>
            <a:ext cx="5303520" cy="2926080"/>
          </a:xfrm>
          <a:prstGeom prst="rect">
            <a:avLst/>
          </a:prstGeom>
          <a:noFill/>
          <a:ln/>
        </p:spPr>
        <p:txBody>
          <a:bodyPr wrap="square" rtlCol="0" anchor="ctr"/>
          <a:lstStyle/>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Why 7 days: answered, with a mechanism.</a:t>
            </a:r>
            <a:endParaRPr lang="en-US" sz="1350" dirty="0"/>
          </a:p>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Why k = 25: answered across a tenfold range.</a:t>
            </a:r>
            <a:endParaRPr lang="en-US" sz="1350" dirty="0"/>
          </a:p>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Why 0.6 / 0.3 / 0.1: answered for both claims that matter.</a:t>
            </a:r>
            <a:endParaRPr lang="en-US" sz="1350" dirty="0"/>
          </a:p>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Why tau = 0.9: answered, and it strengthened the P3 result.</a:t>
            </a:r>
            <a:endParaRPr lang="en-US" sz="1350" dirty="0"/>
          </a:p>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Harness validated against published footprints.</a:t>
            </a:r>
            <a:endParaRPr lang="en-US" sz="1350" dirty="0"/>
          </a:p>
        </p:txBody>
      </p:sp>
      <p:sp>
        <p:nvSpPr>
          <p:cNvPr id="6" name="Text 4"/>
          <p:cNvSpPr/>
          <p:nvPr/>
        </p:nvSpPr>
        <p:spPr>
          <a:xfrm>
            <a:off x="6309360" y="1554480"/>
            <a:ext cx="5303520" cy="274320"/>
          </a:xfrm>
          <a:prstGeom prst="rect">
            <a:avLst/>
          </a:prstGeom>
          <a:noFill/>
          <a:ln/>
        </p:spPr>
        <p:txBody>
          <a:bodyPr wrap="square" rtlCol="0" anchor="ctr"/>
          <a:lstStyle/>
          <a:p>
            <a:pPr indent="0" marL="0">
              <a:buNone/>
            </a:pPr>
            <a:r>
              <a:rPr lang="en-US" sz="1400" b="1" dirty="0">
                <a:solidFill>
                  <a:srgbClr val="A33A3A"/>
                </a:solidFill>
                <a:latin typeface="Calibri" pitchFamily="34" charset="0"/>
                <a:ea typeface="Calibri" pitchFamily="34" charset="-122"/>
                <a:cs typeface="Calibri" pitchFamily="34" charset="-120"/>
              </a:rPr>
              <a:t>Still open</a:t>
            </a:r>
            <a:endParaRPr lang="en-US" sz="1400" dirty="0"/>
          </a:p>
        </p:txBody>
      </p:sp>
      <p:sp>
        <p:nvSpPr>
          <p:cNvPr id="7" name="Text 5"/>
          <p:cNvSpPr/>
          <p:nvPr/>
        </p:nvSpPr>
        <p:spPr>
          <a:xfrm>
            <a:off x="6309360" y="1874520"/>
            <a:ext cx="5303520" cy="2926080"/>
          </a:xfrm>
          <a:prstGeom prst="rect">
            <a:avLst/>
          </a:prstGeom>
          <a:noFill/>
          <a:ln/>
        </p:spPr>
        <p:txBody>
          <a:bodyPr wrap="square" rtlCol="0" anchor="ctr"/>
          <a:lstStyle/>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Same sweep on FactConsolidation, to show it replicates.</a:t>
            </a:r>
            <a:endParaRPr lang="en-US" sz="1350" dirty="0"/>
          </a:p>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Frontier answer model confirmation, 4 cells, paid.</a:t>
            </a:r>
            <a:endParaRPr lang="en-US" sz="1350" dirty="0"/>
          </a:p>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Frontier judge regrade, cheap because answers are cached.</a:t>
            </a:r>
            <a:endParaRPr lang="en-US" sz="1350" dirty="0"/>
          </a:p>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RQ4: 16 of 21 multi-agent cells still unrun.</a:t>
            </a:r>
            <a:endParaRPr lang="en-US" sz="1350" dirty="0"/>
          </a:p>
          <a:p>
            <a:pPr marL="342900" indent="-342900">
              <a:lnSpc>
                <a:spcPts val="2200"/>
              </a:lnSpc>
              <a:spcAft>
                <a:spcPts val="1000"/>
              </a:spcAft>
              <a:buSzPct val="100000"/>
              <a:buChar char="•"/>
            </a:pPr>
            <a:r>
              <a:rPr lang="en-US" sz="1350" dirty="0">
                <a:solidFill>
                  <a:srgbClr val="222222"/>
                </a:solidFill>
                <a:latin typeface="Calibri" pitchFamily="34" charset="0"/>
                <a:ea typeface="Calibri" pitchFamily="34" charset="-122"/>
                <a:cs typeface="Calibri" pitchFamily="34" charset="-120"/>
              </a:rPr>
              <a:t>Proxy is a string match, so P2 shows 0.427 stale exposure it may not deserve.</a:t>
            </a:r>
            <a:endParaRPr lang="en-US" sz="1350" dirty="0"/>
          </a:p>
        </p:txBody>
      </p:sp>
      <p:sp>
        <p:nvSpPr>
          <p:cNvPr id="8" name="Text 6"/>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9" name="Text 7"/>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QUESTIONS FOR YOU</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Five decisions I would like your steer on</a:t>
            </a:r>
            <a:endParaRPr lang="en-US" sz="2700" dirty="0"/>
          </a:p>
        </p:txBody>
      </p:sp>
      <p:sp>
        <p:nvSpPr>
          <p:cNvPr id="4" name="Text 2"/>
          <p:cNvSpPr/>
          <p:nvPr/>
        </p:nvSpPr>
        <p:spPr>
          <a:xfrm>
            <a:off x="548640" y="1600200"/>
            <a:ext cx="11064240" cy="4206240"/>
          </a:xfrm>
          <a:prstGeom prst="rect">
            <a:avLst/>
          </a:prstGeom>
          <a:noFill/>
          <a:ln/>
        </p:spPr>
        <p:txBody>
          <a:bodyPr wrap="square" rtlCol="0" anchor="ctr"/>
          <a:lstStyle/>
          <a:p>
            <a:pPr marL="342900" indent="-342900">
              <a:lnSpc>
                <a:spcPts val="22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k = 25 versus k = 5: the sweep shows no answerability gained. Do I re-run the headline cells at a smaller k to claim the cost saving, or keep k = 25 as pre-registered and report the sweep as sensitivity only?</a:t>
            </a:r>
            <a:endParaRPr lang="en-US" sz="1450" dirty="0"/>
          </a:p>
          <a:p>
            <a:pPr marL="342900" indent="-342900">
              <a:lnSpc>
                <a:spcPts val="22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Is a string-match retrieval proxy acceptable as appendix evidence, or should it match on invalidated-fact identity before it is citable?</a:t>
            </a:r>
            <a:endParaRPr lang="en-US" sz="1450" dirty="0"/>
          </a:p>
          <a:p>
            <a:pPr marL="342900" indent="-342900">
              <a:lnSpc>
                <a:spcPts val="22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For P1, is a data-derived justification for ttl = 20 acceptable, or does any post-hoc justification of a hyperparameter count as tuning?</a:t>
            </a:r>
            <a:endParaRPr lang="en-US" sz="1450" dirty="0"/>
          </a:p>
          <a:p>
            <a:pPr marL="342900" indent="-342900">
              <a:lnSpc>
                <a:spcPts val="22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Is a four-cell frontier confirmation enough for external validity, or do you want the full seven-policy matrix at frontier scale?</a:t>
            </a:r>
            <a:endParaRPr lang="en-US" sz="1450" dirty="0"/>
          </a:p>
          <a:p>
            <a:pPr marL="342900" indent="-342900">
              <a:lnSpc>
                <a:spcPts val="2200"/>
              </a:lnSpc>
              <a:spcAft>
                <a:spcPts val="1000"/>
              </a:spcAft>
              <a:buSzPct val="100000"/>
              <a:buChar char="•"/>
            </a:pPr>
            <a:r>
              <a:rPr lang="en-US" sz="1450" dirty="0">
                <a:solidFill>
                  <a:srgbClr val="222222"/>
                </a:solidFill>
                <a:latin typeface="Calibri" pitchFamily="34" charset="0"/>
                <a:ea typeface="Calibri" pitchFamily="34" charset="-122"/>
                <a:cs typeface="Calibri" pitchFamily="34" charset="-120"/>
              </a:rPr>
              <a:t>Priority call: closing RQ4 or adding a conversational benchmark. Both address the top threat and there is time for one.</a:t>
            </a:r>
            <a:endParaRPr lang="en-US" sz="1450" dirty="0"/>
          </a:p>
        </p:txBody>
      </p:sp>
      <p:sp>
        <p:nvSpPr>
          <p:cNvPr id="5" name="Text 3"/>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6" name="Text 4"/>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10058400" cy="256032"/>
          </a:xfrm>
          <a:prstGeom prst="rect">
            <a:avLst/>
          </a:prstGeom>
          <a:noFill/>
          <a:ln/>
        </p:spPr>
        <p:txBody>
          <a:bodyPr wrap="square" rtlCol="0" anchor="ctr"/>
          <a:lstStyle/>
          <a:p>
            <a:pPr indent="0" marL="0">
              <a:buNone/>
            </a:pPr>
            <a:r>
              <a:rPr lang="en-US" sz="1100" b="1" spc="120" kern="0" dirty="0">
                <a:solidFill>
                  <a:srgbClr val="C8811A"/>
                </a:solidFill>
                <a:latin typeface="Calibri" pitchFamily="34" charset="0"/>
                <a:ea typeface="Calibri" pitchFamily="34" charset="-122"/>
                <a:cs typeface="Calibri" pitchFamily="34" charset="-120"/>
              </a:rPr>
              <a:t>NEXT WEEK</a:t>
            </a:r>
            <a:endParaRPr lang="en-US" sz="1100" dirty="0"/>
          </a:p>
        </p:txBody>
      </p:sp>
      <p:sp>
        <p:nvSpPr>
          <p:cNvPr id="3" name="Text 1"/>
          <p:cNvSpPr/>
          <p:nvPr/>
        </p:nvSpPr>
        <p:spPr>
          <a:xfrm>
            <a:off x="548640" y="658368"/>
            <a:ext cx="11064240" cy="68580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Plan</a:t>
            </a:r>
            <a:endParaRPr lang="en-US" sz="2700" dirty="0"/>
          </a:p>
        </p:txBody>
      </p:sp>
      <p:sp>
        <p:nvSpPr>
          <p:cNvPr id="4" name="Text 2"/>
          <p:cNvSpPr/>
          <p:nvPr/>
        </p:nvSpPr>
        <p:spPr>
          <a:xfrm>
            <a:off x="548640" y="1645920"/>
            <a:ext cx="11064240" cy="4023360"/>
          </a:xfrm>
          <a:prstGeom prst="rect">
            <a:avLst/>
          </a:prstGeom>
          <a:noFill/>
          <a:ln/>
        </p:spPr>
        <p:txBody>
          <a:bodyPr wrap="square" rtlCol="0" anchor="ctr"/>
          <a:lstStyle/>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Run the same sweep on FactConsolidation and check the stability numbers replicate on a second benchmark.</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Run the proxy validation against the graded cells and report the correlation, so the sweeps rest on a measured relationship.</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Run the frontier confirmation and the judge regrade, then write both into Chapter 5 as external validity.</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Draft the sensitivity appendix, with one paragraph per constant in the form the thesis needs.</a:t>
            </a:r>
            <a:endParaRPr lang="en-US" sz="1500" dirty="0"/>
          </a:p>
          <a:p>
            <a:pPr marL="342900" indent="-342900">
              <a:lnSpc>
                <a:spcPts val="2200"/>
              </a:lnSpc>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Continue Chapter 1, which is drafted and attached separately.</a:t>
            </a:r>
            <a:endParaRPr lang="en-US" sz="1500" dirty="0"/>
          </a:p>
        </p:txBody>
      </p:sp>
      <p:sp>
        <p:nvSpPr>
          <p:cNvPr id="5" name="Text 3"/>
          <p:cNvSpPr/>
          <p:nvPr/>
        </p:nvSpPr>
        <p:spPr>
          <a:xfrm>
            <a:off x="548640" y="6327648"/>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DRIFT  ·  Weekly update  ·  10 September 2026</a:t>
            </a:r>
            <a:endParaRPr lang="en-US" sz="900" dirty="0"/>
          </a:p>
        </p:txBody>
      </p:sp>
      <p:sp>
        <p:nvSpPr>
          <p:cNvPr id="6" name="Text 4"/>
          <p:cNvSpPr/>
          <p:nvPr/>
        </p:nvSpPr>
        <p:spPr>
          <a:xfrm>
            <a:off x="11155680" y="6327648"/>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DRIFT weekly update</dc:title>
  <dc:subject>PptxGenJS Presentation</dc:subject>
  <dc:creator>Nandan Hemanth</dc:creator>
  <cp:lastModifiedBy>Nandan Hemanth</cp:lastModifiedBy>
  <cp:revision>1</cp:revision>
  <dcterms:created xsi:type="dcterms:W3CDTF">2026-09-10T14:48:03Z</dcterms:created>
  <dcterms:modified xsi:type="dcterms:W3CDTF">2026-09-10T14:48:03Z</dcterms:modified>
</cp:coreProperties>
</file>