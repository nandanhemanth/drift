
<file path=[Content_Types].xml><?xml version="1.0" encoding="utf-8"?>
<Types xmlns="http://schemas.openxmlformats.org/package/2006/content-types">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018C7E7-2324-4B46-8E55-F870A1040F12}">
  <a:tblStyle styleId="{7018C7E7-2324-4B46-8E55-F870A1040F12}"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2834640"/>
            <a:ext cx="10058400" cy="640080"/>
          </a:xfrm>
          <a:prstGeom prst="rect">
            <a:avLst/>
          </a:prstGeom>
          <a:noFill/>
        </p:spPr>
        <p:txBody>
          <a:bodyPr wrap="square" lIns="91425" rIns="91425" tIns="45700" bIns="45700" anchor="ctr"/>
          <a:lstStyle/>
          <a:p>
            <a:pPr algn="l">
              <a:spcBef>
                <a:spcPts val="0"/>
              </a:spcBef>
              <a:spcAft>
                <a:spcPts val="0"/>
              </a:spcAft>
            </a:pPr>
            <a:r>
              <a:rPr sz="3800" b="1" i="0">
                <a:solidFill>
                  <a:srgbClr val="1F2933"/>
                </a:solidFill>
                <a:latin typeface="Calibri"/>
              </a:rPr>
              <a:t>Weekly update 5</a:t>
            </a:r>
          </a:p>
        </p:txBody>
      </p:sp>
      <p:sp>
        <p:nvSpPr>
          <p:cNvPr id="3" name="TextBox 2"/>
          <p:cNvSpPr txBox="1"/>
          <p:nvPr/>
        </p:nvSpPr>
        <p:spPr>
          <a:xfrm>
            <a:off x="822960" y="3520440"/>
            <a:ext cx="10058400" cy="411480"/>
          </a:xfrm>
          <a:prstGeom prst="rect">
            <a:avLst/>
          </a:prstGeom>
          <a:noFill/>
        </p:spPr>
        <p:txBody>
          <a:bodyPr wrap="square" lIns="91425" rIns="91425" tIns="45700" bIns="45700" anchor="ctr"/>
          <a:lstStyle/>
          <a:p>
            <a:pPr algn="l">
              <a:spcBef>
                <a:spcPts val="0"/>
              </a:spcBef>
              <a:spcAft>
                <a:spcPts val="0"/>
              </a:spcAft>
            </a:pPr>
            <a:r>
              <a:rPr sz="1900" b="0" i="0">
                <a:solidFill>
                  <a:srgbClr val="1F2933"/>
                </a:solidFill>
                <a:latin typeface="Calibri"/>
              </a:rPr>
              <a:t>Where each checkpoint stands, and the plan to finish the experiments</a:t>
            </a:r>
          </a:p>
        </p:txBody>
      </p:sp>
      <p:sp>
        <p:nvSpPr>
          <p:cNvPr id="4" name="TextBox 3"/>
          <p:cNvSpPr txBox="1"/>
          <p:nvPr/>
        </p:nvSpPr>
        <p:spPr>
          <a:xfrm>
            <a:off x="667512" y="5961888"/>
            <a:ext cx="10058400" cy="320040"/>
          </a:xfrm>
          <a:prstGeom prst="rect">
            <a:avLst/>
          </a:prstGeom>
          <a:noFill/>
        </p:spPr>
        <p:txBody>
          <a:bodyPr wrap="square" lIns="91425" rIns="91425" tIns="45700" bIns="45700" anchor="t"/>
          <a:lstStyle/>
          <a:p>
            <a:pPr algn="l">
              <a:spcBef>
                <a:spcPts val="0"/>
              </a:spcBef>
              <a:spcAft>
                <a:spcPts val="0"/>
              </a:spcAft>
            </a:pPr>
            <a:r>
              <a:rPr sz="1200" b="0" i="0">
                <a:solidFill>
                  <a:srgbClr val="7B8794"/>
                </a:solidFill>
                <a:latin typeface="Calibri"/>
              </a:rPr>
              <a:t>Nandan Hemanth  ·  8 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676656"/>
            <a:ext cx="10881360" cy="548640"/>
          </a:xfrm>
          <a:prstGeom prst="rect">
            <a:avLst/>
          </a:prstGeom>
          <a:noFill/>
        </p:spPr>
        <p:txBody>
          <a:bodyPr wrap="square" lIns="91425" rIns="91425" tIns="45700" bIns="45700" anchor="ctr"/>
          <a:lstStyle/>
          <a:p>
            <a:pPr algn="l">
              <a:spcBef>
                <a:spcPts val="0"/>
              </a:spcBef>
              <a:spcAft>
                <a:spcPts val="0"/>
              </a:spcAft>
            </a:pPr>
            <a:r>
              <a:rPr sz="2500" b="1" i="0">
                <a:solidFill>
                  <a:srgbClr val="1F2933"/>
                </a:solidFill>
                <a:latin typeface="Calibri"/>
              </a:rPr>
              <a:t>The four research questions, and how close each one is</a:t>
            </a:r>
          </a:p>
        </p:txBody>
      </p:sp>
      <p:sp>
        <p:nvSpPr>
          <p:cNvPr id="3" name="TextBox 2"/>
          <p:cNvSpPr txBox="1"/>
          <p:nvPr/>
        </p:nvSpPr>
        <p:spPr>
          <a:xfrm>
            <a:off x="11064240" y="6355080"/>
            <a:ext cx="457200" cy="256032"/>
          </a:xfrm>
          <a:prstGeom prst="rect">
            <a:avLst/>
          </a:prstGeom>
          <a:noFill/>
        </p:spPr>
        <p:txBody>
          <a:bodyPr wrap="square" lIns="91425" rIns="91425" tIns="45700" bIns="45700" anchor="t"/>
          <a:lstStyle/>
          <a:p>
            <a:pPr algn="r">
              <a:spcBef>
                <a:spcPts val="0"/>
              </a:spcBef>
              <a:spcAft>
                <a:spcPts val="0"/>
              </a:spcAft>
            </a:pPr>
            <a:r>
              <a:rPr sz="900" b="0" i="0">
                <a:solidFill>
                  <a:srgbClr val="7B8794"/>
                </a:solidFill>
                <a:latin typeface="Calibri"/>
              </a:rPr>
              <a:t>1</a:t>
            </a:r>
          </a:p>
        </p:txBody>
      </p:sp>
      <p:sp>
        <p:nvSpPr>
          <p:cNvPr id="4" name="Rectangle 3"/>
          <p:cNvSpPr/>
          <p:nvPr/>
        </p:nvSpPr>
        <p:spPr>
          <a:xfrm>
            <a:off x="640080" y="1261872"/>
            <a:ext cx="10881360" cy="502920"/>
          </a:xfrm>
          <a:prstGeom prst="rect">
            <a:avLst/>
          </a:prstGeom>
          <a:solidFill>
            <a:srgbClr val="F7F8F9"/>
          </a:solidFill>
          <a:ln>
            <a:noFill/>
          </a:ln>
        </p:spPr>
        <p:txBody>
          <a:bodyPr rtlCol="0" anchor="ctr"/>
          <a:lstStyle/>
          <a:p>
            <a:pPr algn="ctr"/>
          </a:p>
        </p:txBody>
      </p:sp>
      <p:sp>
        <p:nvSpPr>
          <p:cNvPr id="5" name="TextBox 4"/>
          <p:cNvSpPr txBox="1"/>
          <p:nvPr/>
        </p:nvSpPr>
        <p:spPr>
          <a:xfrm>
            <a:off x="777240" y="1298448"/>
            <a:ext cx="10652760" cy="429768"/>
          </a:xfrm>
          <a:prstGeom prst="rect">
            <a:avLst/>
          </a:prstGeom>
          <a:noFill/>
        </p:spPr>
        <p:txBody>
          <a:bodyPr wrap="square" lIns="91425" rIns="91425" tIns="45700" bIns="45700" anchor="ctr"/>
          <a:lstStyle/>
          <a:p>
            <a:pPr algn="l">
              <a:spcBef>
                <a:spcPts val="0"/>
              </a:spcBef>
              <a:spcAft>
                <a:spcPts val="0"/>
              </a:spcAft>
            </a:pPr>
            <a:r>
              <a:rPr sz="1250" b="1" i="0">
                <a:solidFill>
                  <a:srgbClr val="0F766E"/>
                </a:solidFill>
                <a:latin typeface="Calibri"/>
              </a:rPr>
              <a:t>THESIS IN ONE LINE   </a:t>
            </a:r>
            <a:r>
              <a:rPr sz="1250" b="0" i="0">
                <a:solidFill>
                  <a:srgbClr val="1F2933"/>
                </a:solidFill>
                <a:latin typeface="Calibri"/>
              </a:rPr>
              <a:t>Hold the memory system fixed, change only the forgetting policy, and measure accuracy, staleness and cost.</a:t>
            </a:r>
          </a:p>
        </p:txBody>
      </p:sp>
      <p:graphicFrame>
        <p:nvGraphicFramePr>
          <p:cNvPr id="6" name="Table 5"/>
          <p:cNvGraphicFramePr>
            <a:graphicFrameLocks noGrp="1"/>
          </p:cNvGraphicFramePr>
          <p:nvPr/>
        </p:nvGraphicFramePr>
        <p:xfrm>
          <a:off x="640080" y="1965960"/>
          <a:ext cx="10881359" cy="2514600"/>
        </p:xfrm>
        <a:graphic>
          <a:graphicData uri="http://schemas.openxmlformats.org/drawingml/2006/table">
            <a:tbl>
              <a:tblPr firstRow="0" bandRow="0" firstCol="0" lastRow="0" lastCol="0" bandCol="0">
                <a:tableStyleId>{7018C7E7-2324-4B46-8E55-F870A1040F12}</a:tableStyleId>
              </a:tblPr>
              <a:tblGrid>
                <a:gridCol w="685800"/>
                <a:gridCol w="4206240"/>
                <a:gridCol w="1874519"/>
                <a:gridCol w="4114800"/>
              </a:tblGrid>
              <a:tr h="502920">
                <a:tc>
                  <a:txBody>
                    <a:bodyPr wrap="square"/>
                    <a:lstStyle/>
                    <a:p>
                      <a:pPr algn="l"/>
                      <a:r>
                        <a:rPr sz="1150" b="1" i="0">
                          <a:solidFill>
                            <a:srgbClr val="1F2933"/>
                          </a:solidFill>
                          <a:latin typeface="Calibri"/>
                        </a:rPr>
                        <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7F8F9"/>
                    </a:solidFill>
                  </a:tcPr>
                </a:tc>
                <a:tc>
                  <a:txBody>
                    <a:bodyPr wrap="square"/>
                    <a:lstStyle/>
                    <a:p>
                      <a:pPr algn="ctr"/>
                      <a:r>
                        <a:rPr sz="1150" b="1" i="0">
                          <a:solidFill>
                            <a:srgbClr val="1F2933"/>
                          </a:solidFill>
                          <a:latin typeface="Calibri"/>
                        </a:rPr>
                        <a:t>research question</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7F8F9"/>
                    </a:solidFill>
                  </a:tcPr>
                </a:tc>
                <a:tc>
                  <a:txBody>
                    <a:bodyPr wrap="square"/>
                    <a:lstStyle/>
                    <a:p>
                      <a:pPr algn="ctr"/>
                      <a:r>
                        <a:rPr sz="1150" b="1" i="0">
                          <a:solidFill>
                            <a:srgbClr val="1F2933"/>
                          </a:solidFill>
                          <a:latin typeface="Calibri"/>
                        </a:rPr>
                        <a:t>status</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7F8F9"/>
                    </a:solidFill>
                  </a:tcPr>
                </a:tc>
                <a:tc>
                  <a:txBody>
                    <a:bodyPr wrap="square"/>
                    <a:lstStyle/>
                    <a:p>
                      <a:pPr algn="ctr"/>
                      <a:r>
                        <a:rPr sz="1150" b="1" i="0">
                          <a:solidFill>
                            <a:srgbClr val="1F2933"/>
                          </a:solidFill>
                          <a:latin typeface="Calibri"/>
                        </a:rPr>
                        <a:t>evidence so far</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7F8F9"/>
                    </a:solidFill>
                  </a:tcPr>
                </a:tc>
              </a:tr>
              <a:tr h="502920">
                <a:tc>
                  <a:txBody>
                    <a:bodyPr wrap="square"/>
                    <a:lstStyle/>
                    <a:p>
                      <a:pPr algn="l"/>
                      <a:r>
                        <a:rPr sz="1150" b="1" i="0">
                          <a:solidFill>
                            <a:srgbClr val="1F2933"/>
                          </a:solidFill>
                          <a:latin typeface="Calibri"/>
                        </a:rPr>
                        <a:t>RQ1</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Does memory that never forgets surface outdated facts?</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answered</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yes: P0 gives stale answers on all three benchmarks</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502920">
                <a:tc>
                  <a:txBody>
                    <a:bodyPr wrap="square"/>
                    <a:lstStyle/>
                    <a:p>
                      <a:pPr algn="l"/>
                      <a:r>
                        <a:rPr sz="1150" b="1" i="0">
                          <a:solidFill>
                            <a:srgbClr val="1F2933"/>
                          </a:solidFill>
                          <a:latin typeface="Calibri"/>
                        </a:rPr>
                        <a:t>RQ2</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Which policy gives the best accuracy, staleness and cost trade-off?</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answered, being extended</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P2: less staleness, no accuracy loss, 12 to 17% fewer tokens</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502920">
                <a:tc>
                  <a:txBody>
                    <a:bodyPr wrap="square"/>
                    <a:lstStyle/>
                    <a:p>
                      <a:pPr algn="l"/>
                      <a:r>
                        <a:rPr sz="1150" b="1" i="0">
                          <a:solidFill>
                            <a:srgbClr val="1F2933"/>
                          </a:solidFill>
                          <a:latin typeface="Calibri"/>
                        </a:rPr>
                        <a:t>RQ3</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Does the date-aware (bitemporal) structure itself matter?</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answered</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P2 beats structure-blind P3 and P5 on staleness</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502920">
                <a:tc>
                  <a:txBody>
                    <a:bodyPr wrap="square"/>
                    <a:lstStyle/>
                    <a:p>
                      <a:pPr algn="l"/>
                      <a:r>
                        <a:rPr sz="1150" b="1" i="0">
                          <a:solidFill>
                            <a:srgbClr val="1F2933"/>
                          </a:solidFill>
                          <a:latin typeface="Calibri"/>
                        </a:rPr>
                        <a:t>RQ4</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Do the rankings survive many agents writing to one memory?</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1" i="0">
                          <a:solidFill>
                            <a:srgbClr val="0F766E"/>
                          </a:solidFill>
                          <a:latin typeface="Calibri"/>
                        </a:rPr>
                        <a:t>open</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5 of 21 cells; P2 never fired (RQ4 slide)</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bl>
          </a:graphicData>
        </a:graphic>
      </p:graphicFrame>
      <p:sp>
        <p:nvSpPr>
          <p:cNvPr id="7" name="Rectangle 6"/>
          <p:cNvSpPr/>
          <p:nvPr/>
        </p:nvSpPr>
        <p:spPr>
          <a:xfrm>
            <a:off x="640080" y="4983480"/>
            <a:ext cx="10881360" cy="1051560"/>
          </a:xfrm>
          <a:prstGeom prst="rect">
            <a:avLst/>
          </a:prstGeom>
          <a:solidFill>
            <a:srgbClr val="F7F8F9"/>
          </a:solidFill>
          <a:ln>
            <a:noFill/>
          </a:ln>
        </p:spPr>
        <p:txBody>
          <a:bodyPr rtlCol="0" anchor="ctr"/>
          <a:lstStyle/>
          <a:p>
            <a:pPr algn="ctr"/>
          </a:p>
        </p:txBody>
      </p:sp>
      <p:sp>
        <p:nvSpPr>
          <p:cNvPr id="8" name="Rectangle 7"/>
          <p:cNvSpPr/>
          <p:nvPr/>
        </p:nvSpPr>
        <p:spPr>
          <a:xfrm>
            <a:off x="640080" y="4983480"/>
            <a:ext cx="36576" cy="1051560"/>
          </a:xfrm>
          <a:prstGeom prst="rect">
            <a:avLst/>
          </a:prstGeom>
          <a:solidFill>
            <a:srgbClr val="0F766E"/>
          </a:solidFill>
          <a:ln>
            <a:noFill/>
          </a:ln>
        </p:spPr>
        <p:txBody>
          <a:bodyPr rtlCol="0" anchor="ctr"/>
          <a:lstStyle/>
          <a:p>
            <a:pPr algn="ctr"/>
          </a:p>
        </p:txBody>
      </p:sp>
      <p:sp>
        <p:nvSpPr>
          <p:cNvPr id="9" name="TextBox 8"/>
          <p:cNvSpPr txBox="1"/>
          <p:nvPr/>
        </p:nvSpPr>
        <p:spPr>
          <a:xfrm>
            <a:off x="914400" y="5111496"/>
            <a:ext cx="10332720" cy="795527"/>
          </a:xfrm>
          <a:prstGeom prst="rect">
            <a:avLst/>
          </a:prstGeom>
          <a:noFill/>
        </p:spPr>
        <p:txBody>
          <a:bodyPr wrap="square" lIns="91425" rIns="91425" tIns="45700" bIns="45700" anchor="ctr"/>
          <a:lstStyle/>
          <a:p>
            <a:pPr algn="l">
              <a:spcBef>
                <a:spcPts val="0"/>
              </a:spcBef>
              <a:spcAft>
                <a:spcPts val="0"/>
              </a:spcAft>
            </a:pPr>
            <a:r>
              <a:rPr sz="1250" b="1" i="0">
                <a:solidFill>
                  <a:srgbClr val="1F2933"/>
                </a:solidFill>
                <a:latin typeface="Calibri"/>
              </a:rPr>
              <a:t>This week's message. </a:t>
            </a:r>
            <a:r>
              <a:rPr sz="1250" b="0" i="0">
                <a:solidFill>
                  <a:srgbClr val="1F2933"/>
                </a:solidFill>
                <a:latin typeface="Calibri"/>
              </a:rPr>
              <a:t>Checkpoints 1 and 2 are mostly done. Checkpoint 3 is designed and ready to run. RQ4 is blocked by one specific, now-diagnosed problem, and the same fix helps ConvoMem.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676656"/>
            <a:ext cx="10881360" cy="548640"/>
          </a:xfrm>
          <a:prstGeom prst="rect">
            <a:avLst/>
          </a:prstGeom>
          <a:noFill/>
        </p:spPr>
        <p:txBody>
          <a:bodyPr wrap="square" lIns="91425" rIns="91425" tIns="45700" bIns="45700" anchor="ctr"/>
          <a:lstStyle/>
          <a:p>
            <a:pPr algn="l">
              <a:spcBef>
                <a:spcPts val="0"/>
              </a:spcBef>
              <a:spcAft>
                <a:spcPts val="0"/>
              </a:spcAft>
            </a:pPr>
            <a:r>
              <a:rPr sz="2500" b="1" i="0">
                <a:solidFill>
                  <a:srgbClr val="1F2933"/>
                </a:solidFill>
                <a:latin typeface="Calibri"/>
              </a:rPr>
              <a:t>Status against the checkpoints</a:t>
            </a:r>
          </a:p>
        </p:txBody>
      </p:sp>
      <p:sp>
        <p:nvSpPr>
          <p:cNvPr id="3" name="TextBox 2"/>
          <p:cNvSpPr txBox="1"/>
          <p:nvPr/>
        </p:nvSpPr>
        <p:spPr>
          <a:xfrm>
            <a:off x="11064240" y="6355080"/>
            <a:ext cx="457200" cy="256032"/>
          </a:xfrm>
          <a:prstGeom prst="rect">
            <a:avLst/>
          </a:prstGeom>
          <a:noFill/>
        </p:spPr>
        <p:txBody>
          <a:bodyPr wrap="square" lIns="91425" rIns="91425" tIns="45700" bIns="45700" anchor="t"/>
          <a:lstStyle/>
          <a:p>
            <a:pPr algn="r">
              <a:spcBef>
                <a:spcPts val="0"/>
              </a:spcBef>
              <a:spcAft>
                <a:spcPts val="0"/>
              </a:spcAft>
            </a:pPr>
            <a:r>
              <a:rPr sz="900" b="0" i="0">
                <a:solidFill>
                  <a:srgbClr val="7B8794"/>
                </a:solidFill>
                <a:latin typeface="Calibri"/>
              </a:rPr>
              <a:t>2</a:t>
            </a:r>
          </a:p>
        </p:txBody>
      </p:sp>
      <p:graphicFrame>
        <p:nvGraphicFramePr>
          <p:cNvPr id="4" name="Table 3"/>
          <p:cNvGraphicFramePr>
            <a:graphicFrameLocks noGrp="1"/>
          </p:cNvGraphicFramePr>
          <p:nvPr/>
        </p:nvGraphicFramePr>
        <p:xfrm>
          <a:off x="640080" y="1371600"/>
          <a:ext cx="10881360" cy="3200400"/>
        </p:xfrm>
        <a:graphic>
          <a:graphicData uri="http://schemas.openxmlformats.org/drawingml/2006/table">
            <a:tbl>
              <a:tblPr firstRow="0" bandRow="0" firstCol="0" lastRow="0" lastCol="0" bandCol="0">
                <a:tableStyleId>{7018C7E7-2324-4B46-8E55-F870A1040F12}</a:tableStyleId>
              </a:tblPr>
              <a:tblGrid>
                <a:gridCol w="3017520"/>
                <a:gridCol w="1600200"/>
                <a:gridCol w="3291840"/>
                <a:gridCol w="2971800"/>
              </a:tblGrid>
              <a:tr h="457200">
                <a:tc>
                  <a:txBody>
                    <a:bodyPr wrap="square"/>
                    <a:lstStyle/>
                    <a:p>
                      <a:pPr algn="l"/>
                      <a:r>
                        <a:rPr sz="1150" b="1" i="0">
                          <a:solidFill>
                            <a:srgbClr val="1F2933"/>
                          </a:solidFill>
                          <a:latin typeface="Calibri"/>
                        </a:rPr>
                        <a:t>checkpoint</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7F8F9"/>
                    </a:solidFill>
                  </a:tcPr>
                </a:tc>
                <a:tc>
                  <a:txBody>
                    <a:bodyPr wrap="square"/>
                    <a:lstStyle/>
                    <a:p>
                      <a:pPr algn="ctr"/>
                      <a:r>
                        <a:rPr sz="1150" b="1" i="0">
                          <a:solidFill>
                            <a:srgbClr val="1F2933"/>
                          </a:solidFill>
                          <a:latin typeface="Calibri"/>
                        </a:rPr>
                        <a:t>status</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7F8F9"/>
                    </a:solidFill>
                  </a:tcPr>
                </a:tc>
                <a:tc>
                  <a:txBody>
                    <a:bodyPr wrap="square"/>
                    <a:lstStyle/>
                    <a:p>
                      <a:pPr algn="ctr"/>
                      <a:r>
                        <a:rPr sz="1150" b="1" i="0">
                          <a:solidFill>
                            <a:srgbClr val="1F2933"/>
                          </a:solidFill>
                          <a:latin typeface="Calibri"/>
                        </a:rPr>
                        <a:t>what is done</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7F8F9"/>
                    </a:solidFill>
                  </a:tcPr>
                </a:tc>
                <a:tc>
                  <a:txBody>
                    <a:bodyPr wrap="square"/>
                    <a:lstStyle/>
                    <a:p>
                      <a:pPr algn="ctr"/>
                      <a:r>
                        <a:rPr sz="1150" b="1" i="0">
                          <a:solidFill>
                            <a:srgbClr val="1F2933"/>
                          </a:solidFill>
                          <a:latin typeface="Calibri"/>
                        </a:rPr>
                        <a:t>what is left</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7F8F9"/>
                    </a:solidFill>
                  </a:tcPr>
                </a:tc>
              </a:tr>
              <a:tr h="457200">
                <a:tc>
                  <a:txBody>
                    <a:bodyPr wrap="square"/>
                    <a:lstStyle/>
                    <a:p>
                      <a:pPr algn="l"/>
                      <a:r>
                        <a:rPr sz="1150" b="1" i="0">
                          <a:solidFill>
                            <a:srgbClr val="1F2933"/>
                          </a:solidFill>
                          <a:latin typeface="Calibri"/>
                        </a:rPr>
                        <a:t>1. best grace period (1 to 21 days)</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1" i="0">
                          <a:solidFill>
                            <a:srgbClr val="0F766E"/>
                          </a:solidFill>
                          <a:latin typeface="Calibri"/>
                        </a:rPr>
                        <a:t>mostly done</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20 end-to-end cells, MQuAKE-T and FactConsolidation</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measure what history is worth; ConvoMem run</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457200">
                <a:tc>
                  <a:txBody>
                    <a:bodyPr wrap="square"/>
                    <a:lstStyle/>
                    <a:p>
                      <a:pPr algn="l"/>
                      <a:r>
                        <a:rPr sz="1150" b="1" i="0">
                          <a:solidFill>
                            <a:srgbClr val="1F2933"/>
                          </a:solidFill>
                          <a:latin typeface="Calibri"/>
                        </a:rPr>
                        <a:t>2. best retrieval weights</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1" i="0">
                          <a:solidFill>
                            <a:srgbClr val="0F766E"/>
                          </a:solidFill>
                          <a:latin typeface="Calibri"/>
                        </a:rPr>
                        <a:t>mostly done</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all 1,000 weightings, 2 benchmarks, 2 models</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one pre-registered test on FactConsolidation</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457200">
                <a:tc>
                  <a:txBody>
                    <a:bodyPr wrap="square"/>
                    <a:lstStyle/>
                    <a:p>
                      <a:pPr algn="l"/>
                      <a:r>
                        <a:rPr sz="1150" b="1" i="0">
                          <a:solidFill>
                            <a:srgbClr val="1F2933"/>
                          </a:solidFill>
                          <a:latin typeface="Calibri"/>
                        </a:rPr>
                        <a:t>3. small vs frontier models</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1" i="0">
                          <a:solidFill>
                            <a:srgbClr val="0F766E"/>
                          </a:solidFill>
                          <a:latin typeface="Calibri"/>
                        </a:rPr>
                        <a:t>designed</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line-up and cost agreed last week</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the final run (next slides)</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457200">
                <a:tc>
                  <a:txBody>
                    <a:bodyPr wrap="square"/>
                    <a:lstStyle/>
                    <a:p>
                      <a:pPr algn="l"/>
                      <a:r>
                        <a:rPr sz="1150" b="1" i="0">
                          <a:solidFill>
                            <a:srgbClr val="1F2933"/>
                          </a:solidFill>
                          <a:latin typeface="Calibri"/>
                        </a:rPr>
                        <a:t>4. revise the thesis document</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in progress (me)</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Chapters 1 and 2 drafted</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Chapters 3 to 6 against new results</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457200">
                <a:tc>
                  <a:txBody>
                    <a:bodyPr wrap="square"/>
                    <a:lstStyle/>
                    <a:p>
                      <a:pPr algn="l"/>
                      <a:r>
                        <a:rPr sz="1150" b="1" i="0">
                          <a:solidFill>
                            <a:srgbClr val="1F2933"/>
                          </a:solidFill>
                          <a:latin typeface="Calibri"/>
                        </a:rPr>
                        <a:t>5. RQ4 content</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1" i="0">
                          <a:solidFill>
                            <a:srgbClr val="0F766E"/>
                          </a:solidFill>
                          <a:latin typeface="Calibri"/>
                        </a:rPr>
                        <a:t>blocked</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pilot diagnosed the cause</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fix, then run the 3 topologies</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457200">
                <a:tc>
                  <a:txBody>
                    <a:bodyPr wrap="square"/>
                    <a:lstStyle/>
                    <a:p>
                      <a:pPr algn="l"/>
                      <a:r>
                        <a:rPr sz="1150" b="1" i="0">
                          <a:solidFill>
                            <a:srgbClr val="1F2933"/>
                          </a:solidFill>
                          <a:latin typeface="Calibri"/>
                        </a:rPr>
                        <a:t>7. other issues found</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listed</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five so far</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fix alongside the runs</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bl>
          </a:graphicData>
        </a:graphic>
      </p:graphicFrame>
      <p:sp>
        <p:nvSpPr>
          <p:cNvPr id="5" name="Rectangle 4"/>
          <p:cNvSpPr/>
          <p:nvPr/>
        </p:nvSpPr>
        <p:spPr>
          <a:xfrm>
            <a:off x="640080" y="4800600"/>
            <a:ext cx="10881360" cy="1234440"/>
          </a:xfrm>
          <a:prstGeom prst="rect">
            <a:avLst/>
          </a:prstGeom>
          <a:solidFill>
            <a:srgbClr val="F7F8F9"/>
          </a:solidFill>
          <a:ln>
            <a:noFill/>
          </a:ln>
        </p:spPr>
        <p:txBody>
          <a:bodyPr rtlCol="0" anchor="ctr"/>
          <a:lstStyle/>
          <a:p>
            <a:pPr algn="ctr"/>
          </a:p>
        </p:txBody>
      </p:sp>
      <p:sp>
        <p:nvSpPr>
          <p:cNvPr id="6" name="Rectangle 5"/>
          <p:cNvSpPr/>
          <p:nvPr/>
        </p:nvSpPr>
        <p:spPr>
          <a:xfrm>
            <a:off x="640080" y="4800600"/>
            <a:ext cx="36576" cy="1234440"/>
          </a:xfrm>
          <a:prstGeom prst="rect">
            <a:avLst/>
          </a:prstGeom>
          <a:solidFill>
            <a:srgbClr val="0F766E"/>
          </a:solidFill>
          <a:ln>
            <a:noFill/>
          </a:ln>
        </p:spPr>
        <p:txBody>
          <a:bodyPr rtlCol="0" anchor="ctr"/>
          <a:lstStyle/>
          <a:p>
            <a:pPr algn="ctr"/>
          </a:p>
        </p:txBody>
      </p:sp>
      <p:sp>
        <p:nvSpPr>
          <p:cNvPr id="7" name="TextBox 6"/>
          <p:cNvSpPr txBox="1"/>
          <p:nvPr/>
        </p:nvSpPr>
        <p:spPr>
          <a:xfrm>
            <a:off x="914400" y="4928616"/>
            <a:ext cx="10332720" cy="978408"/>
          </a:xfrm>
          <a:prstGeom prst="rect">
            <a:avLst/>
          </a:prstGeom>
          <a:noFill/>
        </p:spPr>
        <p:txBody>
          <a:bodyPr wrap="square" lIns="91425" rIns="91425" tIns="45700" bIns="45700" anchor="ctr"/>
          <a:lstStyle/>
          <a:p>
            <a:pPr algn="l">
              <a:spcBef>
                <a:spcPts val="0"/>
              </a:spcBef>
              <a:spcAft>
                <a:spcPts val="0"/>
              </a:spcAft>
            </a:pPr>
            <a:r>
              <a:rPr sz="1250" b="1" i="0">
                <a:solidFill>
                  <a:srgbClr val="1F2933"/>
                </a:solidFill>
                <a:latin typeface="Calibri"/>
              </a:rPr>
              <a:t>Plus one item I am adding: </a:t>
            </a:r>
            <a:r>
              <a:rPr sz="1250" b="0" i="0">
                <a:solidFill>
                  <a:srgbClr val="1F2933"/>
                </a:solidFill>
                <a:latin typeface="Calibri"/>
              </a:rPr>
              <a:t>test each scenario claim on the kind of data it is about. Several recommendations, such as 'keep longer history for audit', rest on arguments, not yet on measurements.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676656"/>
            <a:ext cx="10881360" cy="548640"/>
          </a:xfrm>
          <a:prstGeom prst="rect">
            <a:avLst/>
          </a:prstGeom>
          <a:noFill/>
        </p:spPr>
        <p:txBody>
          <a:bodyPr wrap="square" lIns="91425" rIns="91425" tIns="45700" bIns="45700" anchor="ctr"/>
          <a:lstStyle/>
          <a:p>
            <a:pPr algn="l">
              <a:spcBef>
                <a:spcPts val="0"/>
              </a:spcBef>
              <a:spcAft>
                <a:spcPts val="0"/>
              </a:spcAft>
            </a:pPr>
            <a:r>
              <a:rPr sz="2500" b="1" i="0">
                <a:solidFill>
                  <a:srgbClr val="1F2933"/>
                </a:solidFill>
                <a:latin typeface="Calibri"/>
              </a:rPr>
              <a:t>Checkpoint 1: grace period, what remains</a:t>
            </a:r>
          </a:p>
        </p:txBody>
      </p:sp>
      <p:sp>
        <p:nvSpPr>
          <p:cNvPr id="3" name="TextBox 2"/>
          <p:cNvSpPr txBox="1"/>
          <p:nvPr/>
        </p:nvSpPr>
        <p:spPr>
          <a:xfrm>
            <a:off x="11064240" y="6355080"/>
            <a:ext cx="457200" cy="256032"/>
          </a:xfrm>
          <a:prstGeom prst="rect">
            <a:avLst/>
          </a:prstGeom>
          <a:noFill/>
        </p:spPr>
        <p:txBody>
          <a:bodyPr wrap="square" lIns="91425" rIns="91425" tIns="45700" bIns="45700" anchor="t"/>
          <a:lstStyle/>
          <a:p>
            <a:pPr algn="r">
              <a:spcBef>
                <a:spcPts val="0"/>
              </a:spcBef>
              <a:spcAft>
                <a:spcPts val="0"/>
              </a:spcAft>
            </a:pPr>
            <a:r>
              <a:rPr sz="900" b="0" i="0">
                <a:solidFill>
                  <a:srgbClr val="7B8794"/>
                </a:solidFill>
                <a:latin typeface="Calibri"/>
              </a:rPr>
              <a:t>3</a:t>
            </a:r>
          </a:p>
        </p:txBody>
      </p:sp>
      <p:sp>
        <p:nvSpPr>
          <p:cNvPr id="4" name="Rectangle 3"/>
          <p:cNvSpPr/>
          <p:nvPr/>
        </p:nvSpPr>
        <p:spPr>
          <a:xfrm>
            <a:off x="640080" y="1261872"/>
            <a:ext cx="10881360" cy="502920"/>
          </a:xfrm>
          <a:prstGeom prst="rect">
            <a:avLst/>
          </a:prstGeom>
          <a:solidFill>
            <a:srgbClr val="F7F8F9"/>
          </a:solidFill>
          <a:ln>
            <a:noFill/>
          </a:ln>
        </p:spPr>
        <p:txBody>
          <a:bodyPr rtlCol="0" anchor="ctr"/>
          <a:lstStyle/>
          <a:p>
            <a:pPr algn="ctr"/>
          </a:p>
        </p:txBody>
      </p:sp>
      <p:sp>
        <p:nvSpPr>
          <p:cNvPr id="5" name="TextBox 4"/>
          <p:cNvSpPr txBox="1"/>
          <p:nvPr/>
        </p:nvSpPr>
        <p:spPr>
          <a:xfrm>
            <a:off x="777240" y="1298448"/>
            <a:ext cx="10652760" cy="429768"/>
          </a:xfrm>
          <a:prstGeom prst="rect">
            <a:avLst/>
          </a:prstGeom>
          <a:noFill/>
        </p:spPr>
        <p:txBody>
          <a:bodyPr wrap="square" lIns="91425" rIns="91425" tIns="45700" bIns="45700" anchor="ctr"/>
          <a:lstStyle/>
          <a:p>
            <a:pPr algn="l">
              <a:spcBef>
                <a:spcPts val="0"/>
              </a:spcBef>
              <a:spcAft>
                <a:spcPts val="0"/>
              </a:spcAft>
            </a:pPr>
            <a:r>
              <a:rPr sz="1250" b="1" i="0">
                <a:solidFill>
                  <a:srgbClr val="0F766E"/>
                </a:solidFill>
                <a:latin typeface="Calibri"/>
              </a:rPr>
              <a:t>P2 IN ONE LINE   </a:t>
            </a:r>
            <a:r>
              <a:rPr sz="1250" b="0" i="0">
                <a:solidFill>
                  <a:srgbClr val="1F2933"/>
                </a:solidFill>
                <a:latin typeface="Calibri"/>
              </a:rPr>
              <a:t>new fact contradicts old  →  old fact marked no-longer-true (kept)  →  retrieval skips it  →  deleted after </a:t>
            </a:r>
            <a:r>
              <a:rPr sz="1250" b="1" i="0">
                <a:solidFill>
                  <a:srgbClr val="1F2933"/>
                </a:solidFill>
                <a:latin typeface="Calibri"/>
              </a:rPr>
              <a:t>g</a:t>
            </a:r>
            <a:r>
              <a:rPr sz="1250" b="0" i="0">
                <a:solidFill>
                  <a:srgbClr val="1F2933"/>
                </a:solidFill>
                <a:latin typeface="Calibri"/>
              </a:rPr>
              <a:t> days.  The grace period is g.</a:t>
            </a:r>
          </a:p>
        </p:txBody>
      </p:sp>
      <p:graphicFrame>
        <p:nvGraphicFramePr>
          <p:cNvPr id="6" name="Table 5"/>
          <p:cNvGraphicFramePr>
            <a:graphicFrameLocks noGrp="1"/>
          </p:cNvGraphicFramePr>
          <p:nvPr/>
        </p:nvGraphicFramePr>
        <p:xfrm>
          <a:off x="640080" y="1965960"/>
          <a:ext cx="5669280" cy="1920240"/>
        </p:xfrm>
        <a:graphic>
          <a:graphicData uri="http://schemas.openxmlformats.org/drawingml/2006/table">
            <a:tbl>
              <a:tblPr firstRow="0" bandRow="0" firstCol="0" lastRow="0" lastCol="0" bandCol="0">
                <a:tableStyleId>{7018C7E7-2324-4B46-8E55-F870A1040F12}</a:tableStyleId>
              </a:tblPr>
              <a:tblGrid>
                <a:gridCol w="3017520"/>
                <a:gridCol w="2651760"/>
              </a:tblGrid>
              <a:tr h="384048">
                <a:tc>
                  <a:txBody>
                    <a:bodyPr wrap="square"/>
                    <a:lstStyle/>
                    <a:p>
                      <a:pPr algn="l"/>
                      <a:r>
                        <a:rPr sz="1150" b="1" i="0">
                          <a:solidFill>
                            <a:srgbClr val="1F2933"/>
                          </a:solidFill>
                          <a:latin typeface="Calibri"/>
                        </a:rPr>
                        <a:t>what we know (1 to 21 days)</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7F8F9"/>
                    </a:solidFill>
                  </a:tcPr>
                </a:tc>
                <a:tc>
                  <a:txBody>
                    <a:bodyPr wrap="square"/>
                    <a:lstStyle/>
                    <a:p>
                      <a:pPr algn="ctr"/>
                      <a:r>
                        <a:rPr sz="1150" b="1" i="0">
                          <a:solidFill>
                            <a:srgbClr val="1F2933"/>
                          </a:solidFill>
                          <a:latin typeface="Calibri"/>
                        </a:rPr>
                        <a:t>result</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7F8F9"/>
                    </a:solidFill>
                  </a:tcPr>
                </a:tc>
              </a:tr>
              <a:tr h="384048">
                <a:tc>
                  <a:txBody>
                    <a:bodyPr wrap="square"/>
                    <a:lstStyle/>
                    <a:p>
                      <a:pPr algn="l"/>
                      <a:r>
                        <a:rPr sz="1150" b="0" i="0">
                          <a:solidFill>
                            <a:srgbClr val="1F2933"/>
                          </a:solidFill>
                          <a:latin typeface="Calibri"/>
                        </a:rPr>
                        <a:t>accuracy and staleness</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no difference, every p &gt; 0.45</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384048">
                <a:tc>
                  <a:txBody>
                    <a:bodyPr wrap="square"/>
                    <a:lstStyle/>
                    <a:p>
                      <a:pPr algn="l"/>
                      <a:r>
                        <a:rPr sz="1150" b="0" i="0">
                          <a:solidFill>
                            <a:srgbClr val="1F2933"/>
                          </a:solidFill>
                          <a:latin typeface="Calibri"/>
                        </a:rPr>
                        <a:t>facts stored, 1 vs 21 days</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18% fewer at 1 day</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384048">
                <a:tc>
                  <a:txBody>
                    <a:bodyPr wrap="square"/>
                    <a:lstStyle/>
                    <a:p>
                      <a:pPr algn="l"/>
                      <a:r>
                        <a:rPr sz="1150" b="0" i="0">
                          <a:solidFill>
                            <a:srgbClr val="1F2933"/>
                          </a:solidFill>
                          <a:latin typeface="Calibri"/>
                        </a:rPr>
                        <a:t>tokens per question, 1 vs 21 days</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8% more at 1 day</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384048">
                <a:tc>
                  <a:txBody>
                    <a:bodyPr wrap="square"/>
                    <a:lstStyle/>
                    <a:p>
                      <a:pPr algn="l"/>
                      <a:r>
                        <a:rPr sz="1150" b="0" i="0">
                          <a:solidFill>
                            <a:srgbClr val="1F2933"/>
                          </a:solidFill>
                          <a:latin typeface="Calibri"/>
                        </a:rPr>
                        <a:t>history still queryable</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11% at 1 day, 83% at 21</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bl>
          </a:graphicData>
        </a:graphic>
      </p:graphicFrame>
      <p:sp>
        <p:nvSpPr>
          <p:cNvPr id="7" name="TextBox 6"/>
          <p:cNvSpPr txBox="1"/>
          <p:nvPr/>
        </p:nvSpPr>
        <p:spPr>
          <a:xfrm>
            <a:off x="6629400" y="1965960"/>
            <a:ext cx="4937760" cy="274320"/>
          </a:xfrm>
          <a:prstGeom prst="rect">
            <a:avLst/>
          </a:prstGeom>
          <a:noFill/>
        </p:spPr>
        <p:txBody>
          <a:bodyPr wrap="square" lIns="91425" rIns="91425" tIns="45700" bIns="45700" anchor="t"/>
          <a:lstStyle/>
          <a:p>
            <a:pPr algn="l">
              <a:spcBef>
                <a:spcPts val="0"/>
              </a:spcBef>
              <a:spcAft>
                <a:spcPts val="0"/>
              </a:spcAft>
            </a:pPr>
            <a:r>
              <a:rPr sz="1250" b="1" i="0">
                <a:solidFill>
                  <a:srgbClr val="1F2933"/>
                </a:solidFill>
                <a:latin typeface="Calibri"/>
              </a:rPr>
              <a:t>The gap, and how to close it</a:t>
            </a:r>
          </a:p>
        </p:txBody>
      </p:sp>
      <p:sp>
        <p:nvSpPr>
          <p:cNvPr id="8" name="TextBox 7"/>
          <p:cNvSpPr txBox="1"/>
          <p:nvPr/>
        </p:nvSpPr>
        <p:spPr>
          <a:xfrm>
            <a:off x="6629400" y="2286000"/>
            <a:ext cx="4937760" cy="2651760"/>
          </a:xfrm>
          <a:prstGeom prst="rect">
            <a:avLst/>
          </a:prstGeom>
          <a:noFill/>
        </p:spPr>
        <p:txBody>
          <a:bodyPr wrap="square" lIns="91425" rIns="91425" tIns="45700" bIns="45700" anchor="t"/>
          <a:lstStyle/>
          <a:p>
            <a:pPr algn="l" marL="342900" indent="-342900">
              <a:lnSpc>
                <a:spcPct val="120000"/>
              </a:lnSpc>
              <a:spcBef>
                <a:spcPts val="400"/>
              </a:spcBef>
              <a:spcAft>
                <a:spcPts val="0"/>
              </a:spcAft>
              <a:buClr>
                <a:srgbClr val="1F2933"/>
              </a:buClr>
              <a:buFont typeface="Calibri"/>
              <a:buChar char="•"/>
            </a:pPr>
            <a:r>
              <a:rPr sz="1250" b="1" i="0">
                <a:solidFill>
                  <a:srgbClr val="1F2933"/>
                </a:solidFill>
                <a:latin typeface="Calibri"/>
              </a:rPr>
              <a:t>Nothing we measure rewards history, </a:t>
            </a:r>
            <a:r>
              <a:rPr sz="1250" b="0" i="0">
                <a:solidFill>
                  <a:srgbClr val="1F2933"/>
                </a:solidFill>
                <a:latin typeface="Calibri"/>
              </a:rPr>
              <a:t>so 'longer grace for audit' is an argument, not a result.</a:t>
            </a:r>
          </a:p>
          <a:p>
            <a:pPr algn="l" marL="342900" indent="-342900">
              <a:lnSpc>
                <a:spcPct val="120000"/>
              </a:lnSpc>
              <a:spcBef>
                <a:spcPts val="400"/>
              </a:spcBef>
              <a:spcAft>
                <a:spcPts val="0"/>
              </a:spcAft>
              <a:buClr>
                <a:srgbClr val="1F2933"/>
              </a:buClr>
              <a:buFont typeface="Calibri"/>
              <a:buChar char="•"/>
            </a:pPr>
            <a:r>
              <a:rPr sz="1250" b="1" i="0">
                <a:solidFill>
                  <a:srgbClr val="1F2933"/>
                </a:solidFill>
                <a:latin typeface="Calibri"/>
              </a:rPr>
              <a:t>New test: history questions. </a:t>
            </a:r>
            <a:r>
              <a:rPr sz="1250" b="0" i="0">
                <a:solidFill>
                  <a:srgbClr val="1F2933"/>
                </a:solidFill>
                <a:latin typeface="Calibri"/>
              </a:rPr>
              <a:t>Generate 'what was X before?' from the outdated answers we already have (MQuAKE-T, FactConsolidation).</a:t>
            </a:r>
          </a:p>
          <a:p>
            <a:pPr algn="l" marL="342900" indent="-342900">
              <a:lnSpc>
                <a:spcPct val="120000"/>
              </a:lnSpc>
              <a:spcBef>
                <a:spcPts val="400"/>
              </a:spcBef>
              <a:spcAft>
                <a:spcPts val="0"/>
              </a:spcAft>
              <a:buClr>
                <a:srgbClr val="1F2933"/>
              </a:buClr>
              <a:buFont typeface="Calibri"/>
              <a:buChar char="•"/>
            </a:pPr>
            <a:r>
              <a:rPr sz="1250" b="1" i="0">
                <a:solidFill>
                  <a:srgbClr val="1F2933"/>
                </a:solidFill>
                <a:latin typeface="Calibri"/>
              </a:rPr>
              <a:t>Run grace 0, 1, 3, 7, 14, 21 days and no pruning, </a:t>
            </a:r>
            <a:r>
              <a:rPr sz="1250" b="0" i="0">
                <a:solidFill>
                  <a:srgbClr val="1F2933"/>
                </a:solidFill>
                <a:latin typeface="Calibri"/>
              </a:rPr>
              <a:t>2 small models. Cost under $1.</a:t>
            </a:r>
          </a:p>
          <a:p>
            <a:pPr algn="l" marL="342900" indent="-342900">
              <a:lnSpc>
                <a:spcPct val="120000"/>
              </a:lnSpc>
              <a:spcBef>
                <a:spcPts val="400"/>
              </a:spcBef>
              <a:spcAft>
                <a:spcPts val="0"/>
              </a:spcAft>
              <a:buClr>
                <a:srgbClr val="1F2933"/>
              </a:buClr>
              <a:buFont typeface="Calibri"/>
              <a:buChar char="•"/>
            </a:pPr>
            <a:r>
              <a:rPr sz="1250" b="1" i="0">
                <a:solidFill>
                  <a:srgbClr val="1F2933"/>
                </a:solidFill>
                <a:latin typeface="Calibri"/>
              </a:rPr>
              <a:t>Add the ConvoMem grace run, </a:t>
            </a:r>
            <a:r>
              <a:rPr sz="1250" b="0" i="0">
                <a:solidFill>
                  <a:srgbClr val="1F2933"/>
                </a:solidFill>
                <a:latin typeface="Calibri"/>
              </a:rPr>
              <a:t>where false invalidations make pruning risky.</a:t>
            </a:r>
          </a:p>
        </p:txBody>
      </p:sp>
      <p:sp>
        <p:nvSpPr>
          <p:cNvPr id="9" name="Rectangle 8"/>
          <p:cNvSpPr/>
          <p:nvPr/>
        </p:nvSpPr>
        <p:spPr>
          <a:xfrm>
            <a:off x="640080" y="5074920"/>
            <a:ext cx="10881360" cy="1051560"/>
          </a:xfrm>
          <a:prstGeom prst="rect">
            <a:avLst/>
          </a:prstGeom>
          <a:solidFill>
            <a:srgbClr val="F7F8F9"/>
          </a:solidFill>
          <a:ln>
            <a:noFill/>
          </a:ln>
        </p:spPr>
        <p:txBody>
          <a:bodyPr rtlCol="0" anchor="ctr"/>
          <a:lstStyle/>
          <a:p>
            <a:pPr algn="ctr"/>
          </a:p>
        </p:txBody>
      </p:sp>
      <p:sp>
        <p:nvSpPr>
          <p:cNvPr id="10" name="Rectangle 9"/>
          <p:cNvSpPr/>
          <p:nvPr/>
        </p:nvSpPr>
        <p:spPr>
          <a:xfrm>
            <a:off x="640080" y="5074920"/>
            <a:ext cx="36576" cy="1051560"/>
          </a:xfrm>
          <a:prstGeom prst="rect">
            <a:avLst/>
          </a:prstGeom>
          <a:solidFill>
            <a:srgbClr val="0F766E"/>
          </a:solidFill>
          <a:ln>
            <a:noFill/>
          </a:ln>
        </p:spPr>
        <p:txBody>
          <a:bodyPr rtlCol="0" anchor="ctr"/>
          <a:lstStyle/>
          <a:p>
            <a:pPr algn="ctr"/>
          </a:p>
        </p:txBody>
      </p:sp>
      <p:sp>
        <p:nvSpPr>
          <p:cNvPr id="11" name="TextBox 10"/>
          <p:cNvSpPr txBox="1"/>
          <p:nvPr/>
        </p:nvSpPr>
        <p:spPr>
          <a:xfrm>
            <a:off x="914400" y="5202936"/>
            <a:ext cx="10332720" cy="795527"/>
          </a:xfrm>
          <a:prstGeom prst="rect">
            <a:avLst/>
          </a:prstGeom>
          <a:noFill/>
        </p:spPr>
        <p:txBody>
          <a:bodyPr wrap="square" lIns="91425" rIns="91425" tIns="45700" bIns="45700" anchor="ctr"/>
          <a:lstStyle/>
          <a:p>
            <a:pPr algn="l">
              <a:spcBef>
                <a:spcPts val="0"/>
              </a:spcBef>
              <a:spcAft>
                <a:spcPts val="0"/>
              </a:spcAft>
            </a:pPr>
            <a:r>
              <a:rPr sz="1250" b="1" i="0">
                <a:solidFill>
                  <a:srgbClr val="1F2933"/>
                </a:solidFill>
                <a:latin typeface="Calibri"/>
              </a:rPr>
              <a:t>Expected outcome: </a:t>
            </a:r>
            <a:r>
              <a:rPr sz="1250" b="0" i="0">
                <a:solidFill>
                  <a:srgbClr val="1F2933"/>
                </a:solidFill>
                <a:latin typeface="Calibri"/>
              </a:rPr>
              <a:t>history questions fail at short grace and succeed at long grace, which turns the grace recommendation into a measured trade-off: storage against answerable history, with current-fact accuracy unchanged.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676656"/>
            <a:ext cx="10881360" cy="548640"/>
          </a:xfrm>
          <a:prstGeom prst="rect">
            <a:avLst/>
          </a:prstGeom>
          <a:noFill/>
        </p:spPr>
        <p:txBody>
          <a:bodyPr wrap="square" lIns="91425" rIns="91425" tIns="45700" bIns="45700" anchor="ctr"/>
          <a:lstStyle/>
          <a:p>
            <a:pPr algn="l">
              <a:spcBef>
                <a:spcPts val="0"/>
              </a:spcBef>
              <a:spcAft>
                <a:spcPts val="0"/>
              </a:spcAft>
            </a:pPr>
            <a:r>
              <a:rPr sz="2500" b="1" i="0">
                <a:solidFill>
                  <a:srgbClr val="1F2933"/>
                </a:solidFill>
                <a:latin typeface="Calibri"/>
              </a:rPr>
              <a:t>Checkpoint 2: retrieval weights, what remains</a:t>
            </a:r>
          </a:p>
        </p:txBody>
      </p:sp>
      <p:sp>
        <p:nvSpPr>
          <p:cNvPr id="3" name="TextBox 2"/>
          <p:cNvSpPr txBox="1"/>
          <p:nvPr/>
        </p:nvSpPr>
        <p:spPr>
          <a:xfrm>
            <a:off x="11064240" y="6355080"/>
            <a:ext cx="457200" cy="256032"/>
          </a:xfrm>
          <a:prstGeom prst="rect">
            <a:avLst/>
          </a:prstGeom>
          <a:noFill/>
        </p:spPr>
        <p:txBody>
          <a:bodyPr wrap="square" lIns="91425" rIns="91425" tIns="45700" bIns="45700" anchor="t"/>
          <a:lstStyle/>
          <a:p>
            <a:pPr algn="r">
              <a:spcBef>
                <a:spcPts val="0"/>
              </a:spcBef>
              <a:spcAft>
                <a:spcPts val="0"/>
              </a:spcAft>
            </a:pPr>
            <a:r>
              <a:rPr sz="900" b="0" i="0">
                <a:solidFill>
                  <a:srgbClr val="7B8794"/>
                </a:solidFill>
                <a:latin typeface="Calibri"/>
              </a:rPr>
              <a:t>4</a:t>
            </a:r>
          </a:p>
        </p:txBody>
      </p:sp>
      <p:sp>
        <p:nvSpPr>
          <p:cNvPr id="4" name="Rectangle 3"/>
          <p:cNvSpPr/>
          <p:nvPr/>
        </p:nvSpPr>
        <p:spPr>
          <a:xfrm>
            <a:off x="640080" y="1261872"/>
            <a:ext cx="10881360" cy="502920"/>
          </a:xfrm>
          <a:prstGeom prst="rect">
            <a:avLst/>
          </a:prstGeom>
          <a:solidFill>
            <a:srgbClr val="F7F8F9"/>
          </a:solidFill>
          <a:ln>
            <a:noFill/>
          </a:ln>
        </p:spPr>
        <p:txBody>
          <a:bodyPr rtlCol="0" anchor="ctr"/>
          <a:lstStyle/>
          <a:p>
            <a:pPr algn="ctr"/>
          </a:p>
        </p:txBody>
      </p:sp>
      <p:sp>
        <p:nvSpPr>
          <p:cNvPr id="5" name="TextBox 4"/>
          <p:cNvSpPr txBox="1"/>
          <p:nvPr/>
        </p:nvSpPr>
        <p:spPr>
          <a:xfrm>
            <a:off x="777240" y="1298448"/>
            <a:ext cx="10652760" cy="429768"/>
          </a:xfrm>
          <a:prstGeom prst="rect">
            <a:avLst/>
          </a:prstGeom>
          <a:noFill/>
        </p:spPr>
        <p:txBody>
          <a:bodyPr wrap="square" lIns="91425" rIns="91425" tIns="45700" bIns="45700" anchor="ctr"/>
          <a:lstStyle/>
          <a:p>
            <a:pPr algn="l">
              <a:spcBef>
                <a:spcPts val="0"/>
              </a:spcBef>
              <a:spcAft>
                <a:spcPts val="0"/>
              </a:spcAft>
            </a:pPr>
            <a:r>
              <a:rPr sz="1250" b="1" i="0">
                <a:solidFill>
                  <a:srgbClr val="0F766E"/>
                </a:solidFill>
                <a:latin typeface="Calibri"/>
              </a:rPr>
              <a:t>RETRIEVAL SCORE   </a:t>
            </a:r>
            <a:r>
              <a:rPr sz="1250" b="0" i="0">
                <a:solidFill>
                  <a:srgbClr val="1F2933"/>
                </a:solidFill>
                <a:latin typeface="Calibri"/>
              </a:rPr>
              <a:t>score(fact) = </a:t>
            </a:r>
            <a:r>
              <a:rPr sz="1250" b="1" i="0">
                <a:solidFill>
                  <a:srgbClr val="1F2933"/>
                </a:solidFill>
                <a:latin typeface="Calibri"/>
              </a:rPr>
              <a:t>w</a:t>
            </a:r>
            <a:r>
              <a:rPr sz="1250" b="0" i="0" baseline="-25000">
                <a:solidFill>
                  <a:srgbClr val="1F2933"/>
                </a:solidFill>
                <a:latin typeface="Calibri"/>
              </a:rPr>
              <a:t>sem</a:t>
            </a:r>
            <a:r>
              <a:rPr sz="1250" b="0" i="0">
                <a:solidFill>
                  <a:srgbClr val="1F2933"/>
                </a:solidFill>
                <a:latin typeface="Calibri"/>
              </a:rPr>
              <a:t> · cosine(q, f)  +  </a:t>
            </a:r>
            <a:r>
              <a:rPr sz="1250" b="1" i="0">
                <a:solidFill>
                  <a:srgbClr val="1F2933"/>
                </a:solidFill>
                <a:latin typeface="Calibri"/>
              </a:rPr>
              <a:t>w</a:t>
            </a:r>
            <a:r>
              <a:rPr sz="1250" b="0" i="0" baseline="-25000">
                <a:solidFill>
                  <a:srgbClr val="1F2933"/>
                </a:solidFill>
                <a:latin typeface="Calibri"/>
              </a:rPr>
              <a:t>lex</a:t>
            </a:r>
            <a:r>
              <a:rPr sz="1250" b="0" i="0">
                <a:solidFill>
                  <a:srgbClr val="1F2933"/>
                </a:solidFill>
                <a:latin typeface="Calibri"/>
              </a:rPr>
              <a:t> · word overlap(q, f)  +  </a:t>
            </a:r>
            <a:r>
              <a:rPr sz="1250" b="1" i="0">
                <a:solidFill>
                  <a:srgbClr val="1F2933"/>
                </a:solidFill>
                <a:latin typeface="Calibri"/>
              </a:rPr>
              <a:t>w</a:t>
            </a:r>
            <a:r>
              <a:rPr sz="1250" b="0" i="0" baseline="-25000">
                <a:solidFill>
                  <a:srgbClr val="1F2933"/>
                </a:solidFill>
                <a:latin typeface="Calibri"/>
              </a:rPr>
              <a:t>rec</a:t>
            </a:r>
            <a:r>
              <a:rPr sz="1250" b="0" i="0">
                <a:solidFill>
                  <a:srgbClr val="1F2933"/>
                </a:solidFill>
                <a:latin typeface="Calibri"/>
              </a:rPr>
              <a:t> · recency(f)        thesis setting 0.6 / 0.3 / 0.1, top 25 facts kept</a:t>
            </a:r>
          </a:p>
        </p:txBody>
      </p:sp>
      <p:graphicFrame>
        <p:nvGraphicFramePr>
          <p:cNvPr id="6" name="Table 5"/>
          <p:cNvGraphicFramePr>
            <a:graphicFrameLocks noGrp="1"/>
          </p:cNvGraphicFramePr>
          <p:nvPr/>
        </p:nvGraphicFramePr>
        <p:xfrm>
          <a:off x="640080" y="1965960"/>
          <a:ext cx="5669280" cy="1920240"/>
        </p:xfrm>
        <a:graphic>
          <a:graphicData uri="http://schemas.openxmlformats.org/drawingml/2006/table">
            <a:tbl>
              <a:tblPr firstRow="0" bandRow="0" firstCol="0" lastRow="0" lastCol="0" bandCol="0">
                <a:tableStyleId>{7018C7E7-2324-4B46-8E55-F870A1040F12}</a:tableStyleId>
              </a:tblPr>
              <a:tblGrid>
                <a:gridCol w="2743200"/>
                <a:gridCol w="2926080"/>
              </a:tblGrid>
              <a:tr h="384048">
                <a:tc>
                  <a:txBody>
                    <a:bodyPr wrap="square"/>
                    <a:lstStyle/>
                    <a:p>
                      <a:pPr algn="l"/>
                      <a:r>
                        <a:rPr sz="1150" b="1" i="0">
                          <a:solidFill>
                            <a:srgbClr val="1F2933"/>
                          </a:solidFill>
                          <a:latin typeface="Calibri"/>
                        </a:rPr>
                        <a:t>what we know (1,000 weightings)</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7F8F9"/>
                    </a:solidFill>
                  </a:tcPr>
                </a:tc>
                <a:tc>
                  <a:txBody>
                    <a:bodyPr wrap="square"/>
                    <a:lstStyle/>
                    <a:p>
                      <a:pPr algn="ctr"/>
                      <a:r>
                        <a:rPr sz="1150" b="1" i="0">
                          <a:solidFill>
                            <a:srgbClr val="1F2933"/>
                          </a:solidFill>
                          <a:latin typeface="Calibri"/>
                        </a:rPr>
                        <a:t>result</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7F8F9"/>
                    </a:solidFill>
                  </a:tcPr>
                </a:tc>
              </a:tr>
              <a:tr h="384048">
                <a:tc>
                  <a:txBody>
                    <a:bodyPr wrap="square"/>
                    <a:lstStyle/>
                    <a:p>
                      <a:pPr algn="l"/>
                      <a:r>
                        <a:rPr sz="1150" b="0" i="0">
                          <a:solidFill>
                            <a:srgbClr val="1F2933"/>
                          </a:solidFill>
                          <a:latin typeface="Calibri"/>
                        </a:rPr>
                        <a:t>what drives accuracy</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recency, about 50% of variation</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384048">
                <a:tc>
                  <a:txBody>
                    <a:bodyPr wrap="square"/>
                    <a:lstStyle/>
                    <a:p>
                      <a:pPr algn="l"/>
                      <a:r>
                        <a:rPr sz="1150" b="0" i="0">
                          <a:solidFill>
                            <a:srgbClr val="1F2933"/>
                          </a:solidFill>
                          <a:latin typeface="Calibri"/>
                        </a:rPr>
                        <a:t>safe region</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recency share at most 0.2</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384048">
                <a:tc>
                  <a:txBody>
                    <a:bodyPr wrap="square"/>
                    <a:lstStyle/>
                    <a:p>
                      <a:pPr algn="l"/>
                      <a:r>
                        <a:rPr sz="1150" b="0" i="0">
                          <a:solidFill>
                            <a:srgbClr val="1F2933"/>
                          </a:solidFill>
                          <a:latin typeface="Calibri"/>
                        </a:rPr>
                        <a:t>semantic vs lexical</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equal, except +7 pts semantic in dialogue</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384048">
                <a:tc>
                  <a:txBody>
                    <a:bodyPr wrap="square"/>
                    <a:lstStyle/>
                    <a:p>
                      <a:pPr algn="l"/>
                      <a:r>
                        <a:rPr sz="1150" b="0" i="0">
                          <a:solidFill>
                            <a:srgbClr val="1F2933"/>
                          </a:solidFill>
                          <a:latin typeface="Calibri"/>
                        </a:rPr>
                        <a:t>0.6 / 0.3 / 0.1</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never beaten after correction</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bl>
          </a:graphicData>
        </a:graphic>
      </p:graphicFrame>
      <p:sp>
        <p:nvSpPr>
          <p:cNvPr id="7" name="TextBox 6"/>
          <p:cNvSpPr txBox="1"/>
          <p:nvPr/>
        </p:nvSpPr>
        <p:spPr>
          <a:xfrm>
            <a:off x="6629400" y="1965960"/>
            <a:ext cx="4937760" cy="274320"/>
          </a:xfrm>
          <a:prstGeom prst="rect">
            <a:avLst/>
          </a:prstGeom>
          <a:noFill/>
        </p:spPr>
        <p:txBody>
          <a:bodyPr wrap="square" lIns="91425" rIns="91425" tIns="45700" bIns="45700" anchor="t"/>
          <a:lstStyle/>
          <a:p>
            <a:pPr algn="l">
              <a:spcBef>
                <a:spcPts val="0"/>
              </a:spcBef>
              <a:spcAft>
                <a:spcPts val="0"/>
              </a:spcAft>
            </a:pPr>
            <a:r>
              <a:rPr sz="1250" b="1" i="0">
                <a:solidFill>
                  <a:srgbClr val="1F2933"/>
                </a:solidFill>
                <a:latin typeface="Calibri"/>
              </a:rPr>
              <a:t>Two small checks to finish it</a:t>
            </a:r>
          </a:p>
        </p:txBody>
      </p:sp>
      <p:sp>
        <p:nvSpPr>
          <p:cNvPr id="8" name="TextBox 7"/>
          <p:cNvSpPr txBox="1"/>
          <p:nvPr/>
        </p:nvSpPr>
        <p:spPr>
          <a:xfrm>
            <a:off x="6629400" y="2286000"/>
            <a:ext cx="4937760" cy="2651760"/>
          </a:xfrm>
          <a:prstGeom prst="rect">
            <a:avLst/>
          </a:prstGeom>
          <a:noFill/>
        </p:spPr>
        <p:txBody>
          <a:bodyPr wrap="square" lIns="91425" rIns="91425" tIns="45700" bIns="45700" anchor="t"/>
          <a:lstStyle/>
          <a:p>
            <a:pPr algn="l" marL="342900" indent="-342900">
              <a:lnSpc>
                <a:spcPct val="120000"/>
              </a:lnSpc>
              <a:spcBef>
                <a:spcPts val="400"/>
              </a:spcBef>
              <a:spcAft>
                <a:spcPts val="0"/>
              </a:spcAft>
              <a:buClr>
                <a:srgbClr val="1F2933"/>
              </a:buClr>
              <a:buFont typeface="Calibri"/>
              <a:buChar char="•"/>
            </a:pPr>
            <a:r>
              <a:rPr sz="1250" b="1" i="0">
                <a:solidFill>
                  <a:srgbClr val="1F2933"/>
                </a:solidFill>
                <a:latin typeface="Calibri"/>
              </a:rPr>
              <a:t>Pre-registered held-out test. </a:t>
            </a:r>
            <a:r>
              <a:rPr sz="1250" b="0" i="0">
                <a:solidFill>
                  <a:srgbClr val="1F2933"/>
                </a:solidFill>
                <a:latin typeface="Calibri"/>
              </a:rPr>
              <a:t>FactConsolidation was not in the grid. Test one candidate (0.8 / 0.1 / 0.2) against 0.6 / 0.3 / 0.1 there, decided before running.</a:t>
            </a:r>
          </a:p>
          <a:p>
            <a:pPr algn="l" marL="342900" indent="-342900">
              <a:lnSpc>
                <a:spcPct val="120000"/>
              </a:lnSpc>
              <a:spcBef>
                <a:spcPts val="400"/>
              </a:spcBef>
              <a:spcAft>
                <a:spcPts val="0"/>
              </a:spcAft>
              <a:buClr>
                <a:srgbClr val="1F2933"/>
              </a:buClr>
              <a:buFont typeface="Calibri"/>
              <a:buChar char="•"/>
            </a:pPr>
            <a:r>
              <a:rPr sz="1250" b="1" i="0">
                <a:solidFill>
                  <a:srgbClr val="1F2933"/>
                </a:solidFill>
                <a:latin typeface="Calibri"/>
              </a:rPr>
              <a:t>Ranked-order check. </a:t>
            </a:r>
            <a:r>
              <a:rPr sz="1250" b="0" i="0">
                <a:solidFill>
                  <a:srgbClr val="1F2933"/>
                </a:solidFill>
                <a:latin typeface="Calibri"/>
              </a:rPr>
              <a:t>The grid listed facts by date. Re-answer the safe region in ranked order on MQuAKE-T to show order does not change the conclusion.</a:t>
            </a:r>
          </a:p>
          <a:p>
            <a:pPr algn="l" marL="342900" indent="-342900">
              <a:lnSpc>
                <a:spcPct val="120000"/>
              </a:lnSpc>
              <a:spcBef>
                <a:spcPts val="400"/>
              </a:spcBef>
              <a:spcAft>
                <a:spcPts val="0"/>
              </a:spcAft>
              <a:buClr>
                <a:srgbClr val="1F2933"/>
              </a:buClr>
              <a:buFont typeface="Calibri"/>
              <a:buChar char="•"/>
            </a:pPr>
            <a:r>
              <a:rPr sz="1250" b="1" i="0">
                <a:solidFill>
                  <a:srgbClr val="1F2933"/>
                </a:solidFill>
                <a:latin typeface="Calibri"/>
              </a:rPr>
              <a:t>Cost: </a:t>
            </a:r>
            <a:r>
              <a:rPr sz="1250" b="0" i="0">
                <a:solidFill>
                  <a:srgbClr val="1F2933"/>
                </a:solidFill>
                <a:latin typeface="Calibri"/>
              </a:rPr>
              <a:t>under $1 with the two small models.</a:t>
            </a:r>
          </a:p>
        </p:txBody>
      </p:sp>
      <p:sp>
        <p:nvSpPr>
          <p:cNvPr id="9" name="Rectangle 8"/>
          <p:cNvSpPr/>
          <p:nvPr/>
        </p:nvSpPr>
        <p:spPr>
          <a:xfrm>
            <a:off x="640080" y="5074920"/>
            <a:ext cx="10881360" cy="1051560"/>
          </a:xfrm>
          <a:prstGeom prst="rect">
            <a:avLst/>
          </a:prstGeom>
          <a:solidFill>
            <a:srgbClr val="F7F8F9"/>
          </a:solidFill>
          <a:ln>
            <a:noFill/>
          </a:ln>
        </p:spPr>
        <p:txBody>
          <a:bodyPr rtlCol="0" anchor="ctr"/>
          <a:lstStyle/>
          <a:p>
            <a:pPr algn="ctr"/>
          </a:p>
        </p:txBody>
      </p:sp>
      <p:sp>
        <p:nvSpPr>
          <p:cNvPr id="10" name="Rectangle 9"/>
          <p:cNvSpPr/>
          <p:nvPr/>
        </p:nvSpPr>
        <p:spPr>
          <a:xfrm>
            <a:off x="640080" y="5074920"/>
            <a:ext cx="36576" cy="1051560"/>
          </a:xfrm>
          <a:prstGeom prst="rect">
            <a:avLst/>
          </a:prstGeom>
          <a:solidFill>
            <a:srgbClr val="0F766E"/>
          </a:solidFill>
          <a:ln>
            <a:noFill/>
          </a:ln>
        </p:spPr>
        <p:txBody>
          <a:bodyPr rtlCol="0" anchor="ctr"/>
          <a:lstStyle/>
          <a:p>
            <a:pPr algn="ctr"/>
          </a:p>
        </p:txBody>
      </p:sp>
      <p:sp>
        <p:nvSpPr>
          <p:cNvPr id="11" name="TextBox 10"/>
          <p:cNvSpPr txBox="1"/>
          <p:nvPr/>
        </p:nvSpPr>
        <p:spPr>
          <a:xfrm>
            <a:off x="914400" y="5202936"/>
            <a:ext cx="10332720" cy="795527"/>
          </a:xfrm>
          <a:prstGeom prst="rect">
            <a:avLst/>
          </a:prstGeom>
          <a:noFill/>
        </p:spPr>
        <p:txBody>
          <a:bodyPr wrap="square" lIns="91425" rIns="91425" tIns="45700" bIns="45700" anchor="ctr"/>
          <a:lstStyle/>
          <a:p>
            <a:pPr algn="l">
              <a:spcBef>
                <a:spcPts val="0"/>
              </a:spcBef>
              <a:spcAft>
                <a:spcPts val="0"/>
              </a:spcAft>
            </a:pPr>
            <a:r>
              <a:rPr sz="1250" b="1" i="0">
                <a:solidFill>
                  <a:srgbClr val="1F2933"/>
                </a:solidFill>
                <a:latin typeface="Calibri"/>
              </a:rPr>
              <a:t>What I will claim: </a:t>
            </a:r>
            <a:r>
              <a:rPr sz="1250" b="0" i="0">
                <a:solidFill>
                  <a:srgbClr val="1F2933"/>
                </a:solidFill>
                <a:latin typeface="Calibri"/>
              </a:rPr>
              <a:t>not 'the best weights', but a safe region that holds across benchmarks and models, with 0.6 / 0.3 / 0.1 inside it and confirmed on data it was never tuned 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676656"/>
            <a:ext cx="10881360" cy="548640"/>
          </a:xfrm>
          <a:prstGeom prst="rect">
            <a:avLst/>
          </a:prstGeom>
          <a:noFill/>
        </p:spPr>
        <p:txBody>
          <a:bodyPr wrap="square" lIns="91425" rIns="91425" tIns="45700" bIns="45700" anchor="ctr"/>
          <a:lstStyle/>
          <a:p>
            <a:pPr algn="l">
              <a:spcBef>
                <a:spcPts val="0"/>
              </a:spcBef>
              <a:spcAft>
                <a:spcPts val="0"/>
              </a:spcAft>
            </a:pPr>
            <a:r>
              <a:rPr sz="2500" b="1" i="0">
                <a:solidFill>
                  <a:srgbClr val="1F2933"/>
                </a:solidFill>
                <a:latin typeface="Calibri"/>
              </a:rPr>
              <a:t>Testing each claim on the kind of data it is about</a:t>
            </a:r>
          </a:p>
        </p:txBody>
      </p:sp>
      <p:sp>
        <p:nvSpPr>
          <p:cNvPr id="3" name="TextBox 2"/>
          <p:cNvSpPr txBox="1"/>
          <p:nvPr/>
        </p:nvSpPr>
        <p:spPr>
          <a:xfrm>
            <a:off x="11064240" y="6355080"/>
            <a:ext cx="457200" cy="256032"/>
          </a:xfrm>
          <a:prstGeom prst="rect">
            <a:avLst/>
          </a:prstGeom>
          <a:noFill/>
        </p:spPr>
        <p:txBody>
          <a:bodyPr wrap="square" lIns="91425" rIns="91425" tIns="45700" bIns="45700" anchor="t"/>
          <a:lstStyle/>
          <a:p>
            <a:pPr algn="r">
              <a:spcBef>
                <a:spcPts val="0"/>
              </a:spcBef>
              <a:spcAft>
                <a:spcPts val="0"/>
              </a:spcAft>
            </a:pPr>
            <a:r>
              <a:rPr sz="900" b="0" i="0">
                <a:solidFill>
                  <a:srgbClr val="7B8794"/>
                </a:solidFill>
                <a:latin typeface="Calibri"/>
              </a:rPr>
              <a:t>5</a:t>
            </a:r>
          </a:p>
        </p:txBody>
      </p:sp>
      <p:sp>
        <p:nvSpPr>
          <p:cNvPr id="4" name="Rectangle 3"/>
          <p:cNvSpPr/>
          <p:nvPr/>
        </p:nvSpPr>
        <p:spPr>
          <a:xfrm>
            <a:off x="640080" y="1261872"/>
            <a:ext cx="10881360" cy="502920"/>
          </a:xfrm>
          <a:prstGeom prst="rect">
            <a:avLst/>
          </a:prstGeom>
          <a:solidFill>
            <a:srgbClr val="F7F8F9"/>
          </a:solidFill>
          <a:ln>
            <a:noFill/>
          </a:ln>
        </p:spPr>
        <p:txBody>
          <a:bodyPr rtlCol="0" anchor="ctr"/>
          <a:lstStyle/>
          <a:p>
            <a:pPr algn="ctr"/>
          </a:p>
        </p:txBody>
      </p:sp>
      <p:sp>
        <p:nvSpPr>
          <p:cNvPr id="5" name="TextBox 4"/>
          <p:cNvSpPr txBox="1"/>
          <p:nvPr/>
        </p:nvSpPr>
        <p:spPr>
          <a:xfrm>
            <a:off x="777240" y="1298448"/>
            <a:ext cx="10652760" cy="429768"/>
          </a:xfrm>
          <a:prstGeom prst="rect">
            <a:avLst/>
          </a:prstGeom>
          <a:noFill/>
        </p:spPr>
        <p:txBody>
          <a:bodyPr wrap="square" lIns="91425" rIns="91425" tIns="45700" bIns="45700" anchor="ctr"/>
          <a:lstStyle/>
          <a:p>
            <a:pPr algn="l">
              <a:spcBef>
                <a:spcPts val="0"/>
              </a:spcBef>
              <a:spcAft>
                <a:spcPts val="0"/>
              </a:spcAft>
            </a:pPr>
            <a:r>
              <a:rPr sz="1250" b="1" i="0">
                <a:solidFill>
                  <a:srgbClr val="0F766E"/>
                </a:solidFill>
                <a:latin typeface="Calibri"/>
              </a:rPr>
              <a:t>WHY   </a:t>
            </a:r>
            <a:r>
              <a:rPr sz="1250" b="0" i="0">
                <a:solidFill>
                  <a:srgbClr val="1F2933"/>
                </a:solidFill>
                <a:latin typeface="Calibri"/>
              </a:rPr>
              <a:t>Each recommendation names a scenario. Each should be checked on data that looks like that scenario, not only argued.</a:t>
            </a:r>
          </a:p>
        </p:txBody>
      </p:sp>
      <p:graphicFrame>
        <p:nvGraphicFramePr>
          <p:cNvPr id="6" name="Table 5"/>
          <p:cNvGraphicFramePr>
            <a:graphicFrameLocks noGrp="1"/>
          </p:cNvGraphicFramePr>
          <p:nvPr/>
        </p:nvGraphicFramePr>
        <p:xfrm>
          <a:off x="640080" y="1920240"/>
          <a:ext cx="10881360" cy="3008376"/>
        </p:xfrm>
        <a:graphic>
          <a:graphicData uri="http://schemas.openxmlformats.org/drawingml/2006/table">
            <a:tbl>
              <a:tblPr firstRow="0" bandRow="0" firstCol="0" lastRow="0" lastCol="0" bandCol="0">
                <a:tableStyleId>{7018C7E7-2324-4B46-8E55-F870A1040F12}</a:tableStyleId>
              </a:tblPr>
              <a:tblGrid>
                <a:gridCol w="3840480"/>
                <a:gridCol w="3931920"/>
                <a:gridCol w="3108960"/>
              </a:tblGrid>
              <a:tr h="429768">
                <a:tc>
                  <a:txBody>
                    <a:bodyPr wrap="square"/>
                    <a:lstStyle/>
                    <a:p>
                      <a:pPr algn="l"/>
                      <a:r>
                        <a:rPr sz="1100" b="1" i="0">
                          <a:solidFill>
                            <a:srgbClr val="1F2933"/>
                          </a:solidFill>
                          <a:latin typeface="Calibri"/>
                        </a:rPr>
                        <a:t>claim</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7F8F9"/>
                    </a:solidFill>
                  </a:tcPr>
                </a:tc>
                <a:tc>
                  <a:txBody>
                    <a:bodyPr wrap="square"/>
                    <a:lstStyle/>
                    <a:p>
                      <a:pPr algn="ctr"/>
                      <a:r>
                        <a:rPr sz="1100" b="1" i="0">
                          <a:solidFill>
                            <a:srgbClr val="1F2933"/>
                          </a:solidFill>
                          <a:latin typeface="Calibri"/>
                        </a:rPr>
                        <a:t>data that tests it</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7F8F9"/>
                    </a:solidFill>
                  </a:tcPr>
                </a:tc>
                <a:tc>
                  <a:txBody>
                    <a:bodyPr wrap="square"/>
                    <a:lstStyle/>
                    <a:p>
                      <a:pPr algn="ctr"/>
                      <a:r>
                        <a:rPr sz="1100" b="1" i="0">
                          <a:solidFill>
                            <a:srgbClr val="1F2933"/>
                          </a:solidFill>
                          <a:latin typeface="Calibri"/>
                        </a:rPr>
                        <a:t>it holds if</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7F8F9"/>
                    </a:solidFill>
                  </a:tcPr>
                </a:tc>
              </a:tr>
              <a:tr h="429768">
                <a:tc>
                  <a:txBody>
                    <a:bodyPr wrap="square"/>
                    <a:lstStyle/>
                    <a:p>
                      <a:pPr algn="l"/>
                      <a:r>
                        <a:rPr sz="1100" b="1" i="0">
                          <a:solidFill>
                            <a:srgbClr val="1F2933"/>
                          </a:solidFill>
                          <a:latin typeface="Calibri"/>
                        </a:rPr>
                        <a:t>grace never changes current-fact accuracy</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00" b="0" i="0">
                          <a:solidFill>
                            <a:srgbClr val="1F2933"/>
                          </a:solidFill>
                          <a:latin typeface="Calibri"/>
                        </a:rPr>
                        <a:t>all three benchmarks (ConvoMem still to run)</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00" b="0" i="0">
                          <a:solidFill>
                            <a:srgbClr val="1F2933"/>
                          </a:solidFill>
                          <a:latin typeface="Calibri"/>
                        </a:rPr>
                        <a:t>no grace value differs from 7 days</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429768">
                <a:tc>
                  <a:txBody>
                    <a:bodyPr wrap="square"/>
                    <a:lstStyle/>
                    <a:p>
                      <a:pPr algn="l"/>
                      <a:r>
                        <a:rPr sz="1100" b="1" i="0">
                          <a:solidFill>
                            <a:srgbClr val="1F2933"/>
                          </a:solidFill>
                          <a:latin typeface="Calibri"/>
                        </a:rPr>
                        <a:t>longer grace keeps history answerable</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00" b="0" i="0">
                          <a:solidFill>
                            <a:srgbClr val="1F2933"/>
                          </a:solidFill>
                          <a:latin typeface="Calibri"/>
                        </a:rPr>
                        <a:t>history questions built from MQuAKE-T and FactConsolidation</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00" b="0" i="0">
                          <a:solidFill>
                            <a:srgbClr val="1F2933"/>
                          </a:solidFill>
                          <a:latin typeface="Calibri"/>
                        </a:rPr>
                        <a:t>history accuracy rises with grace</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429768">
                <a:tc>
                  <a:txBody>
                    <a:bodyPr wrap="square"/>
                    <a:lstStyle/>
                    <a:p>
                      <a:pPr algn="l"/>
                      <a:r>
                        <a:rPr sz="1100" b="1" i="0">
                          <a:solidFill>
                            <a:srgbClr val="1F2933"/>
                          </a:solidFill>
                          <a:latin typeface="Calibri"/>
                        </a:rPr>
                        <a:t>short grace saves storage, costs tokens, more so with frequent changes</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00" b="0" i="0">
                          <a:solidFill>
                            <a:srgbClr val="1F2933"/>
                          </a:solidFill>
                          <a:latin typeface="Calibri"/>
                        </a:rPr>
                        <a:t>low-change (MQuAKE-T) vs high-change (FactConsolidation)</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00" b="0" i="0">
                          <a:solidFill>
                            <a:srgbClr val="1F2933"/>
                          </a:solidFill>
                          <a:latin typeface="Calibri"/>
                        </a:rPr>
                        <a:t>the gap is larger on high-change data</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429768">
                <a:tc>
                  <a:txBody>
                    <a:bodyPr wrap="square"/>
                    <a:lstStyle/>
                    <a:p>
                      <a:pPr algn="l"/>
                      <a:r>
                        <a:rPr sz="1100" b="1" i="0">
                          <a:solidFill>
                            <a:srgbClr val="1F2933"/>
                          </a:solidFill>
                          <a:latin typeface="Calibri"/>
                        </a:rPr>
                        <a:t>semantic matching matters when wording varies</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00" b="0" i="0">
                          <a:solidFill>
                            <a:srgbClr val="1F2933"/>
                          </a:solidFill>
                          <a:latin typeface="Calibri"/>
                        </a:rPr>
                        <a:t>MQuAKE-T with questions reworded, vs original</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00" b="0" i="0">
                          <a:solidFill>
                            <a:srgbClr val="1F2933"/>
                          </a:solidFill>
                          <a:latin typeface="Calibri"/>
                        </a:rPr>
                        <a:t>semantic-heavy weights gain only on reworded</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429768">
                <a:tc>
                  <a:txBody>
                    <a:bodyPr wrap="square"/>
                    <a:lstStyle/>
                    <a:p>
                      <a:pPr algn="l"/>
                      <a:r>
                        <a:rPr sz="1100" b="1" i="0">
                          <a:solidFill>
                            <a:srgbClr val="1F2933"/>
                          </a:solidFill>
                          <a:latin typeface="Calibri"/>
                        </a:rPr>
                        <a:t>recency past 20% hurts everywhere</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00" b="0" i="0">
                          <a:solidFill>
                            <a:srgbClr val="1F2933"/>
                          </a:solidFill>
                          <a:latin typeface="Calibri"/>
                        </a:rPr>
                        <a:t>FactConsolidation, held out</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00" b="0" i="0">
                          <a:solidFill>
                            <a:srgbClr val="1F2933"/>
                          </a:solidFill>
                          <a:latin typeface="Calibri"/>
                        </a:rPr>
                        <a:t>same drop after 0.2</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429768">
                <a:tc>
                  <a:txBody>
                    <a:bodyPr wrap="square"/>
                    <a:lstStyle/>
                    <a:p>
                      <a:pPr algn="l"/>
                      <a:r>
                        <a:rPr sz="1100" b="1" i="0">
                          <a:solidFill>
                            <a:srgbClr val="1F2933"/>
                          </a:solidFill>
                          <a:latin typeface="Calibri"/>
                        </a:rPr>
                        <a:t>invalidation fails when names are inconsistent</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00" b="0" i="0">
                          <a:solidFill>
                            <a:srgbClr val="1F2933"/>
                          </a:solidFill>
                          <a:latin typeface="Calibri"/>
                        </a:rPr>
                        <a:t>ConvoMem; multi-agent MQuAKE-T</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00" b="0" i="0">
                          <a:solidFill>
                            <a:srgbClr val="1F2933"/>
                          </a:solidFill>
                          <a:latin typeface="Calibri"/>
                        </a:rPr>
                        <a:t>fixing the names restores invalidation</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bl>
          </a:graphicData>
        </a:graphic>
      </p:graphicFrame>
      <p:sp>
        <p:nvSpPr>
          <p:cNvPr id="7" name="Rectangle 6"/>
          <p:cNvSpPr/>
          <p:nvPr/>
        </p:nvSpPr>
        <p:spPr>
          <a:xfrm>
            <a:off x="640080" y="5166360"/>
            <a:ext cx="10881360" cy="960120"/>
          </a:xfrm>
          <a:prstGeom prst="rect">
            <a:avLst/>
          </a:prstGeom>
          <a:solidFill>
            <a:srgbClr val="F7F8F9"/>
          </a:solidFill>
          <a:ln>
            <a:noFill/>
          </a:ln>
        </p:spPr>
        <p:txBody>
          <a:bodyPr rtlCol="0" anchor="ctr"/>
          <a:lstStyle/>
          <a:p>
            <a:pPr algn="ctr"/>
          </a:p>
        </p:txBody>
      </p:sp>
      <p:sp>
        <p:nvSpPr>
          <p:cNvPr id="8" name="Rectangle 7"/>
          <p:cNvSpPr/>
          <p:nvPr/>
        </p:nvSpPr>
        <p:spPr>
          <a:xfrm>
            <a:off x="640080" y="5166360"/>
            <a:ext cx="36576" cy="960120"/>
          </a:xfrm>
          <a:prstGeom prst="rect">
            <a:avLst/>
          </a:prstGeom>
          <a:solidFill>
            <a:srgbClr val="0F766E"/>
          </a:solidFill>
          <a:ln>
            <a:noFill/>
          </a:ln>
        </p:spPr>
        <p:txBody>
          <a:bodyPr rtlCol="0" anchor="ctr"/>
          <a:lstStyle/>
          <a:p>
            <a:pPr algn="ctr"/>
          </a:p>
        </p:txBody>
      </p:sp>
      <p:sp>
        <p:nvSpPr>
          <p:cNvPr id="9" name="TextBox 8"/>
          <p:cNvSpPr txBox="1"/>
          <p:nvPr/>
        </p:nvSpPr>
        <p:spPr>
          <a:xfrm>
            <a:off x="914400" y="5294376"/>
            <a:ext cx="10332720" cy="704088"/>
          </a:xfrm>
          <a:prstGeom prst="rect">
            <a:avLst/>
          </a:prstGeom>
          <a:noFill/>
        </p:spPr>
        <p:txBody>
          <a:bodyPr wrap="square" lIns="91425" rIns="91425" tIns="45700" bIns="45700" anchor="ctr"/>
          <a:lstStyle/>
          <a:p>
            <a:pPr algn="l">
              <a:spcBef>
                <a:spcPts val="0"/>
              </a:spcBef>
              <a:spcAft>
                <a:spcPts val="0"/>
              </a:spcAft>
            </a:pPr>
            <a:r>
              <a:rPr sz="1250" b="1" i="0">
                <a:solidFill>
                  <a:srgbClr val="1F2933"/>
                </a:solidFill>
                <a:latin typeface="Calibri"/>
              </a:rPr>
              <a:t>General kinds of data covered: </a:t>
            </a:r>
            <a:r>
              <a:rPr sz="1250" b="0" i="0">
                <a:solidFill>
                  <a:srgbClr val="1F2933"/>
                </a:solidFill>
                <a:latin typeface="Calibri"/>
              </a:rPr>
              <a:t>templated facts, adversarial edits, natural conversation, reworded questions, history questions, and memory written by several agents.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676656"/>
            <a:ext cx="10881360" cy="548640"/>
          </a:xfrm>
          <a:prstGeom prst="rect">
            <a:avLst/>
          </a:prstGeom>
          <a:noFill/>
        </p:spPr>
        <p:txBody>
          <a:bodyPr wrap="square" lIns="91425" rIns="91425" tIns="45700" bIns="45700" anchor="ctr"/>
          <a:lstStyle/>
          <a:p>
            <a:pPr algn="l">
              <a:spcBef>
                <a:spcPts val="0"/>
              </a:spcBef>
              <a:spcAft>
                <a:spcPts val="0"/>
              </a:spcAft>
            </a:pPr>
            <a:r>
              <a:rPr sz="2500" b="1" i="0">
                <a:solidFill>
                  <a:srgbClr val="1F2933"/>
                </a:solidFill>
                <a:latin typeface="Calibri"/>
              </a:rPr>
              <a:t>Checkpoint 3: the final run, small against frontier models</a:t>
            </a:r>
          </a:p>
        </p:txBody>
      </p:sp>
      <p:sp>
        <p:nvSpPr>
          <p:cNvPr id="3" name="TextBox 2"/>
          <p:cNvSpPr txBox="1"/>
          <p:nvPr/>
        </p:nvSpPr>
        <p:spPr>
          <a:xfrm>
            <a:off x="11064240" y="6355080"/>
            <a:ext cx="457200" cy="256032"/>
          </a:xfrm>
          <a:prstGeom prst="rect">
            <a:avLst/>
          </a:prstGeom>
          <a:noFill/>
        </p:spPr>
        <p:txBody>
          <a:bodyPr wrap="square" lIns="91425" rIns="91425" tIns="45700" bIns="45700" anchor="t"/>
          <a:lstStyle/>
          <a:p>
            <a:pPr algn="r">
              <a:spcBef>
                <a:spcPts val="0"/>
              </a:spcBef>
              <a:spcAft>
                <a:spcPts val="0"/>
              </a:spcAft>
            </a:pPr>
            <a:r>
              <a:rPr sz="900" b="0" i="0">
                <a:solidFill>
                  <a:srgbClr val="7B8794"/>
                </a:solidFill>
                <a:latin typeface="Calibri"/>
              </a:rPr>
              <a:t>6</a:t>
            </a:r>
          </a:p>
        </p:txBody>
      </p:sp>
      <p:sp>
        <p:nvSpPr>
          <p:cNvPr id="4" name="Rectangle 3"/>
          <p:cNvSpPr/>
          <p:nvPr/>
        </p:nvSpPr>
        <p:spPr>
          <a:xfrm>
            <a:off x="640080" y="1261872"/>
            <a:ext cx="10881360" cy="502920"/>
          </a:xfrm>
          <a:prstGeom prst="rect">
            <a:avLst/>
          </a:prstGeom>
          <a:solidFill>
            <a:srgbClr val="F7F8F9"/>
          </a:solidFill>
          <a:ln>
            <a:noFill/>
          </a:ln>
        </p:spPr>
        <p:txBody>
          <a:bodyPr rtlCol="0" anchor="ctr"/>
          <a:lstStyle/>
          <a:p>
            <a:pPr algn="ctr"/>
          </a:p>
        </p:txBody>
      </p:sp>
      <p:sp>
        <p:nvSpPr>
          <p:cNvPr id="5" name="TextBox 4"/>
          <p:cNvSpPr txBox="1"/>
          <p:nvPr/>
        </p:nvSpPr>
        <p:spPr>
          <a:xfrm>
            <a:off x="777240" y="1298448"/>
            <a:ext cx="10652760" cy="429768"/>
          </a:xfrm>
          <a:prstGeom prst="rect">
            <a:avLst/>
          </a:prstGeom>
          <a:noFill/>
        </p:spPr>
        <p:txBody>
          <a:bodyPr wrap="square" lIns="91425" rIns="91425" tIns="45700" bIns="45700" anchor="ctr"/>
          <a:lstStyle/>
          <a:p>
            <a:pPr algn="l">
              <a:spcBef>
                <a:spcPts val="0"/>
              </a:spcBef>
              <a:spcAft>
                <a:spcPts val="0"/>
              </a:spcAft>
            </a:pPr>
            <a:r>
              <a:rPr sz="1250" b="1" i="0">
                <a:solidFill>
                  <a:srgbClr val="0F766E"/>
                </a:solidFill>
                <a:latin typeface="Calibri"/>
              </a:rPr>
              <a:t>QUESTION   </a:t>
            </a:r>
            <a:r>
              <a:rPr sz="1250" b="0" i="0">
                <a:solidFill>
                  <a:srgbClr val="1F2933"/>
                </a:solidFill>
                <a:latin typeface="Calibri"/>
              </a:rPr>
              <a:t>Does P2's advantage over memory that never forgets (P0) hold, shrink or vanish as the answer model gets stronger?</a:t>
            </a:r>
          </a:p>
        </p:txBody>
      </p:sp>
      <p:graphicFrame>
        <p:nvGraphicFramePr>
          <p:cNvPr id="6" name="Table 5"/>
          <p:cNvGraphicFramePr>
            <a:graphicFrameLocks noGrp="1"/>
          </p:cNvGraphicFramePr>
          <p:nvPr/>
        </p:nvGraphicFramePr>
        <p:xfrm>
          <a:off x="640080" y="1920240"/>
          <a:ext cx="6766560" cy="2560320"/>
        </p:xfrm>
        <a:graphic>
          <a:graphicData uri="http://schemas.openxmlformats.org/drawingml/2006/table">
            <a:tbl>
              <a:tblPr firstRow="0" bandRow="0" firstCol="0" lastRow="0" lastCol="0" bandCol="0">
                <a:tableStyleId>{7018C7E7-2324-4B46-8E55-F870A1040F12}</a:tableStyleId>
              </a:tblPr>
              <a:tblGrid>
                <a:gridCol w="1828800"/>
                <a:gridCol w="2743200"/>
                <a:gridCol w="2194560"/>
              </a:tblGrid>
              <a:tr h="365760">
                <a:tc>
                  <a:txBody>
                    <a:bodyPr wrap="square"/>
                    <a:lstStyle/>
                    <a:p>
                      <a:pPr algn="l"/>
                      <a:r>
                        <a:rPr sz="1150" b="1" i="0">
                          <a:solidFill>
                            <a:srgbClr val="1F2933"/>
                          </a:solidFill>
                          <a:latin typeface="Calibri"/>
                        </a:rPr>
                        <a:t>tier</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7F8F9"/>
                    </a:solidFill>
                  </a:tcPr>
                </a:tc>
                <a:tc>
                  <a:txBody>
                    <a:bodyPr wrap="square"/>
                    <a:lstStyle/>
                    <a:p>
                      <a:pPr algn="ctr"/>
                      <a:r>
                        <a:rPr sz="1150" b="1" i="0">
                          <a:solidFill>
                            <a:srgbClr val="1F2933"/>
                          </a:solidFill>
                          <a:latin typeface="Calibri"/>
                        </a:rPr>
                        <a:t>model</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7F8F9"/>
                    </a:solidFill>
                  </a:tcPr>
                </a:tc>
                <a:tc>
                  <a:txBody>
                    <a:bodyPr wrap="square"/>
                    <a:lstStyle/>
                    <a:p>
                      <a:pPr algn="ctr"/>
                      <a:r>
                        <a:rPr sz="1150" b="1" i="0">
                          <a:solidFill>
                            <a:srgbClr val="1F2933"/>
                          </a:solidFill>
                          <a:latin typeface="Calibri"/>
                        </a:rPr>
                        <a:t>price in / out per 1M</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7F8F9"/>
                    </a:solidFill>
                  </a:tcPr>
                </a:tc>
              </a:tr>
              <a:tr h="365760">
                <a:tc>
                  <a:txBody>
                    <a:bodyPr wrap="square"/>
                    <a:lstStyle/>
                    <a:p>
                      <a:pPr algn="l"/>
                      <a:r>
                        <a:rPr sz="1150" b="1" i="0">
                          <a:solidFill>
                            <a:srgbClr val="1F2933"/>
                          </a:solidFill>
                          <a:latin typeface="Calibri"/>
                        </a:rPr>
                        <a:t>frontier</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GPT-6.1 Sol</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$2 / $10</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365760">
                <a:tc>
                  <a:txBody>
                    <a:bodyPr wrap="square"/>
                    <a:lstStyle/>
                    <a:p>
                      <a:pPr algn="l"/>
                      <a:r>
                        <a:rPr sz="1150" b="1" i="0">
                          <a:solidFill>
                            <a:srgbClr val="1F2933"/>
                          </a:solidFill>
                          <a:latin typeface="Calibri"/>
                        </a:rPr>
                        <a:t>frontier</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Claude Sonnet 5.5</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$2 / $10</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365760">
                <a:tc>
                  <a:txBody>
                    <a:bodyPr wrap="square"/>
                    <a:lstStyle/>
                    <a:p>
                      <a:pPr algn="l"/>
                      <a:r>
                        <a:rPr sz="1150" b="1" i="0">
                          <a:solidFill>
                            <a:srgbClr val="1F2933"/>
                          </a:solidFill>
                          <a:latin typeface="Calibri"/>
                        </a:rPr>
                        <a:t>mid</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Gemini 3.8 Flash</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$0.75 / $3.75</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365760">
                <a:tc>
                  <a:txBody>
                    <a:bodyPr wrap="square"/>
                    <a:lstStyle/>
                    <a:p>
                      <a:pPr algn="l"/>
                      <a:r>
                        <a:rPr sz="1150" b="1" i="0">
                          <a:solidFill>
                            <a:srgbClr val="1F2933"/>
                          </a:solidFill>
                          <a:latin typeface="Calibri"/>
                        </a:rPr>
                        <a:t>small</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Llama 3.1 8B</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$0.02 / $0.04</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365760">
                <a:tc>
                  <a:txBody>
                    <a:bodyPr wrap="square"/>
                    <a:lstStyle/>
                    <a:p>
                      <a:pPr algn="l"/>
                      <a:r>
                        <a:rPr sz="1150" b="1" i="0">
                          <a:solidFill>
                            <a:srgbClr val="1F2933"/>
                          </a:solidFill>
                          <a:latin typeface="Calibri"/>
                        </a:rPr>
                        <a:t>small, reasoning</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Qwen3 8B</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$0.12 / $0.46</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365760">
                <a:tc>
                  <a:txBody>
                    <a:bodyPr wrap="square"/>
                    <a:lstStyle/>
                    <a:p>
                      <a:pPr algn="l"/>
                      <a:r>
                        <a:rPr sz="1150" b="1" i="0">
                          <a:solidFill>
                            <a:srgbClr val="1F2933"/>
                          </a:solidFill>
                          <a:latin typeface="Calibri"/>
                        </a:rPr>
                        <a:t>judge</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DeepSeek V4.1 Flash</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$0.03 / $0.60</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bl>
          </a:graphicData>
        </a:graphic>
      </p:graphicFrame>
      <p:sp>
        <p:nvSpPr>
          <p:cNvPr id="7" name="TextBox 6"/>
          <p:cNvSpPr txBox="1"/>
          <p:nvPr/>
        </p:nvSpPr>
        <p:spPr>
          <a:xfrm>
            <a:off x="7726679" y="1920240"/>
            <a:ext cx="3840480" cy="274320"/>
          </a:xfrm>
          <a:prstGeom prst="rect">
            <a:avLst/>
          </a:prstGeom>
          <a:noFill/>
        </p:spPr>
        <p:txBody>
          <a:bodyPr wrap="square" lIns="91425" rIns="91425" tIns="45700" bIns="45700" anchor="t"/>
          <a:lstStyle/>
          <a:p>
            <a:pPr algn="l">
              <a:spcBef>
                <a:spcPts val="0"/>
              </a:spcBef>
              <a:spcAft>
                <a:spcPts val="0"/>
              </a:spcAft>
            </a:pPr>
            <a:r>
              <a:rPr sz="1250" b="1" i="0">
                <a:solidFill>
                  <a:srgbClr val="1F2933"/>
                </a:solidFill>
                <a:latin typeface="Calibri"/>
              </a:rPr>
              <a:t>Design</a:t>
            </a:r>
          </a:p>
        </p:txBody>
      </p:sp>
      <p:sp>
        <p:nvSpPr>
          <p:cNvPr id="8" name="TextBox 7"/>
          <p:cNvSpPr txBox="1"/>
          <p:nvPr/>
        </p:nvSpPr>
        <p:spPr>
          <a:xfrm>
            <a:off x="7726679" y="2240280"/>
            <a:ext cx="3840480" cy="2743200"/>
          </a:xfrm>
          <a:prstGeom prst="rect">
            <a:avLst/>
          </a:prstGeom>
          <a:noFill/>
        </p:spPr>
        <p:txBody>
          <a:bodyPr wrap="square" lIns="91425" rIns="91425" tIns="45700" bIns="45700" anchor="t"/>
          <a:lstStyle/>
          <a:p>
            <a:pPr algn="l" marL="342900" indent="-342900">
              <a:lnSpc>
                <a:spcPct val="120000"/>
              </a:lnSpc>
              <a:spcBef>
                <a:spcPts val="400"/>
              </a:spcBef>
              <a:spcAft>
                <a:spcPts val="0"/>
              </a:spcAft>
              <a:buClr>
                <a:srgbClr val="1F2933"/>
              </a:buClr>
              <a:buFont typeface="Calibri"/>
              <a:buChar char="•"/>
            </a:pPr>
            <a:r>
              <a:rPr sz="1250" b="1" i="0">
                <a:solidFill>
                  <a:srgbClr val="1F2933"/>
                </a:solidFill>
                <a:latin typeface="Calibri"/>
              </a:rPr>
              <a:t>All 7 policies x all 3 benchmarks </a:t>
            </a:r>
            <a:r>
              <a:rPr sz="1250" b="0" i="0">
                <a:solidFill>
                  <a:srgbClr val="1F2933"/>
                </a:solidFill>
                <a:latin typeface="Calibri"/>
              </a:rPr>
              <a:t>x 5 models = 10,360 answers.</a:t>
            </a:r>
          </a:p>
          <a:p>
            <a:pPr algn="l" marL="342900" indent="-342900">
              <a:lnSpc>
                <a:spcPct val="120000"/>
              </a:lnSpc>
              <a:spcBef>
                <a:spcPts val="400"/>
              </a:spcBef>
              <a:spcAft>
                <a:spcPts val="0"/>
              </a:spcAft>
              <a:buClr>
                <a:srgbClr val="1F2933"/>
              </a:buClr>
              <a:buFont typeface="Calibri"/>
              <a:buChar char="•"/>
            </a:pPr>
            <a:r>
              <a:rPr sz="1250" b="1" i="0">
                <a:solidFill>
                  <a:srgbClr val="1F2933"/>
                </a:solidFill>
                <a:latin typeface="Calibri"/>
              </a:rPr>
              <a:t>Held fixed: </a:t>
            </a:r>
            <a:r>
              <a:rPr sz="1250" b="0" i="0">
                <a:solidFill>
                  <a:srgbClr val="1F2933"/>
                </a:solidFill>
                <a:latin typeface="Calibri"/>
              </a:rPr>
              <a:t>memory extraction (cached), weights 0.6 / 0.3 / 0.1, grace 7 days, top 25 facts, one judge.</a:t>
            </a:r>
          </a:p>
          <a:p>
            <a:pPr algn="l" marL="342900" indent="-342900">
              <a:lnSpc>
                <a:spcPct val="120000"/>
              </a:lnSpc>
              <a:spcBef>
                <a:spcPts val="400"/>
              </a:spcBef>
              <a:spcAft>
                <a:spcPts val="0"/>
              </a:spcAft>
              <a:buClr>
                <a:srgbClr val="1F2933"/>
              </a:buClr>
              <a:buFont typeface="Calibri"/>
              <a:buChar char="•"/>
            </a:pPr>
            <a:r>
              <a:rPr sz="1250" b="1" i="0">
                <a:solidFill>
                  <a:srgbClr val="1F2933"/>
                </a:solidFill>
                <a:latin typeface="Calibri"/>
              </a:rPr>
              <a:t>Replaces the old FactConsolidation results, </a:t>
            </a:r>
            <a:r>
              <a:rPr sz="1250" b="0" i="0">
                <a:solidFill>
                  <a:srgbClr val="1F2933"/>
                </a:solidFill>
                <a:latin typeface="Calibri"/>
              </a:rPr>
              <a:t>which used the outdated prompt.</a:t>
            </a:r>
          </a:p>
          <a:p>
            <a:pPr algn="l" marL="342900" indent="-342900">
              <a:lnSpc>
                <a:spcPct val="120000"/>
              </a:lnSpc>
              <a:spcBef>
                <a:spcPts val="400"/>
              </a:spcBef>
              <a:spcAft>
                <a:spcPts val="0"/>
              </a:spcAft>
              <a:buClr>
                <a:srgbClr val="1F2933"/>
              </a:buClr>
              <a:buFont typeface="Calibri"/>
              <a:buChar char="•"/>
            </a:pPr>
            <a:r>
              <a:rPr sz="1250" b="1" i="0">
                <a:solidFill>
                  <a:srgbClr val="1F2933"/>
                </a:solidFill>
                <a:latin typeface="Calibri"/>
              </a:rPr>
              <a:t>Cost: about $10 to $20.</a:t>
            </a:r>
          </a:p>
        </p:txBody>
      </p:sp>
      <p:sp>
        <p:nvSpPr>
          <p:cNvPr id="9" name="Rectangle 8"/>
          <p:cNvSpPr/>
          <p:nvPr/>
        </p:nvSpPr>
        <p:spPr>
          <a:xfrm>
            <a:off x="640080" y="4709160"/>
            <a:ext cx="10881360" cy="1417320"/>
          </a:xfrm>
          <a:prstGeom prst="rect">
            <a:avLst/>
          </a:prstGeom>
          <a:solidFill>
            <a:srgbClr val="F7F8F9"/>
          </a:solidFill>
          <a:ln>
            <a:noFill/>
          </a:ln>
        </p:spPr>
        <p:txBody>
          <a:bodyPr rtlCol="0" anchor="ctr"/>
          <a:lstStyle/>
          <a:p>
            <a:pPr algn="ctr"/>
          </a:p>
        </p:txBody>
      </p:sp>
      <p:sp>
        <p:nvSpPr>
          <p:cNvPr id="10" name="Rectangle 9"/>
          <p:cNvSpPr/>
          <p:nvPr/>
        </p:nvSpPr>
        <p:spPr>
          <a:xfrm>
            <a:off x="640080" y="4709160"/>
            <a:ext cx="36576" cy="1417320"/>
          </a:xfrm>
          <a:prstGeom prst="rect">
            <a:avLst/>
          </a:prstGeom>
          <a:solidFill>
            <a:srgbClr val="0F766E"/>
          </a:solidFill>
          <a:ln>
            <a:noFill/>
          </a:ln>
        </p:spPr>
        <p:txBody>
          <a:bodyPr rtlCol="0" anchor="ctr"/>
          <a:lstStyle/>
          <a:p>
            <a:pPr algn="ctr"/>
          </a:p>
        </p:txBody>
      </p:sp>
      <p:sp>
        <p:nvSpPr>
          <p:cNvPr id="11" name="TextBox 10"/>
          <p:cNvSpPr txBox="1"/>
          <p:nvPr/>
        </p:nvSpPr>
        <p:spPr>
          <a:xfrm>
            <a:off x="914400" y="4837176"/>
            <a:ext cx="10332720" cy="1161288"/>
          </a:xfrm>
          <a:prstGeom prst="rect">
            <a:avLst/>
          </a:prstGeom>
          <a:noFill/>
        </p:spPr>
        <p:txBody>
          <a:bodyPr wrap="square" lIns="91425" rIns="91425" tIns="45700" bIns="45700" anchor="ctr"/>
          <a:lstStyle/>
          <a:p>
            <a:pPr algn="l">
              <a:spcBef>
                <a:spcPts val="0"/>
              </a:spcBef>
              <a:spcAft>
                <a:spcPts val="0"/>
              </a:spcAft>
            </a:pPr>
            <a:r>
              <a:rPr sz="1250" b="1" i="0">
                <a:solidFill>
                  <a:srgbClr val="1F2933"/>
                </a:solidFill>
                <a:latin typeface="Calibri"/>
              </a:rPr>
              <a:t>The one risk worth testing on purpose. </a:t>
            </a:r>
            <a:r>
              <a:rPr sz="1250" b="0" i="0">
                <a:solidFill>
                  <a:srgbClr val="1F2933"/>
                </a:solidFill>
                <a:latin typeface="Calibri"/>
              </a:rPr>
              <a:t>Every fact in the prompt carries its date. A frontier model may work out on its own that the newer fact wins, which is P2's job, done by the reader. If so, P0 catches up with P2 at the frontier.</a:t>
            </a:r>
          </a:p>
          <a:p>
            <a:pPr algn="l">
              <a:spcBef>
                <a:spcPts val="600"/>
              </a:spcBef>
              <a:spcAft>
                <a:spcPts val="0"/>
              </a:spcAft>
            </a:pPr>
            <a:r>
              <a:rPr sz="1250" b="1" i="0">
                <a:solidFill>
                  <a:srgbClr val="1F2933"/>
                </a:solidFill>
                <a:latin typeface="Calibri"/>
              </a:rPr>
              <a:t>Either answer is a finding: </a:t>
            </a:r>
            <a:r>
              <a:rPr sz="1250" b="0" i="0">
                <a:solidFill>
                  <a:srgbClr val="1F2933"/>
                </a:solidFill>
                <a:latin typeface="Calibri"/>
              </a:rPr>
              <a:t>P2 matters most for small and cheap models, or it stays necessary even at the frontier.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676656"/>
            <a:ext cx="10881360" cy="548640"/>
          </a:xfrm>
          <a:prstGeom prst="rect">
            <a:avLst/>
          </a:prstGeom>
          <a:noFill/>
        </p:spPr>
        <p:txBody>
          <a:bodyPr wrap="square" lIns="91425" rIns="91425" tIns="45700" bIns="45700" anchor="ctr"/>
          <a:lstStyle/>
          <a:p>
            <a:pPr algn="l">
              <a:spcBef>
                <a:spcPts val="0"/>
              </a:spcBef>
              <a:spcAft>
                <a:spcPts val="0"/>
              </a:spcAft>
            </a:pPr>
            <a:r>
              <a:rPr sz="2500" b="1" i="0">
                <a:solidFill>
                  <a:srgbClr val="1F2933"/>
                </a:solidFill>
                <a:latin typeface="Calibri"/>
              </a:rPr>
              <a:t>What each outcome of the final run would mean</a:t>
            </a:r>
          </a:p>
        </p:txBody>
      </p:sp>
      <p:sp>
        <p:nvSpPr>
          <p:cNvPr id="3" name="TextBox 2"/>
          <p:cNvSpPr txBox="1"/>
          <p:nvPr/>
        </p:nvSpPr>
        <p:spPr>
          <a:xfrm>
            <a:off x="11064240" y="6355080"/>
            <a:ext cx="457200" cy="256032"/>
          </a:xfrm>
          <a:prstGeom prst="rect">
            <a:avLst/>
          </a:prstGeom>
          <a:noFill/>
        </p:spPr>
        <p:txBody>
          <a:bodyPr wrap="square" lIns="91425" rIns="91425" tIns="45700" bIns="45700" anchor="t"/>
          <a:lstStyle/>
          <a:p>
            <a:pPr algn="r">
              <a:spcBef>
                <a:spcPts val="0"/>
              </a:spcBef>
              <a:spcAft>
                <a:spcPts val="0"/>
              </a:spcAft>
            </a:pPr>
            <a:r>
              <a:rPr sz="900" b="0" i="0">
                <a:solidFill>
                  <a:srgbClr val="7B8794"/>
                </a:solidFill>
                <a:latin typeface="Calibri"/>
              </a:rPr>
              <a:t>7</a:t>
            </a:r>
          </a:p>
        </p:txBody>
      </p:sp>
      <p:sp>
        <p:nvSpPr>
          <p:cNvPr id="4" name="Rectangle 3"/>
          <p:cNvSpPr/>
          <p:nvPr/>
        </p:nvSpPr>
        <p:spPr>
          <a:xfrm>
            <a:off x="640080" y="1261872"/>
            <a:ext cx="10881360" cy="502920"/>
          </a:xfrm>
          <a:prstGeom prst="rect">
            <a:avLst/>
          </a:prstGeom>
          <a:solidFill>
            <a:srgbClr val="F7F8F9"/>
          </a:solidFill>
          <a:ln>
            <a:noFill/>
          </a:ln>
        </p:spPr>
        <p:txBody>
          <a:bodyPr rtlCol="0" anchor="ctr"/>
          <a:lstStyle/>
          <a:p>
            <a:pPr algn="ctr"/>
          </a:p>
        </p:txBody>
      </p:sp>
      <p:sp>
        <p:nvSpPr>
          <p:cNvPr id="5" name="TextBox 4"/>
          <p:cNvSpPr txBox="1"/>
          <p:nvPr/>
        </p:nvSpPr>
        <p:spPr>
          <a:xfrm>
            <a:off x="777240" y="1298448"/>
            <a:ext cx="10652760" cy="429768"/>
          </a:xfrm>
          <a:prstGeom prst="rect">
            <a:avLst/>
          </a:prstGeom>
          <a:noFill/>
        </p:spPr>
        <p:txBody>
          <a:bodyPr wrap="square" lIns="91425" rIns="91425" tIns="45700" bIns="45700" anchor="ctr"/>
          <a:lstStyle/>
          <a:p>
            <a:pPr algn="l">
              <a:spcBef>
                <a:spcPts val="0"/>
              </a:spcBef>
              <a:spcAft>
                <a:spcPts val="0"/>
              </a:spcAft>
            </a:pPr>
            <a:r>
              <a:rPr sz="1250" b="1" i="0">
                <a:solidFill>
                  <a:srgbClr val="0F766E"/>
                </a:solidFill>
                <a:latin typeface="Calibri"/>
              </a:rPr>
              <a:t>RECAP   </a:t>
            </a:r>
            <a:r>
              <a:rPr sz="1250" b="0" i="0">
                <a:solidFill>
                  <a:srgbClr val="1F2933"/>
                </a:solidFill>
                <a:latin typeface="Calibri"/>
              </a:rPr>
              <a:t>Accuracy = (correct fact reaches the prompt) × (model uses it). P2 changes the first; the model changes the second.</a:t>
            </a:r>
          </a:p>
        </p:txBody>
      </p:sp>
      <p:graphicFrame>
        <p:nvGraphicFramePr>
          <p:cNvPr id="6" name="Table 5"/>
          <p:cNvGraphicFramePr>
            <a:graphicFrameLocks noGrp="1"/>
          </p:cNvGraphicFramePr>
          <p:nvPr/>
        </p:nvGraphicFramePr>
        <p:xfrm>
          <a:off x="640080" y="1920240"/>
          <a:ext cx="10881360" cy="2514600"/>
        </p:xfrm>
        <a:graphic>
          <a:graphicData uri="http://schemas.openxmlformats.org/drawingml/2006/table">
            <a:tbl>
              <a:tblPr firstRow="0" bandRow="0" firstCol="0" lastRow="0" lastCol="0" bandCol="0">
                <a:tableStyleId>{7018C7E7-2324-4B46-8E55-F870A1040F12}</a:tableStyleId>
              </a:tblPr>
              <a:tblGrid>
                <a:gridCol w="3474720"/>
                <a:gridCol w="4206240"/>
                <a:gridCol w="3200400"/>
              </a:tblGrid>
              <a:tr h="502920">
                <a:tc>
                  <a:txBody>
                    <a:bodyPr wrap="square"/>
                    <a:lstStyle/>
                    <a:p>
                      <a:pPr algn="l"/>
                      <a:r>
                        <a:rPr sz="1150" b="1" i="0">
                          <a:solidFill>
                            <a:srgbClr val="1F2933"/>
                          </a:solidFill>
                          <a:latin typeface="Calibri"/>
                        </a:rPr>
                        <a:t>if frontier models show...</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7F8F9"/>
                    </a:solidFill>
                  </a:tcPr>
                </a:tc>
                <a:tc>
                  <a:txBody>
                    <a:bodyPr wrap="square"/>
                    <a:lstStyle/>
                    <a:p>
                      <a:pPr algn="ctr"/>
                      <a:r>
                        <a:rPr sz="1150" b="1" i="0">
                          <a:solidFill>
                            <a:srgbClr val="1F2933"/>
                          </a:solidFill>
                          <a:latin typeface="Calibri"/>
                        </a:rPr>
                        <a:t>it means</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7F8F9"/>
                    </a:solidFill>
                  </a:tcPr>
                </a:tc>
                <a:tc>
                  <a:txBody>
                    <a:bodyPr wrap="square"/>
                    <a:lstStyle/>
                    <a:p>
                      <a:pPr algn="ctr"/>
                      <a:r>
                        <a:rPr sz="1150" b="1" i="0">
                          <a:solidFill>
                            <a:srgbClr val="1F2933"/>
                          </a:solidFill>
                          <a:latin typeface="Calibri"/>
                        </a:rPr>
                        <a:t>thesis claim</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7F8F9"/>
                    </a:solidFill>
                  </a:tcPr>
                </a:tc>
              </a:tr>
              <a:tr h="502920">
                <a:tc>
                  <a:txBody>
                    <a:bodyPr wrap="square"/>
                    <a:lstStyle/>
                    <a:p>
                      <a:pPr algn="l"/>
                      <a:r>
                        <a:rPr sz="1150" b="1" i="0">
                          <a:solidFill>
                            <a:srgbClr val="1F2933"/>
                          </a:solidFill>
                          <a:latin typeface="Calibri"/>
                        </a:rPr>
                        <a:t>the same P2 staleness advantage as small models</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outdated facts fool every reader; forgetting is needed at every scale</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P2 is necessary regardless of model</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502920">
                <a:tc>
                  <a:txBody>
                    <a:bodyPr wrap="square"/>
                    <a:lstStyle/>
                    <a:p>
                      <a:pPr algn="l"/>
                      <a:r>
                        <a:rPr sz="1150" b="1" i="0">
                          <a:solidFill>
                            <a:srgbClr val="1F2933"/>
                          </a:solidFill>
                          <a:latin typeface="Calibri"/>
                        </a:rPr>
                        <a:t>a smaller but still significant advantage</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better readers resist outdated facts, but not fully</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P2's value shrinks with model strength</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502920">
                <a:tc>
                  <a:txBody>
                    <a:bodyPr wrap="square"/>
                    <a:lstStyle/>
                    <a:p>
                      <a:pPr algn="l"/>
                      <a:r>
                        <a:rPr sz="1150" b="1" i="0">
                          <a:solidFill>
                            <a:srgbClr val="1F2933"/>
                          </a:solidFill>
                          <a:latin typeface="Calibri"/>
                        </a:rPr>
                        <a:t>no advantage on clean data, still on conversation</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frontier models resolve clean conflicts from dates, not messy ones</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P2 matters for small models and real dialogue</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502920">
                <a:tc>
                  <a:txBody>
                    <a:bodyPr wrap="square"/>
                    <a:lstStyle/>
                    <a:p>
                      <a:pPr algn="l"/>
                      <a:r>
                        <a:rPr sz="1150" b="1" i="0">
                          <a:solidFill>
                            <a:srgbClr val="1F2933"/>
                          </a:solidFill>
                          <a:latin typeface="Calibri"/>
                        </a:rPr>
                        <a:t>no advantage anywhere</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the reader does the forgetting itself</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P2's value is cost: 12 to 17% fewer tokens, priced at frontier rates</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bl>
          </a:graphicData>
        </a:graphic>
      </p:graphicFrame>
      <p:sp>
        <p:nvSpPr>
          <p:cNvPr id="7" name="Rectangle 6"/>
          <p:cNvSpPr/>
          <p:nvPr/>
        </p:nvSpPr>
        <p:spPr>
          <a:xfrm>
            <a:off x="640080" y="4892040"/>
            <a:ext cx="10881360" cy="1234440"/>
          </a:xfrm>
          <a:prstGeom prst="rect">
            <a:avLst/>
          </a:prstGeom>
          <a:solidFill>
            <a:srgbClr val="F7F8F9"/>
          </a:solidFill>
          <a:ln>
            <a:noFill/>
          </a:ln>
        </p:spPr>
        <p:txBody>
          <a:bodyPr rtlCol="0" anchor="ctr"/>
          <a:lstStyle/>
          <a:p>
            <a:pPr algn="ctr"/>
          </a:p>
        </p:txBody>
      </p:sp>
      <p:sp>
        <p:nvSpPr>
          <p:cNvPr id="8" name="Rectangle 7"/>
          <p:cNvSpPr/>
          <p:nvPr/>
        </p:nvSpPr>
        <p:spPr>
          <a:xfrm>
            <a:off x="640080" y="4892040"/>
            <a:ext cx="36576" cy="1234440"/>
          </a:xfrm>
          <a:prstGeom prst="rect">
            <a:avLst/>
          </a:prstGeom>
          <a:solidFill>
            <a:srgbClr val="0F766E"/>
          </a:solidFill>
          <a:ln>
            <a:noFill/>
          </a:ln>
        </p:spPr>
        <p:txBody>
          <a:bodyPr rtlCol="0" anchor="ctr"/>
          <a:lstStyle/>
          <a:p>
            <a:pPr algn="ctr"/>
          </a:p>
        </p:txBody>
      </p:sp>
      <p:sp>
        <p:nvSpPr>
          <p:cNvPr id="9" name="TextBox 8"/>
          <p:cNvSpPr txBox="1"/>
          <p:nvPr/>
        </p:nvSpPr>
        <p:spPr>
          <a:xfrm>
            <a:off x="914400" y="5020055"/>
            <a:ext cx="10332720" cy="978408"/>
          </a:xfrm>
          <a:prstGeom prst="rect">
            <a:avLst/>
          </a:prstGeom>
          <a:noFill/>
        </p:spPr>
        <p:txBody>
          <a:bodyPr wrap="square" lIns="91425" rIns="91425" tIns="45700" bIns="45700" anchor="ctr"/>
          <a:lstStyle/>
          <a:p>
            <a:pPr algn="l">
              <a:spcBef>
                <a:spcPts val="0"/>
              </a:spcBef>
              <a:spcAft>
                <a:spcPts val="0"/>
              </a:spcAft>
            </a:pPr>
            <a:r>
              <a:rPr sz="1250" b="1" i="0">
                <a:solidFill>
                  <a:srgbClr val="1F2933"/>
                </a:solidFill>
                <a:latin typeface="Calibri"/>
              </a:rPr>
              <a:t>Already in hand: </a:t>
            </a:r>
            <a:r>
              <a:rPr sz="1250" b="0" i="0">
                <a:solidFill>
                  <a:srgbClr val="1F2933"/>
                </a:solidFill>
                <a:latin typeface="Calibri"/>
              </a:rPr>
              <a:t>with GLM-5.2, a strong model, P2 cut FactConsolidation staleness from 0.18 to 0.06. In conversation both 8B models repeated an outdated fact a third of the time whenever it was present, reasoning or not. My prediction is the second or third row.</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676656"/>
            <a:ext cx="10881360" cy="548640"/>
          </a:xfrm>
          <a:prstGeom prst="rect">
            <a:avLst/>
          </a:prstGeom>
          <a:noFill/>
        </p:spPr>
        <p:txBody>
          <a:bodyPr wrap="square" lIns="91425" rIns="91425" tIns="45700" bIns="45700" anchor="ctr"/>
          <a:lstStyle/>
          <a:p>
            <a:pPr algn="l">
              <a:spcBef>
                <a:spcPts val="0"/>
              </a:spcBef>
              <a:spcAft>
                <a:spcPts val="0"/>
              </a:spcAft>
            </a:pPr>
            <a:r>
              <a:rPr sz="2500" b="1" i="0">
                <a:solidFill>
                  <a:srgbClr val="1F2933"/>
                </a:solidFill>
                <a:latin typeface="Calibri"/>
              </a:rPr>
              <a:t>Before the final run: four checks</a:t>
            </a:r>
          </a:p>
        </p:txBody>
      </p:sp>
      <p:sp>
        <p:nvSpPr>
          <p:cNvPr id="3" name="TextBox 2"/>
          <p:cNvSpPr txBox="1"/>
          <p:nvPr/>
        </p:nvSpPr>
        <p:spPr>
          <a:xfrm>
            <a:off x="11064240" y="6355080"/>
            <a:ext cx="457200" cy="256032"/>
          </a:xfrm>
          <a:prstGeom prst="rect">
            <a:avLst/>
          </a:prstGeom>
          <a:noFill/>
        </p:spPr>
        <p:txBody>
          <a:bodyPr wrap="square" lIns="91425" rIns="91425" tIns="45700" bIns="45700" anchor="t"/>
          <a:lstStyle/>
          <a:p>
            <a:pPr algn="r">
              <a:spcBef>
                <a:spcPts val="0"/>
              </a:spcBef>
              <a:spcAft>
                <a:spcPts val="0"/>
              </a:spcAft>
            </a:pPr>
            <a:r>
              <a:rPr sz="900" b="0" i="0">
                <a:solidFill>
                  <a:srgbClr val="7B8794"/>
                </a:solidFill>
                <a:latin typeface="Calibri"/>
              </a:rPr>
              <a:t>8</a:t>
            </a:r>
          </a:p>
        </p:txBody>
      </p:sp>
      <p:sp>
        <p:nvSpPr>
          <p:cNvPr id="4" name="TextBox 3"/>
          <p:cNvSpPr txBox="1"/>
          <p:nvPr/>
        </p:nvSpPr>
        <p:spPr>
          <a:xfrm>
            <a:off x="640080" y="1463040"/>
            <a:ext cx="10881360" cy="3291840"/>
          </a:xfrm>
          <a:prstGeom prst="rect">
            <a:avLst/>
          </a:prstGeom>
          <a:noFill/>
        </p:spPr>
        <p:txBody>
          <a:bodyPr wrap="square" lIns="91425" rIns="91425" tIns="45700" bIns="45700" anchor="t"/>
          <a:lstStyle/>
          <a:p>
            <a:pPr algn="l" marL="342900" indent="-342900">
              <a:lnSpc>
                <a:spcPct val="135000"/>
              </a:lnSpc>
              <a:spcBef>
                <a:spcPts val="600"/>
              </a:spcBef>
              <a:spcAft>
                <a:spcPts val="0"/>
              </a:spcAft>
              <a:buClr>
                <a:srgbClr val="1F2933"/>
              </a:buClr>
              <a:buFont typeface="Calibri"/>
              <a:buChar char="•"/>
            </a:pPr>
            <a:r>
              <a:rPr sz="1400" b="1" i="0">
                <a:solidFill>
                  <a:srgbClr val="1F2933"/>
                </a:solidFill>
                <a:latin typeface="Calibri"/>
              </a:rPr>
              <a:t>1. Validate the judge. </a:t>
            </a:r>
            <a:r>
              <a:rPr sz="1400" b="0" i="0">
                <a:solidFill>
                  <a:srgbClr val="1F2933"/>
                </a:solidFill>
                <a:latin typeface="Calibri"/>
              </a:rPr>
              <a:t>DeepSeek V4.1 Flash against Claude Opus on 200 answers; switch if agreement is below 95%.</a:t>
            </a:r>
          </a:p>
          <a:p>
            <a:pPr algn="l" marL="342900" indent="-342900">
              <a:lnSpc>
                <a:spcPct val="135000"/>
              </a:lnSpc>
              <a:spcBef>
                <a:spcPts val="600"/>
              </a:spcBef>
              <a:spcAft>
                <a:spcPts val="0"/>
              </a:spcAft>
              <a:buClr>
                <a:srgbClr val="1F2933"/>
              </a:buClr>
              <a:buFont typeface="Calibri"/>
              <a:buChar char="•"/>
            </a:pPr>
            <a:r>
              <a:rPr sz="1400" b="1" i="0">
                <a:solidFill>
                  <a:srgbClr val="1F2933"/>
                </a:solidFill>
                <a:latin typeface="Calibri"/>
              </a:rPr>
              <a:t>2. Pin the model inside P4. </a:t>
            </a:r>
            <a:r>
              <a:rPr sz="1400" b="0" i="0">
                <a:solidFill>
                  <a:srgbClr val="1F2933"/>
                </a:solidFill>
                <a:latin typeface="Calibri"/>
              </a:rPr>
              <a:t>P4 uses an LLM to merge facts. When its provider changed, P4 went from 8 to 172 facts deleted. One fixed model does that job for every answer model.</a:t>
            </a:r>
          </a:p>
          <a:p>
            <a:pPr algn="l" marL="342900" indent="-342900">
              <a:lnSpc>
                <a:spcPct val="135000"/>
              </a:lnSpc>
              <a:spcBef>
                <a:spcPts val="600"/>
              </a:spcBef>
              <a:spcAft>
                <a:spcPts val="0"/>
              </a:spcAft>
              <a:buClr>
                <a:srgbClr val="1F2933"/>
              </a:buClr>
              <a:buFont typeface="Calibri"/>
              <a:buChar char="•"/>
            </a:pPr>
            <a:r>
              <a:rPr sz="1400" b="1" i="0">
                <a:solidFill>
                  <a:srgbClr val="1F2933"/>
                </a:solidFill>
                <a:latin typeface="Calibri"/>
              </a:rPr>
              <a:t>3. Pilot on one benchmark. </a:t>
            </a:r>
            <a:r>
              <a:rPr sz="1400" b="0" i="0">
                <a:solidFill>
                  <a:srgbClr val="1F2933"/>
                </a:solidFill>
                <a:latin typeface="Calibri"/>
              </a:rPr>
              <a:t>MQuAKE-T, P0 and P2, all 5 models, about $1, to catch prompt or reasoning-output problems before spending the rest.</a:t>
            </a:r>
          </a:p>
          <a:p>
            <a:pPr algn="l" marL="342900" indent="-342900">
              <a:lnSpc>
                <a:spcPct val="135000"/>
              </a:lnSpc>
              <a:spcBef>
                <a:spcPts val="600"/>
              </a:spcBef>
              <a:spcAft>
                <a:spcPts val="0"/>
              </a:spcAft>
              <a:buClr>
                <a:srgbClr val="1F2933"/>
              </a:buClr>
              <a:buFont typeface="Calibri"/>
              <a:buChar char="•"/>
            </a:pPr>
            <a:r>
              <a:rPr sz="1400" b="1" i="0">
                <a:solidFill>
                  <a:srgbClr val="1F2933"/>
                </a:solidFill>
                <a:latin typeface="Calibri"/>
              </a:rPr>
              <a:t>4. Check every endpoint is alive. </a:t>
            </a:r>
            <a:r>
              <a:rPr sz="1400" b="0" i="0">
                <a:solidFill>
                  <a:srgbClr val="1F2933"/>
                </a:solidFill>
                <a:latin typeface="Calibri"/>
              </a:rPr>
              <a:t>A provider vanished mid-project once; the new preflight check takes seconds.</a:t>
            </a:r>
          </a:p>
        </p:txBody>
      </p:sp>
      <p:sp>
        <p:nvSpPr>
          <p:cNvPr id="5" name="Rectangle 4"/>
          <p:cNvSpPr/>
          <p:nvPr/>
        </p:nvSpPr>
        <p:spPr>
          <a:xfrm>
            <a:off x="640080" y="4983480"/>
            <a:ext cx="10881360" cy="1143000"/>
          </a:xfrm>
          <a:prstGeom prst="rect">
            <a:avLst/>
          </a:prstGeom>
          <a:solidFill>
            <a:srgbClr val="F7F8F9"/>
          </a:solidFill>
          <a:ln>
            <a:noFill/>
          </a:ln>
        </p:spPr>
        <p:txBody>
          <a:bodyPr rtlCol="0" anchor="ctr"/>
          <a:lstStyle/>
          <a:p>
            <a:pPr algn="ctr"/>
          </a:p>
        </p:txBody>
      </p:sp>
      <p:sp>
        <p:nvSpPr>
          <p:cNvPr id="6" name="Rectangle 5"/>
          <p:cNvSpPr/>
          <p:nvPr/>
        </p:nvSpPr>
        <p:spPr>
          <a:xfrm>
            <a:off x="640080" y="4983480"/>
            <a:ext cx="36576" cy="1143000"/>
          </a:xfrm>
          <a:prstGeom prst="rect">
            <a:avLst/>
          </a:prstGeom>
          <a:solidFill>
            <a:srgbClr val="0F766E"/>
          </a:solidFill>
          <a:ln>
            <a:noFill/>
          </a:ln>
        </p:spPr>
        <p:txBody>
          <a:bodyPr rtlCol="0" anchor="ctr"/>
          <a:lstStyle/>
          <a:p>
            <a:pPr algn="ctr"/>
          </a:p>
        </p:txBody>
      </p:sp>
      <p:sp>
        <p:nvSpPr>
          <p:cNvPr id="7" name="TextBox 6"/>
          <p:cNvSpPr txBox="1"/>
          <p:nvPr/>
        </p:nvSpPr>
        <p:spPr>
          <a:xfrm>
            <a:off x="914400" y="5111496"/>
            <a:ext cx="10332720" cy="886968"/>
          </a:xfrm>
          <a:prstGeom prst="rect">
            <a:avLst/>
          </a:prstGeom>
          <a:noFill/>
        </p:spPr>
        <p:txBody>
          <a:bodyPr wrap="square" lIns="91425" rIns="91425" tIns="45700" bIns="45700" anchor="ctr"/>
          <a:lstStyle/>
          <a:p>
            <a:pPr algn="l">
              <a:spcBef>
                <a:spcPts val="0"/>
              </a:spcBef>
              <a:spcAft>
                <a:spcPts val="0"/>
              </a:spcAft>
            </a:pPr>
            <a:r>
              <a:rPr sz="1250" b="1" i="0">
                <a:solidFill>
                  <a:srgbClr val="1F2933"/>
                </a:solidFill>
                <a:latin typeface="Calibri"/>
              </a:rPr>
              <a:t>Every result now records which prompt produced it, </a:t>
            </a:r>
            <a:r>
              <a:rPr sz="1250" b="0" i="0">
                <a:solidFill>
                  <a:srgbClr val="1F2933"/>
                </a:solidFill>
                <a:latin typeface="Calibri"/>
              </a:rPr>
              <a:t>so the mixed-prompt problem that invalidated the old FactConsolidation results cannot happen again.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676656"/>
            <a:ext cx="10881360" cy="548640"/>
          </a:xfrm>
          <a:prstGeom prst="rect">
            <a:avLst/>
          </a:prstGeom>
          <a:noFill/>
        </p:spPr>
        <p:txBody>
          <a:bodyPr wrap="square" lIns="91425" rIns="91425" tIns="45700" bIns="45700" anchor="ctr"/>
          <a:lstStyle/>
          <a:p>
            <a:pPr algn="l">
              <a:spcBef>
                <a:spcPts val="0"/>
              </a:spcBef>
              <a:spcAft>
                <a:spcPts val="0"/>
              </a:spcAft>
            </a:pPr>
            <a:r>
              <a:rPr sz="2500" b="1" i="0">
                <a:solidFill>
                  <a:srgbClr val="1F2933"/>
                </a:solidFill>
                <a:latin typeface="Calibri"/>
              </a:rPr>
              <a:t>RQ4: why P2 did nothing with five writers, and the fix</a:t>
            </a:r>
          </a:p>
        </p:txBody>
      </p:sp>
      <p:sp>
        <p:nvSpPr>
          <p:cNvPr id="3" name="TextBox 2"/>
          <p:cNvSpPr txBox="1"/>
          <p:nvPr/>
        </p:nvSpPr>
        <p:spPr>
          <a:xfrm>
            <a:off x="11064240" y="6355080"/>
            <a:ext cx="457200" cy="256032"/>
          </a:xfrm>
          <a:prstGeom prst="rect">
            <a:avLst/>
          </a:prstGeom>
          <a:noFill/>
        </p:spPr>
        <p:txBody>
          <a:bodyPr wrap="square" lIns="91425" rIns="91425" tIns="45700" bIns="45700" anchor="t"/>
          <a:lstStyle/>
          <a:p>
            <a:pPr algn="r">
              <a:spcBef>
                <a:spcPts val="0"/>
              </a:spcBef>
              <a:spcAft>
                <a:spcPts val="0"/>
              </a:spcAft>
            </a:pPr>
            <a:r>
              <a:rPr sz="900" b="0" i="0">
                <a:solidFill>
                  <a:srgbClr val="7B8794"/>
                </a:solidFill>
                <a:latin typeface="Calibri"/>
              </a:rPr>
              <a:t>9</a:t>
            </a:r>
          </a:p>
        </p:txBody>
      </p:sp>
      <p:sp>
        <p:nvSpPr>
          <p:cNvPr id="4" name="Rectangle 3"/>
          <p:cNvSpPr/>
          <p:nvPr/>
        </p:nvSpPr>
        <p:spPr>
          <a:xfrm>
            <a:off x="640080" y="1261872"/>
            <a:ext cx="10881360" cy="502920"/>
          </a:xfrm>
          <a:prstGeom prst="rect">
            <a:avLst/>
          </a:prstGeom>
          <a:solidFill>
            <a:srgbClr val="F7F8F9"/>
          </a:solidFill>
          <a:ln>
            <a:noFill/>
          </a:ln>
        </p:spPr>
        <p:txBody>
          <a:bodyPr rtlCol="0" anchor="ctr"/>
          <a:lstStyle/>
          <a:p>
            <a:pPr algn="ctr"/>
          </a:p>
        </p:txBody>
      </p:sp>
      <p:sp>
        <p:nvSpPr>
          <p:cNvPr id="5" name="TextBox 4"/>
          <p:cNvSpPr txBox="1"/>
          <p:nvPr/>
        </p:nvSpPr>
        <p:spPr>
          <a:xfrm>
            <a:off x="777240" y="1298448"/>
            <a:ext cx="10652760" cy="429768"/>
          </a:xfrm>
          <a:prstGeom prst="rect">
            <a:avLst/>
          </a:prstGeom>
          <a:noFill/>
        </p:spPr>
        <p:txBody>
          <a:bodyPr wrap="square" lIns="91425" rIns="91425" tIns="45700" bIns="45700" anchor="ctr"/>
          <a:lstStyle/>
          <a:p>
            <a:pPr algn="l">
              <a:spcBef>
                <a:spcPts val="0"/>
              </a:spcBef>
              <a:spcAft>
                <a:spcPts val="0"/>
              </a:spcAft>
            </a:pPr>
            <a:r>
              <a:rPr sz="1250" b="1" i="0">
                <a:solidFill>
                  <a:srgbClr val="0F766E"/>
                </a:solidFill>
                <a:latin typeface="Calibri"/>
              </a:rPr>
              <a:t>RQ4 SETUP   </a:t>
            </a:r>
            <a:r>
              <a:rPr sz="1250" b="0" i="0">
                <a:solidFill>
                  <a:srgbClr val="1F2933"/>
                </a:solidFill>
                <a:latin typeface="Calibri"/>
              </a:rPr>
              <a:t>5 agents, each using a different model to write facts into one shared memory; a separate model answers.</a:t>
            </a:r>
          </a:p>
        </p:txBody>
      </p:sp>
      <p:graphicFrame>
        <p:nvGraphicFramePr>
          <p:cNvPr id="6" name="Table 5"/>
          <p:cNvGraphicFramePr>
            <a:graphicFrameLocks noGrp="1"/>
          </p:cNvGraphicFramePr>
          <p:nvPr/>
        </p:nvGraphicFramePr>
        <p:xfrm>
          <a:off x="640080" y="1920240"/>
          <a:ext cx="5120640" cy="1920240"/>
        </p:xfrm>
        <a:graphic>
          <a:graphicData uri="http://schemas.openxmlformats.org/drawingml/2006/table">
            <a:tbl>
              <a:tblPr firstRow="0" bandRow="0" firstCol="0" lastRow="0" lastCol="0" bandCol="0">
                <a:tableStyleId>{7018C7E7-2324-4B46-8E55-F870A1040F12}</a:tableStyleId>
              </a:tblPr>
              <a:tblGrid>
                <a:gridCol w="2103120"/>
                <a:gridCol w="1005840"/>
                <a:gridCol w="1005840"/>
                <a:gridCol w="1005840"/>
              </a:tblGrid>
              <a:tr h="384048">
                <a:tc>
                  <a:txBody>
                    <a:bodyPr wrap="square"/>
                    <a:lstStyle/>
                    <a:p>
                      <a:pPr algn="l"/>
                      <a:r>
                        <a:rPr sz="1150" b="1" i="0">
                          <a:solidFill>
                            <a:srgbClr val="1F2933"/>
                          </a:solidFill>
                          <a:latin typeface="Calibri"/>
                        </a:rPr>
                        <a:t>policy (shared memory)</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7F8F9"/>
                    </a:solidFill>
                  </a:tcPr>
                </a:tc>
                <a:tc>
                  <a:txBody>
                    <a:bodyPr wrap="square"/>
                    <a:lstStyle/>
                    <a:p>
                      <a:pPr algn="ctr"/>
                      <a:r>
                        <a:rPr sz="1150" b="1" i="0">
                          <a:solidFill>
                            <a:srgbClr val="1F2933"/>
                          </a:solidFill>
                          <a:latin typeface="Calibri"/>
                        </a:rPr>
                        <a:t>accuracy</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7F8F9"/>
                    </a:solidFill>
                  </a:tcPr>
                </a:tc>
                <a:tc>
                  <a:txBody>
                    <a:bodyPr wrap="square"/>
                    <a:lstStyle/>
                    <a:p>
                      <a:pPr algn="ctr"/>
                      <a:r>
                        <a:rPr sz="1150" b="1" i="0">
                          <a:solidFill>
                            <a:srgbClr val="1F2933"/>
                          </a:solidFill>
                          <a:latin typeface="Calibri"/>
                        </a:rPr>
                        <a:t>staleness</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7F8F9"/>
                    </a:solidFill>
                  </a:tcPr>
                </a:tc>
                <a:tc>
                  <a:txBody>
                    <a:bodyPr wrap="square"/>
                    <a:lstStyle/>
                    <a:p>
                      <a:pPr algn="ctr"/>
                      <a:r>
                        <a:rPr sz="1150" b="1" i="0">
                          <a:solidFill>
                            <a:srgbClr val="1F2933"/>
                          </a:solidFill>
                          <a:latin typeface="Calibri"/>
                        </a:rPr>
                        <a:t>facts closed</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7F8F9"/>
                    </a:solidFill>
                  </a:tcPr>
                </a:tc>
              </a:tr>
              <a:tr h="384048">
                <a:tc>
                  <a:txBody>
                    <a:bodyPr wrap="square"/>
                    <a:lstStyle/>
                    <a:p>
                      <a:pPr algn="l"/>
                      <a:r>
                        <a:rPr sz="1150" b="0" i="0">
                          <a:solidFill>
                            <a:srgbClr val="1F2933"/>
                          </a:solidFill>
                          <a:latin typeface="Calibri"/>
                        </a:rPr>
                        <a:t>P0 never forgets</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0.333</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0.271</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0</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384048">
                <a:tc>
                  <a:txBody>
                    <a:bodyPr wrap="square"/>
                    <a:lstStyle/>
                    <a:p>
                      <a:pPr algn="l"/>
                      <a:r>
                        <a:rPr sz="1150" b="0" i="0">
                          <a:solidFill>
                            <a:srgbClr val="1F2933"/>
                          </a:solidFill>
                          <a:latin typeface="Calibri"/>
                        </a:rPr>
                        <a:t>P1 time decay</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0.281</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0.135</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0</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384048">
                <a:tc>
                  <a:txBody>
                    <a:bodyPr wrap="square"/>
                    <a:lstStyle/>
                    <a:p>
                      <a:pPr algn="l"/>
                      <a:r>
                        <a:rPr sz="1150" b="0" i="0">
                          <a:solidFill>
                            <a:srgbClr val="1F2933"/>
                          </a:solidFill>
                          <a:latin typeface="Calibri"/>
                        </a:rPr>
                        <a:t>P2 invalidation</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0.365</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0.271</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1" i="0">
                          <a:solidFill>
                            <a:srgbClr val="0F766E"/>
                          </a:solidFill>
                          <a:latin typeface="Calibri"/>
                        </a:rPr>
                        <a:t>0</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384048">
                <a:tc>
                  <a:txBody>
                    <a:bodyPr wrap="square"/>
                    <a:lstStyle/>
                    <a:p>
                      <a:pPr algn="l"/>
                      <a:r>
                        <a:rPr sz="1150" b="0" i="0">
                          <a:solidFill>
                            <a:srgbClr val="1F2933"/>
                          </a:solidFill>
                          <a:latin typeface="Calibri"/>
                        </a:rPr>
                        <a:t>P3 novelty gate</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0.365</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0.271</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0</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bl>
          </a:graphicData>
        </a:graphic>
      </p:graphicFrame>
      <p:sp>
        <p:nvSpPr>
          <p:cNvPr id="7" name="TextBox 6"/>
          <p:cNvSpPr txBox="1"/>
          <p:nvPr/>
        </p:nvSpPr>
        <p:spPr>
          <a:xfrm>
            <a:off x="6080760" y="1920240"/>
            <a:ext cx="5486400" cy="274320"/>
          </a:xfrm>
          <a:prstGeom prst="rect">
            <a:avLst/>
          </a:prstGeom>
          <a:noFill/>
        </p:spPr>
        <p:txBody>
          <a:bodyPr wrap="square" lIns="91425" rIns="91425" tIns="45700" bIns="45700" anchor="t"/>
          <a:lstStyle/>
          <a:p>
            <a:pPr algn="l">
              <a:spcBef>
                <a:spcPts val="0"/>
              </a:spcBef>
              <a:spcAft>
                <a:spcPts val="0"/>
              </a:spcAft>
            </a:pPr>
            <a:r>
              <a:rPr sz="1250" b="1" i="0">
                <a:solidFill>
                  <a:srgbClr val="1F2933"/>
                </a:solidFill>
                <a:latin typeface="Calibri"/>
              </a:rPr>
              <a:t>The same relation, written three ways</a:t>
            </a:r>
          </a:p>
        </p:txBody>
      </p:sp>
      <p:graphicFrame>
        <p:nvGraphicFramePr>
          <p:cNvPr id="8" name="Table 7"/>
          <p:cNvGraphicFramePr>
            <a:graphicFrameLocks noGrp="1"/>
          </p:cNvGraphicFramePr>
          <p:nvPr/>
        </p:nvGraphicFramePr>
        <p:xfrm>
          <a:off x="6080760" y="2240280"/>
          <a:ext cx="5486400" cy="1463040"/>
        </p:xfrm>
        <a:graphic>
          <a:graphicData uri="http://schemas.openxmlformats.org/drawingml/2006/table">
            <a:tbl>
              <a:tblPr firstRow="0" bandRow="0" firstCol="0" lastRow="0" lastCol="0" bandCol="0">
                <a:tableStyleId>{7018C7E7-2324-4B46-8E55-F870A1040F12}</a:tableStyleId>
              </a:tblPr>
              <a:tblGrid>
                <a:gridCol w="3657600"/>
                <a:gridCol w="1828800"/>
              </a:tblGrid>
              <a:tr h="365760">
                <a:tc>
                  <a:txBody>
                    <a:bodyPr wrap="square"/>
                    <a:lstStyle/>
                    <a:p>
                      <a:pPr algn="ctr"/>
                      <a:r>
                        <a:rPr sz="1150" b="1" i="0">
                          <a:solidFill>
                            <a:srgbClr val="1F2933"/>
                          </a:solidFill>
                          <a:latin typeface="Calibri"/>
                        </a:rPr>
                        <a:t>how a writer named it</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7F8F9"/>
                    </a:solidFill>
                  </a:tcPr>
                </a:tc>
                <a:tc>
                  <a:txBody>
                    <a:bodyPr wrap="square"/>
                    <a:lstStyle/>
                    <a:p>
                      <a:pPr algn="ctr"/>
                      <a:r>
                        <a:rPr sz="1150" b="1" i="0">
                          <a:solidFill>
                            <a:srgbClr val="1F2933"/>
                          </a:solidFill>
                          <a:latin typeface="Calibri"/>
                        </a:rPr>
                        <a:t>times stored</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7F8F9"/>
                    </a:solidFill>
                  </a:tcPr>
                </a:tc>
              </a:tr>
              <a:tr h="365760">
                <a:tc>
                  <a:txBody>
                    <a:bodyPr wrap="square"/>
                    <a:lstStyle/>
                    <a:p>
                      <a:pPr algn="ctr"/>
                      <a:r>
                        <a:rPr sz="1150" b="0" i="0">
                          <a:solidFill>
                            <a:srgbClr val="1F2933"/>
                          </a:solidFill>
                          <a:latin typeface="Calibri"/>
                        </a:rPr>
                        <a:t>head_of_government</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28</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365760">
                <a:tc>
                  <a:txBody>
                    <a:bodyPr wrap="square"/>
                    <a:lstStyle/>
                    <a:p>
                      <a:pPr algn="ctr"/>
                      <a:r>
                        <a:rPr sz="1150" b="0" i="0">
                          <a:solidFill>
                            <a:srgbClr val="1F2933"/>
                          </a:solidFill>
                          <a:latin typeface="Calibri"/>
                        </a:rPr>
                        <a:t>is_head_of_government_of</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9</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365760">
                <a:tc>
                  <a:txBody>
                    <a:bodyPr wrap="square"/>
                    <a:lstStyle/>
                    <a:p>
                      <a:pPr algn="ctr"/>
                      <a:r>
                        <a:rPr sz="1150" b="0" i="0">
                          <a:solidFill>
                            <a:srgbClr val="1F2933"/>
                          </a:solidFill>
                          <a:latin typeface="Calibri"/>
                        </a:rPr>
                        <a:t>head_of_government_of</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7</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bl>
          </a:graphicData>
        </a:graphic>
      </p:graphicFrame>
      <p:sp>
        <p:nvSpPr>
          <p:cNvPr id="9" name="TextBox 8"/>
          <p:cNvSpPr txBox="1"/>
          <p:nvPr/>
        </p:nvSpPr>
        <p:spPr>
          <a:xfrm>
            <a:off x="6080760" y="3749039"/>
            <a:ext cx="5486400" cy="640080"/>
          </a:xfrm>
          <a:prstGeom prst="rect">
            <a:avLst/>
          </a:prstGeom>
          <a:noFill/>
        </p:spPr>
        <p:txBody>
          <a:bodyPr wrap="square" lIns="91425" rIns="91425" tIns="45700" bIns="45700" anchor="t"/>
          <a:lstStyle/>
          <a:p>
            <a:pPr algn="l">
              <a:spcBef>
                <a:spcPts val="0"/>
              </a:spcBef>
              <a:spcAft>
                <a:spcPts val="0"/>
              </a:spcAft>
            </a:pPr>
            <a:r>
              <a:rPr sz="1150" b="0" i="0">
                <a:solidFill>
                  <a:srgbClr val="7B8794"/>
                </a:solidFill>
                <a:latin typeface="Calibri"/>
              </a:rPr>
              <a:t>P2 only sees a conflict when names match exactly, so a correction never meets the fact it corrects.</a:t>
            </a:r>
          </a:p>
        </p:txBody>
      </p:sp>
      <p:sp>
        <p:nvSpPr>
          <p:cNvPr id="10" name="Rectangle 9"/>
          <p:cNvSpPr/>
          <p:nvPr/>
        </p:nvSpPr>
        <p:spPr>
          <a:xfrm>
            <a:off x="640080" y="4526280"/>
            <a:ext cx="10881360" cy="1600200"/>
          </a:xfrm>
          <a:prstGeom prst="rect">
            <a:avLst/>
          </a:prstGeom>
          <a:solidFill>
            <a:srgbClr val="F7F8F9"/>
          </a:solidFill>
          <a:ln>
            <a:noFill/>
          </a:ln>
        </p:spPr>
        <p:txBody>
          <a:bodyPr rtlCol="0" anchor="ctr"/>
          <a:lstStyle/>
          <a:p>
            <a:pPr algn="ctr"/>
          </a:p>
        </p:txBody>
      </p:sp>
      <p:sp>
        <p:nvSpPr>
          <p:cNvPr id="11" name="Rectangle 10"/>
          <p:cNvSpPr/>
          <p:nvPr/>
        </p:nvSpPr>
        <p:spPr>
          <a:xfrm>
            <a:off x="640080" y="4526280"/>
            <a:ext cx="36576" cy="1600200"/>
          </a:xfrm>
          <a:prstGeom prst="rect">
            <a:avLst/>
          </a:prstGeom>
          <a:solidFill>
            <a:srgbClr val="0F766E"/>
          </a:solidFill>
          <a:ln>
            <a:noFill/>
          </a:ln>
        </p:spPr>
        <p:txBody>
          <a:bodyPr rtlCol="0" anchor="ctr"/>
          <a:lstStyle/>
          <a:p>
            <a:pPr algn="ctr"/>
          </a:p>
        </p:txBody>
      </p:sp>
      <p:sp>
        <p:nvSpPr>
          <p:cNvPr id="12" name="TextBox 11"/>
          <p:cNvSpPr txBox="1"/>
          <p:nvPr/>
        </p:nvSpPr>
        <p:spPr>
          <a:xfrm>
            <a:off x="914400" y="4654296"/>
            <a:ext cx="10332720" cy="1344168"/>
          </a:xfrm>
          <a:prstGeom prst="rect">
            <a:avLst/>
          </a:prstGeom>
          <a:noFill/>
        </p:spPr>
        <p:txBody>
          <a:bodyPr wrap="square" lIns="91425" rIns="91425" tIns="45700" bIns="45700" anchor="ctr"/>
          <a:lstStyle/>
          <a:p>
            <a:pPr algn="l">
              <a:spcBef>
                <a:spcPts val="0"/>
              </a:spcBef>
              <a:spcAft>
                <a:spcPts val="0"/>
              </a:spcAft>
            </a:pPr>
            <a:r>
              <a:rPr sz="1250" b="1" i="0">
                <a:solidFill>
                  <a:srgbClr val="1F2933"/>
                </a:solidFill>
                <a:latin typeface="Calibri"/>
              </a:rPr>
              <a:t>The fix: match facts by meaning, not exact name. </a:t>
            </a:r>
            <a:r>
              <a:rPr sz="1250" b="0" i="0">
                <a:solidFill>
                  <a:srgbClr val="1F2933"/>
                </a:solidFill>
                <a:latin typeface="Calibri"/>
              </a:rPr>
              <a:t>Normalise relation names before checking for conflicts (similar names treated as one), and declare which relations can have one value at a time.</a:t>
            </a:r>
          </a:p>
          <a:p>
            <a:pPr algn="l">
              <a:spcBef>
                <a:spcPts val="600"/>
              </a:spcBef>
              <a:spcAft>
                <a:spcPts val="0"/>
              </a:spcAft>
            </a:pPr>
            <a:r>
              <a:rPr sz="1250" b="1" i="0">
                <a:solidFill>
                  <a:srgbClr val="1F2933"/>
                </a:solidFill>
                <a:latin typeface="Calibri"/>
              </a:rPr>
              <a:t>Then run: </a:t>
            </a:r>
            <a:r>
              <a:rPr sz="1250" b="0" i="0">
                <a:solidFill>
                  <a:srgbClr val="1F2933"/>
                </a:solidFill>
                <a:latin typeface="Calibri"/>
              </a:rPr>
              <a:t>3 topologies x 7 policies on MQuAKE-T, with and without the fix. The same fix is tested on ConvoMem, which fails for the same reason. Cost under $5.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676656"/>
            <a:ext cx="10881360" cy="548640"/>
          </a:xfrm>
          <a:prstGeom prst="rect">
            <a:avLst/>
          </a:prstGeom>
          <a:noFill/>
        </p:spPr>
        <p:txBody>
          <a:bodyPr wrap="square" lIns="91425" rIns="91425" tIns="45700" bIns="45700" anchor="ctr"/>
          <a:lstStyle/>
          <a:p>
            <a:pPr algn="l">
              <a:spcBef>
                <a:spcPts val="0"/>
              </a:spcBef>
              <a:spcAft>
                <a:spcPts val="0"/>
              </a:spcAft>
            </a:pPr>
            <a:r>
              <a:rPr sz="2500" b="1" i="0">
                <a:solidFill>
                  <a:srgbClr val="1F2933"/>
                </a:solidFill>
                <a:latin typeface="Calibri"/>
              </a:rPr>
              <a:t>Checkpoint 4: what each chapter needs from the new results</a:t>
            </a:r>
          </a:p>
        </p:txBody>
      </p:sp>
      <p:sp>
        <p:nvSpPr>
          <p:cNvPr id="3" name="TextBox 2"/>
          <p:cNvSpPr txBox="1"/>
          <p:nvPr/>
        </p:nvSpPr>
        <p:spPr>
          <a:xfrm>
            <a:off x="11064240" y="6355080"/>
            <a:ext cx="457200" cy="256032"/>
          </a:xfrm>
          <a:prstGeom prst="rect">
            <a:avLst/>
          </a:prstGeom>
          <a:noFill/>
        </p:spPr>
        <p:txBody>
          <a:bodyPr wrap="square" lIns="91425" rIns="91425" tIns="45700" bIns="45700" anchor="t"/>
          <a:lstStyle/>
          <a:p>
            <a:pPr algn="r">
              <a:spcBef>
                <a:spcPts val="0"/>
              </a:spcBef>
              <a:spcAft>
                <a:spcPts val="0"/>
              </a:spcAft>
            </a:pPr>
            <a:r>
              <a:rPr sz="900" b="0" i="0">
                <a:solidFill>
                  <a:srgbClr val="7B8794"/>
                </a:solidFill>
                <a:latin typeface="Calibri"/>
              </a:rPr>
              <a:t>10</a:t>
            </a:r>
          </a:p>
        </p:txBody>
      </p:sp>
      <p:graphicFrame>
        <p:nvGraphicFramePr>
          <p:cNvPr id="4" name="Table 3"/>
          <p:cNvGraphicFramePr>
            <a:graphicFrameLocks noGrp="1"/>
          </p:cNvGraphicFramePr>
          <p:nvPr/>
        </p:nvGraphicFramePr>
        <p:xfrm>
          <a:off x="640080" y="1371600"/>
          <a:ext cx="10881360" cy="3364992"/>
        </p:xfrm>
        <a:graphic>
          <a:graphicData uri="http://schemas.openxmlformats.org/drawingml/2006/table">
            <a:tbl>
              <a:tblPr firstRow="0" bandRow="0" firstCol="0" lastRow="0" lastCol="0" bandCol="0">
                <a:tableStyleId>{7018C7E7-2324-4B46-8E55-F870A1040F12}</a:tableStyleId>
              </a:tblPr>
              <a:tblGrid>
                <a:gridCol w="2194560"/>
                <a:gridCol w="8686800"/>
              </a:tblGrid>
              <a:tr h="420624">
                <a:tc>
                  <a:txBody>
                    <a:bodyPr wrap="square"/>
                    <a:lstStyle/>
                    <a:p>
                      <a:pPr algn="l"/>
                      <a:r>
                        <a:rPr sz="1200" b="1" i="0">
                          <a:solidFill>
                            <a:srgbClr val="1F2933"/>
                          </a:solidFill>
                          <a:latin typeface="Calibri"/>
                        </a:rPr>
                        <a:t>chapter</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7F8F9"/>
                    </a:solidFill>
                  </a:tcPr>
                </a:tc>
                <a:tc>
                  <a:txBody>
                    <a:bodyPr wrap="square"/>
                    <a:lstStyle/>
                    <a:p>
                      <a:pPr algn="ctr"/>
                      <a:r>
                        <a:rPr sz="1200" b="1" i="0">
                          <a:solidFill>
                            <a:srgbClr val="1F2933"/>
                          </a:solidFill>
                          <a:latin typeface="Calibri"/>
                        </a:rPr>
                        <a:t>change</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7F8F9"/>
                    </a:solidFill>
                  </a:tcPr>
                </a:tc>
              </a:tr>
              <a:tr h="420624">
                <a:tc>
                  <a:txBody>
                    <a:bodyPr wrap="square"/>
                    <a:lstStyle/>
                    <a:p>
                      <a:pPr algn="l"/>
                      <a:r>
                        <a:rPr sz="1200" b="1" i="0">
                          <a:solidFill>
                            <a:srgbClr val="1F2933"/>
                          </a:solidFill>
                          <a:latin typeface="Calibri"/>
                        </a:rPr>
                        <a:t>1 Introduction</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200" b="0" i="0">
                          <a:solidFill>
                            <a:srgbClr val="1F2933"/>
                          </a:solidFill>
                          <a:latin typeface="Calibri"/>
                        </a:rPr>
                        <a:t>contributions stated as a controlled measurement; RQ4 answered or bounded</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420624">
                <a:tc>
                  <a:txBody>
                    <a:bodyPr wrap="square"/>
                    <a:lstStyle/>
                    <a:p>
                      <a:pPr algn="l"/>
                      <a:r>
                        <a:rPr sz="1200" b="1" i="0">
                          <a:solidFill>
                            <a:srgbClr val="1F2933"/>
                          </a:solidFill>
                          <a:latin typeface="Calibri"/>
                        </a:rPr>
                        <a:t>2 Related work</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200" b="0" i="0">
                          <a:solidFill>
                            <a:srgbClr val="1F2933"/>
                          </a:solidFill>
                          <a:latin typeface="Calibri"/>
                        </a:rPr>
                        <a:t>acknowledge that Zep / Graphiti already invalidate facts; position the novelty as the comparison</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420624">
                <a:tc>
                  <a:txBody>
                    <a:bodyPr wrap="square"/>
                    <a:lstStyle/>
                    <a:p>
                      <a:pPr algn="l"/>
                      <a:r>
                        <a:rPr sz="1200" b="1" i="0">
                          <a:solidFill>
                            <a:srgbClr val="1F2933"/>
                          </a:solidFill>
                          <a:latin typeface="Calibri"/>
                        </a:rPr>
                        <a:t>3 Method</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200" b="0" i="0">
                          <a:solidFill>
                            <a:srgbClr val="1F2933"/>
                          </a:solidFill>
                          <a:latin typeface="Calibri"/>
                        </a:rPr>
                        <a:t>prompt fingerprint, rule grader, date-ordered context in the weight study, relation normalisation</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420624">
                <a:tc>
                  <a:txBody>
                    <a:bodyPr wrap="square"/>
                    <a:lstStyle/>
                    <a:p>
                      <a:pPr algn="l"/>
                      <a:r>
                        <a:rPr sz="1200" b="1" i="0">
                          <a:solidFill>
                            <a:srgbClr val="1F2933"/>
                          </a:solidFill>
                          <a:latin typeface="Calibri"/>
                        </a:rPr>
                        <a:t>4 Setup</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200" b="0" i="0">
                          <a:solidFill>
                            <a:srgbClr val="1F2933"/>
                          </a:solidFill>
                          <a:latin typeface="Calibri"/>
                        </a:rPr>
                        <a:t>three benchmarks, final model line-up, judge validation</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420624">
                <a:tc>
                  <a:txBody>
                    <a:bodyPr wrap="square"/>
                    <a:lstStyle/>
                    <a:p>
                      <a:pPr algn="l"/>
                      <a:r>
                        <a:rPr sz="1200" b="1" i="0">
                          <a:solidFill>
                            <a:srgbClr val="1F2933"/>
                          </a:solidFill>
                          <a:latin typeface="Calibri"/>
                        </a:rPr>
                        <a:t>5 Results</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200" b="0" i="0">
                          <a:solidFill>
                            <a:srgbClr val="1F2933"/>
                          </a:solidFill>
                          <a:latin typeface="Calibri"/>
                        </a:rPr>
                        <a:t>clean FactConsolidation, weight grid, grace with history questions, small vs frontier, RQ4</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420624">
                <a:tc>
                  <a:txBody>
                    <a:bodyPr wrap="square"/>
                    <a:lstStyle/>
                    <a:p>
                      <a:pPr algn="l"/>
                      <a:r>
                        <a:rPr sz="1200" b="1" i="0">
                          <a:solidFill>
                            <a:srgbClr val="1F2933"/>
                          </a:solidFill>
                          <a:latin typeface="Calibri"/>
                        </a:rPr>
                        <a:t>6 Discussion</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200" b="0" i="0">
                          <a:solidFill>
                            <a:srgbClr val="1F2933"/>
                          </a:solidFill>
                          <a:latin typeface="Calibri"/>
                        </a:rPr>
                        <a:t>invalidation beats recency weighting; the prompt confound; the naming boundary; limits</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420624">
                <a:tc>
                  <a:txBody>
                    <a:bodyPr wrap="square"/>
                    <a:lstStyle/>
                    <a:p>
                      <a:pPr algn="l"/>
                      <a:r>
                        <a:rPr sz="1200" b="1" i="0">
                          <a:solidFill>
                            <a:srgbClr val="1F2933"/>
                          </a:solidFill>
                          <a:latin typeface="Calibri"/>
                        </a:rPr>
                        <a:t>Appendices</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200" b="0" i="0">
                          <a:solidFill>
                            <a:srgbClr val="1F2933"/>
                          </a:solidFill>
                          <a:latin typeface="Calibri"/>
                        </a:rPr>
                        <a:t>full tables for the weight grid and the final run</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bl>
          </a:graphicData>
        </a:graphic>
      </p:graphicFrame>
      <p:sp>
        <p:nvSpPr>
          <p:cNvPr id="5" name="Rectangle 4"/>
          <p:cNvSpPr/>
          <p:nvPr/>
        </p:nvSpPr>
        <p:spPr>
          <a:xfrm>
            <a:off x="640080" y="4983480"/>
            <a:ext cx="10881360" cy="1097280"/>
          </a:xfrm>
          <a:prstGeom prst="rect">
            <a:avLst/>
          </a:prstGeom>
          <a:solidFill>
            <a:srgbClr val="F7F8F9"/>
          </a:solidFill>
          <a:ln>
            <a:noFill/>
          </a:ln>
        </p:spPr>
        <p:txBody>
          <a:bodyPr rtlCol="0" anchor="ctr"/>
          <a:lstStyle/>
          <a:p>
            <a:pPr algn="ctr"/>
          </a:p>
        </p:txBody>
      </p:sp>
      <p:sp>
        <p:nvSpPr>
          <p:cNvPr id="6" name="Rectangle 5"/>
          <p:cNvSpPr/>
          <p:nvPr/>
        </p:nvSpPr>
        <p:spPr>
          <a:xfrm>
            <a:off x="640080" y="4983480"/>
            <a:ext cx="36576" cy="1097280"/>
          </a:xfrm>
          <a:prstGeom prst="rect">
            <a:avLst/>
          </a:prstGeom>
          <a:solidFill>
            <a:srgbClr val="0F766E"/>
          </a:solidFill>
          <a:ln>
            <a:noFill/>
          </a:ln>
        </p:spPr>
        <p:txBody>
          <a:bodyPr rtlCol="0" anchor="ctr"/>
          <a:lstStyle/>
          <a:p>
            <a:pPr algn="ctr"/>
          </a:p>
        </p:txBody>
      </p:sp>
      <p:sp>
        <p:nvSpPr>
          <p:cNvPr id="7" name="TextBox 6"/>
          <p:cNvSpPr txBox="1"/>
          <p:nvPr/>
        </p:nvSpPr>
        <p:spPr>
          <a:xfrm>
            <a:off x="914400" y="5111496"/>
            <a:ext cx="10332720" cy="841247"/>
          </a:xfrm>
          <a:prstGeom prst="rect">
            <a:avLst/>
          </a:prstGeom>
          <a:noFill/>
        </p:spPr>
        <p:txBody>
          <a:bodyPr wrap="square" lIns="91425" rIns="91425" tIns="45700" bIns="45700" anchor="ctr"/>
          <a:lstStyle/>
          <a:p>
            <a:pPr algn="l">
              <a:spcBef>
                <a:spcPts val="0"/>
              </a:spcBef>
              <a:spcAft>
                <a:spcPts val="0"/>
              </a:spcAft>
            </a:pPr>
            <a:r>
              <a:rPr sz="1250" b="1" i="0">
                <a:solidFill>
                  <a:srgbClr val="1F2933"/>
                </a:solidFill>
                <a:latin typeface="Calibri"/>
              </a:rPr>
              <a:t>Order: </a:t>
            </a:r>
            <a:r>
              <a:rPr sz="1250" b="0" i="0">
                <a:solidFill>
                  <a:srgbClr val="1F2933"/>
                </a:solidFill>
                <a:latin typeface="Calibri"/>
              </a:rPr>
              <a:t>Chapters 3 and 4 can be finished now, since the design is fixed. Chapter 5 and the RQ4 content follow the runs. Chapter 6 is written last, against the final numbers.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676656"/>
            <a:ext cx="10881360" cy="548640"/>
          </a:xfrm>
          <a:prstGeom prst="rect">
            <a:avLst/>
          </a:prstGeom>
          <a:noFill/>
        </p:spPr>
        <p:txBody>
          <a:bodyPr wrap="square" lIns="91425" rIns="91425" tIns="45700" bIns="45700" anchor="ctr"/>
          <a:lstStyle/>
          <a:p>
            <a:pPr algn="l">
              <a:spcBef>
                <a:spcPts val="0"/>
              </a:spcBef>
              <a:spcAft>
                <a:spcPts val="0"/>
              </a:spcAft>
            </a:pPr>
            <a:r>
              <a:rPr sz="2500" b="1" i="0">
                <a:solidFill>
                  <a:srgbClr val="1F2933"/>
                </a:solidFill>
                <a:latin typeface="Calibri"/>
              </a:rPr>
              <a:t>Checkpoint 7: issues found along the way</a:t>
            </a:r>
          </a:p>
        </p:txBody>
      </p:sp>
      <p:sp>
        <p:nvSpPr>
          <p:cNvPr id="3" name="TextBox 2"/>
          <p:cNvSpPr txBox="1"/>
          <p:nvPr/>
        </p:nvSpPr>
        <p:spPr>
          <a:xfrm>
            <a:off x="11064240" y="6355080"/>
            <a:ext cx="457200" cy="256032"/>
          </a:xfrm>
          <a:prstGeom prst="rect">
            <a:avLst/>
          </a:prstGeom>
          <a:noFill/>
        </p:spPr>
        <p:txBody>
          <a:bodyPr wrap="square" lIns="91425" rIns="91425" tIns="45700" bIns="45700" anchor="t"/>
          <a:lstStyle/>
          <a:p>
            <a:pPr algn="r">
              <a:spcBef>
                <a:spcPts val="0"/>
              </a:spcBef>
              <a:spcAft>
                <a:spcPts val="0"/>
              </a:spcAft>
            </a:pPr>
            <a:r>
              <a:rPr sz="900" b="0" i="0">
                <a:solidFill>
                  <a:srgbClr val="7B8794"/>
                </a:solidFill>
                <a:latin typeface="Calibri"/>
              </a:rPr>
              <a:t>11</a:t>
            </a:r>
          </a:p>
        </p:txBody>
      </p:sp>
      <p:graphicFrame>
        <p:nvGraphicFramePr>
          <p:cNvPr id="4" name="Table 3"/>
          <p:cNvGraphicFramePr>
            <a:graphicFrameLocks noGrp="1"/>
          </p:cNvGraphicFramePr>
          <p:nvPr/>
        </p:nvGraphicFramePr>
        <p:xfrm>
          <a:off x="640080" y="1371600"/>
          <a:ext cx="10881360" cy="2743200"/>
        </p:xfrm>
        <a:graphic>
          <a:graphicData uri="http://schemas.openxmlformats.org/drawingml/2006/table">
            <a:tbl>
              <a:tblPr firstRow="0" bandRow="0" firstCol="0" lastRow="0" lastCol="0" bandCol="0">
                <a:tableStyleId>{7018C7E7-2324-4B46-8E55-F870A1040F12}</a:tableStyleId>
              </a:tblPr>
              <a:tblGrid>
                <a:gridCol w="3931920"/>
                <a:gridCol w="3474720"/>
                <a:gridCol w="3474720"/>
              </a:tblGrid>
              <a:tr h="457200">
                <a:tc>
                  <a:txBody>
                    <a:bodyPr wrap="square"/>
                    <a:lstStyle/>
                    <a:p>
                      <a:pPr algn="l"/>
                      <a:r>
                        <a:rPr sz="1150" b="1" i="0">
                          <a:solidFill>
                            <a:srgbClr val="1F2933"/>
                          </a:solidFill>
                          <a:latin typeface="Calibri"/>
                        </a:rPr>
                        <a:t>issue</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7F8F9"/>
                    </a:solidFill>
                  </a:tcPr>
                </a:tc>
                <a:tc>
                  <a:txBody>
                    <a:bodyPr wrap="square"/>
                    <a:lstStyle/>
                    <a:p>
                      <a:pPr algn="ctr"/>
                      <a:r>
                        <a:rPr sz="1150" b="1" i="0">
                          <a:solidFill>
                            <a:srgbClr val="1F2933"/>
                          </a:solidFill>
                          <a:latin typeface="Calibri"/>
                        </a:rPr>
                        <a:t>effect</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7F8F9"/>
                    </a:solidFill>
                  </a:tcPr>
                </a:tc>
                <a:tc>
                  <a:txBody>
                    <a:bodyPr wrap="square"/>
                    <a:lstStyle/>
                    <a:p>
                      <a:pPr algn="ctr"/>
                      <a:r>
                        <a:rPr sz="1150" b="1" i="0">
                          <a:solidFill>
                            <a:srgbClr val="1F2933"/>
                          </a:solidFill>
                          <a:latin typeface="Calibri"/>
                        </a:rPr>
                        <a:t>fix</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7F8F9"/>
                    </a:solidFill>
                  </a:tcPr>
                </a:tc>
              </a:tr>
              <a:tr h="457200">
                <a:tc>
                  <a:txBody>
                    <a:bodyPr wrap="square"/>
                    <a:lstStyle/>
                    <a:p>
                      <a:pPr algn="l"/>
                      <a:r>
                        <a:rPr sz="1150" b="1" i="0">
                          <a:solidFill>
                            <a:srgbClr val="1F2933"/>
                          </a:solidFill>
                          <a:latin typeface="Calibri"/>
                        </a:rPr>
                        <a:t>multi-agent runs used a placeholder embedder</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RQ4 retrieval differs from every other run</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rerun with the same embedder as the rest</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457200">
                <a:tc>
                  <a:txBody>
                    <a:bodyPr wrap="square"/>
                    <a:lstStyle/>
                    <a:p>
                      <a:pPr algn="l"/>
                      <a:r>
                        <a:rPr sz="1150" b="1" i="0">
                          <a:solidFill>
                            <a:srgbClr val="1F2933"/>
                          </a:solidFill>
                          <a:latin typeface="Calibri"/>
                        </a:rPr>
                        <a:t>P1's 20-day limit is longer than ConvoMem's 19 days</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P1 identical to P0 there</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report it as inactive, or scale the limit</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457200">
                <a:tc>
                  <a:txBody>
                    <a:bodyPr wrap="square"/>
                    <a:lstStyle/>
                    <a:p>
                      <a:pPr algn="l"/>
                      <a:r>
                        <a:rPr sz="1150" b="1" i="0">
                          <a:solidFill>
                            <a:srgbClr val="1F2933"/>
                          </a:solidFill>
                          <a:latin typeface="Calibri"/>
                        </a:rPr>
                        <a:t>FactConsolidation: outdated answer known for 65 of 100</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staleness measured on 65 questions</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state the denominator; report both</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457200">
                <a:tc>
                  <a:txBody>
                    <a:bodyPr wrap="square"/>
                    <a:lstStyle/>
                    <a:p>
                      <a:pPr algn="l"/>
                      <a:r>
                        <a:rPr sz="1150" b="1" i="0">
                          <a:solidFill>
                            <a:srgbClr val="1F2933"/>
                          </a:solidFill>
                          <a:latin typeface="Calibri"/>
                        </a:rPr>
                        <a:t>ConvoMem gold answers are sentences</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'correct fact present' is approximate</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store the short answer in the converter</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457200">
                <a:tc>
                  <a:txBody>
                    <a:bodyPr wrap="square"/>
                    <a:lstStyle/>
                    <a:p>
                      <a:pPr algn="l"/>
                      <a:r>
                        <a:rPr sz="1150" b="1" i="0">
                          <a:solidFill>
                            <a:srgbClr val="1F2933"/>
                          </a:solidFill>
                          <a:latin typeface="Calibri"/>
                        </a:rPr>
                        <a:t>regraded P4 and P5 used a different merging model</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not true regrades</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exclude from the judge check; pinned in final run</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bl>
          </a:graphicData>
        </a:graphic>
      </p:graphicFrame>
      <p:sp>
        <p:nvSpPr>
          <p:cNvPr id="5" name="Rectangle 4"/>
          <p:cNvSpPr/>
          <p:nvPr/>
        </p:nvSpPr>
        <p:spPr>
          <a:xfrm>
            <a:off x="640080" y="4800600"/>
            <a:ext cx="10881360" cy="1234440"/>
          </a:xfrm>
          <a:prstGeom prst="rect">
            <a:avLst/>
          </a:prstGeom>
          <a:solidFill>
            <a:srgbClr val="F7F8F9"/>
          </a:solidFill>
          <a:ln>
            <a:noFill/>
          </a:ln>
        </p:spPr>
        <p:txBody>
          <a:bodyPr rtlCol="0" anchor="ctr"/>
          <a:lstStyle/>
          <a:p>
            <a:pPr algn="ctr"/>
          </a:p>
        </p:txBody>
      </p:sp>
      <p:sp>
        <p:nvSpPr>
          <p:cNvPr id="6" name="Rectangle 5"/>
          <p:cNvSpPr/>
          <p:nvPr/>
        </p:nvSpPr>
        <p:spPr>
          <a:xfrm>
            <a:off x="640080" y="4800600"/>
            <a:ext cx="36576" cy="1234440"/>
          </a:xfrm>
          <a:prstGeom prst="rect">
            <a:avLst/>
          </a:prstGeom>
          <a:solidFill>
            <a:srgbClr val="0F766E"/>
          </a:solidFill>
          <a:ln>
            <a:noFill/>
          </a:ln>
        </p:spPr>
        <p:txBody>
          <a:bodyPr rtlCol="0" anchor="ctr"/>
          <a:lstStyle/>
          <a:p>
            <a:pPr algn="ctr"/>
          </a:p>
        </p:txBody>
      </p:sp>
      <p:sp>
        <p:nvSpPr>
          <p:cNvPr id="7" name="TextBox 6"/>
          <p:cNvSpPr txBox="1"/>
          <p:nvPr/>
        </p:nvSpPr>
        <p:spPr>
          <a:xfrm>
            <a:off x="914400" y="4928616"/>
            <a:ext cx="10332720" cy="978408"/>
          </a:xfrm>
          <a:prstGeom prst="rect">
            <a:avLst/>
          </a:prstGeom>
          <a:noFill/>
        </p:spPr>
        <p:txBody>
          <a:bodyPr wrap="square" lIns="91425" rIns="91425" tIns="45700" bIns="45700" anchor="ctr"/>
          <a:lstStyle/>
          <a:p>
            <a:pPr algn="l">
              <a:spcBef>
                <a:spcPts val="0"/>
              </a:spcBef>
              <a:spcAft>
                <a:spcPts val="0"/>
              </a:spcAft>
            </a:pPr>
            <a:r>
              <a:rPr sz="1250" b="1" i="0">
                <a:solidFill>
                  <a:srgbClr val="1F2933"/>
                </a:solidFill>
                <a:latin typeface="Calibri"/>
              </a:rPr>
              <a:t>None of these changes a conclusion so far, </a:t>
            </a:r>
            <a:r>
              <a:rPr sz="1250" b="0" i="0">
                <a:solidFill>
                  <a:srgbClr val="1F2933"/>
                </a:solidFill>
                <a:latin typeface="Calibri"/>
              </a:rPr>
              <a:t>but each one is a question a reviewer could ask, and each takes under a day to close.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676656"/>
            <a:ext cx="10881360" cy="548640"/>
          </a:xfrm>
          <a:prstGeom prst="rect">
            <a:avLst/>
          </a:prstGeom>
          <a:noFill/>
        </p:spPr>
        <p:txBody>
          <a:bodyPr wrap="square" lIns="91425" rIns="91425" tIns="45700" bIns="45700" anchor="ctr"/>
          <a:lstStyle/>
          <a:p>
            <a:pPr algn="l">
              <a:spcBef>
                <a:spcPts val="0"/>
              </a:spcBef>
              <a:spcAft>
                <a:spcPts val="0"/>
              </a:spcAft>
            </a:pPr>
            <a:r>
              <a:rPr sz="2500" b="1" i="0">
                <a:solidFill>
                  <a:srgbClr val="1F2933"/>
                </a:solidFill>
                <a:latin typeface="Calibri"/>
              </a:rPr>
              <a:t>Plan, week by week</a:t>
            </a:r>
          </a:p>
        </p:txBody>
      </p:sp>
      <p:sp>
        <p:nvSpPr>
          <p:cNvPr id="3" name="TextBox 2"/>
          <p:cNvSpPr txBox="1"/>
          <p:nvPr/>
        </p:nvSpPr>
        <p:spPr>
          <a:xfrm>
            <a:off x="11064240" y="6355080"/>
            <a:ext cx="457200" cy="256032"/>
          </a:xfrm>
          <a:prstGeom prst="rect">
            <a:avLst/>
          </a:prstGeom>
          <a:noFill/>
        </p:spPr>
        <p:txBody>
          <a:bodyPr wrap="square" lIns="91425" rIns="91425" tIns="45700" bIns="45700" anchor="t"/>
          <a:lstStyle/>
          <a:p>
            <a:pPr algn="r">
              <a:spcBef>
                <a:spcPts val="0"/>
              </a:spcBef>
              <a:spcAft>
                <a:spcPts val="0"/>
              </a:spcAft>
            </a:pPr>
            <a:r>
              <a:rPr sz="900" b="0" i="0">
                <a:solidFill>
                  <a:srgbClr val="7B8794"/>
                </a:solidFill>
                <a:latin typeface="Calibri"/>
              </a:rPr>
              <a:t>12</a:t>
            </a:r>
          </a:p>
        </p:txBody>
      </p:sp>
      <p:graphicFrame>
        <p:nvGraphicFramePr>
          <p:cNvPr id="4" name="Table 3"/>
          <p:cNvGraphicFramePr>
            <a:graphicFrameLocks noGrp="1"/>
          </p:cNvGraphicFramePr>
          <p:nvPr/>
        </p:nvGraphicFramePr>
        <p:xfrm>
          <a:off x="640080" y="1371600"/>
          <a:ext cx="10881360" cy="3017520"/>
        </p:xfrm>
        <a:graphic>
          <a:graphicData uri="http://schemas.openxmlformats.org/drawingml/2006/table">
            <a:tbl>
              <a:tblPr firstRow="0" bandRow="0" firstCol="0" lastRow="0" lastCol="0" bandCol="0">
                <a:tableStyleId>{7018C7E7-2324-4B46-8E55-F870A1040F12}</a:tableStyleId>
              </a:tblPr>
              <a:tblGrid>
                <a:gridCol w="1188720"/>
                <a:gridCol w="6035040"/>
                <a:gridCol w="3657600"/>
              </a:tblGrid>
              <a:tr h="502920">
                <a:tc>
                  <a:txBody>
                    <a:bodyPr wrap="square"/>
                    <a:lstStyle/>
                    <a:p>
                      <a:pPr algn="l"/>
                      <a:r>
                        <a:rPr sz="1150" b="1" i="0">
                          <a:solidFill>
                            <a:srgbClr val="1F2933"/>
                          </a:solidFill>
                          <a:latin typeface="Calibri"/>
                        </a:rPr>
                        <a:t>by</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7F8F9"/>
                    </a:solidFill>
                  </a:tcPr>
                </a:tc>
                <a:tc>
                  <a:txBody>
                    <a:bodyPr wrap="square"/>
                    <a:lstStyle/>
                    <a:p>
                      <a:pPr algn="ctr"/>
                      <a:r>
                        <a:rPr sz="1150" b="1" i="0">
                          <a:solidFill>
                            <a:srgbClr val="1F2933"/>
                          </a:solidFill>
                          <a:latin typeface="Calibri"/>
                        </a:rPr>
                        <a:t>experiments</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7F8F9"/>
                    </a:solidFill>
                  </a:tcPr>
                </a:tc>
                <a:tc>
                  <a:txBody>
                    <a:bodyPr wrap="square"/>
                    <a:lstStyle/>
                    <a:p>
                      <a:pPr algn="ctr"/>
                      <a:r>
                        <a:rPr sz="1150" b="1" i="0">
                          <a:solidFill>
                            <a:srgbClr val="1F2933"/>
                          </a:solidFill>
                          <a:latin typeface="Calibri"/>
                        </a:rPr>
                        <a:t>thesis document</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7F8F9"/>
                    </a:solidFill>
                  </a:tcPr>
                </a:tc>
              </a:tr>
              <a:tr h="502920">
                <a:tc>
                  <a:txBody>
                    <a:bodyPr wrap="square"/>
                    <a:lstStyle/>
                    <a:p>
                      <a:pPr algn="l"/>
                      <a:r>
                        <a:rPr sz="1150" b="1" i="0">
                          <a:solidFill>
                            <a:srgbClr val="1F2933"/>
                          </a:solidFill>
                          <a:latin typeface="Calibri"/>
                        </a:rPr>
                        <a:t>15 Oct</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judge check, P4 pinned, history questions built, relation normalisation coded, $1 pilot</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Chapters 3 and 4 revised</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502920">
                <a:tc>
                  <a:txBody>
                    <a:bodyPr wrap="square"/>
                    <a:lstStyle/>
                    <a:p>
                      <a:pPr algn="l"/>
                      <a:r>
                        <a:rPr sz="1150" b="1" i="0">
                          <a:solidFill>
                            <a:srgbClr val="1F2933"/>
                          </a:solidFill>
                          <a:latin typeface="Calibri"/>
                        </a:rPr>
                        <a:t>22 Oct</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final run: 5 models x 7 policies x 3 benchmarks; grace with history questions</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Chapter 2 finished</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502920">
                <a:tc>
                  <a:txBody>
                    <a:bodyPr wrap="square"/>
                    <a:lstStyle/>
                    <a:p>
                      <a:pPr algn="l"/>
                      <a:r>
                        <a:rPr sz="1150" b="1" i="0">
                          <a:solidFill>
                            <a:srgbClr val="1F2933"/>
                          </a:solidFill>
                          <a:latin typeface="Calibri"/>
                        </a:rPr>
                        <a:t>29 Oct</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RQ4: 3 topologies, with and without the fix; held-out weight test; ranked-order check</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results drafted as they land</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502920">
                <a:tc>
                  <a:txBody>
                    <a:bodyPr wrap="square"/>
                    <a:lstStyle/>
                    <a:p>
                      <a:pPr algn="l"/>
                      <a:r>
                        <a:rPr sz="1150" b="1" i="0">
                          <a:solidFill>
                            <a:srgbClr val="1F2933"/>
                          </a:solidFill>
                          <a:latin typeface="Calibri"/>
                        </a:rPr>
                        <a:t>5 Nov</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analysis and figures for everything above</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Chapter 5 and RQ4 content</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502920">
                <a:tc>
                  <a:txBody>
                    <a:bodyPr wrap="square"/>
                    <a:lstStyle/>
                    <a:p>
                      <a:pPr algn="l"/>
                      <a:r>
                        <a:rPr sz="1150" b="1" i="0">
                          <a:solidFill>
                            <a:srgbClr val="1F2933"/>
                          </a:solidFill>
                          <a:latin typeface="Calibri"/>
                        </a:rPr>
                        <a:t>12 Nov</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buffer for reruns</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Chapter 6, abstract, full revision pass</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bl>
          </a:graphicData>
        </a:graphic>
      </p:graphicFrame>
      <p:sp>
        <p:nvSpPr>
          <p:cNvPr id="5" name="Rectangle 4"/>
          <p:cNvSpPr/>
          <p:nvPr/>
        </p:nvSpPr>
        <p:spPr>
          <a:xfrm>
            <a:off x="640080" y="4617720"/>
            <a:ext cx="10881360" cy="1463040"/>
          </a:xfrm>
          <a:prstGeom prst="rect">
            <a:avLst/>
          </a:prstGeom>
          <a:solidFill>
            <a:srgbClr val="F7F8F9"/>
          </a:solidFill>
          <a:ln>
            <a:noFill/>
          </a:ln>
        </p:spPr>
        <p:txBody>
          <a:bodyPr rtlCol="0" anchor="ctr"/>
          <a:lstStyle/>
          <a:p>
            <a:pPr algn="ctr"/>
          </a:p>
        </p:txBody>
      </p:sp>
      <p:sp>
        <p:nvSpPr>
          <p:cNvPr id="6" name="Rectangle 5"/>
          <p:cNvSpPr/>
          <p:nvPr/>
        </p:nvSpPr>
        <p:spPr>
          <a:xfrm>
            <a:off x="640080" y="4617720"/>
            <a:ext cx="36576" cy="1463040"/>
          </a:xfrm>
          <a:prstGeom prst="rect">
            <a:avLst/>
          </a:prstGeom>
          <a:solidFill>
            <a:srgbClr val="0F766E"/>
          </a:solidFill>
          <a:ln>
            <a:noFill/>
          </a:ln>
        </p:spPr>
        <p:txBody>
          <a:bodyPr rtlCol="0" anchor="ctr"/>
          <a:lstStyle/>
          <a:p>
            <a:pPr algn="ctr"/>
          </a:p>
        </p:txBody>
      </p:sp>
      <p:sp>
        <p:nvSpPr>
          <p:cNvPr id="7" name="TextBox 6"/>
          <p:cNvSpPr txBox="1"/>
          <p:nvPr/>
        </p:nvSpPr>
        <p:spPr>
          <a:xfrm>
            <a:off x="914400" y="4745736"/>
            <a:ext cx="10332720" cy="1207008"/>
          </a:xfrm>
          <a:prstGeom prst="rect">
            <a:avLst/>
          </a:prstGeom>
          <a:noFill/>
        </p:spPr>
        <p:txBody>
          <a:bodyPr wrap="square" lIns="91425" rIns="91425" tIns="45700" bIns="45700" anchor="ctr"/>
          <a:lstStyle/>
          <a:p>
            <a:pPr algn="l">
              <a:spcBef>
                <a:spcPts val="0"/>
              </a:spcBef>
              <a:spcAft>
                <a:spcPts val="0"/>
              </a:spcAft>
            </a:pPr>
            <a:r>
              <a:rPr sz="1250" b="1" i="0">
                <a:solidFill>
                  <a:srgbClr val="1F2933"/>
                </a:solidFill>
                <a:latin typeface="Calibri"/>
              </a:rPr>
              <a:t>Budget: about $20 to $30 in total </a:t>
            </a:r>
            <a:r>
              <a:rPr sz="1250" b="0" i="0">
                <a:solidFill>
                  <a:srgbClr val="1F2933"/>
                </a:solidFill>
                <a:latin typeface="Calibri"/>
              </a:rPr>
              <a:t>(final run $10 to $20, RQ4 under $5, small checks under $2). About $5 of the original $10 is left, so I will need to top up.</a:t>
            </a:r>
          </a:p>
          <a:p>
            <a:pPr algn="l">
              <a:spcBef>
                <a:spcPts val="600"/>
              </a:spcBef>
              <a:spcAft>
                <a:spcPts val="0"/>
              </a:spcAft>
            </a:pPr>
            <a:r>
              <a:rPr sz="1250" b="1" i="0">
                <a:solidFill>
                  <a:srgbClr val="1F2933"/>
                </a:solidFill>
                <a:latin typeface="Calibri"/>
              </a:rPr>
              <a:t>Dates assume the final draft is due mid-November; </a:t>
            </a:r>
            <a:r>
              <a:rPr sz="1250" b="0" i="0">
                <a:solidFill>
                  <a:srgbClr val="1F2933"/>
                </a:solidFill>
                <a:latin typeface="Calibri"/>
              </a:rPr>
              <a:t>I will adjust if the deadline is different.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676656"/>
            <a:ext cx="10881360" cy="548640"/>
          </a:xfrm>
          <a:prstGeom prst="rect">
            <a:avLst/>
          </a:prstGeom>
          <a:noFill/>
        </p:spPr>
        <p:txBody>
          <a:bodyPr wrap="square" lIns="91425" rIns="91425" tIns="45700" bIns="45700" anchor="ctr"/>
          <a:lstStyle/>
          <a:p>
            <a:pPr algn="l">
              <a:spcBef>
                <a:spcPts val="0"/>
              </a:spcBef>
              <a:spcAft>
                <a:spcPts val="0"/>
              </a:spcAft>
            </a:pPr>
            <a:r>
              <a:rPr sz="2500" b="1" i="0">
                <a:solidFill>
                  <a:srgbClr val="1F2933"/>
                </a:solidFill>
                <a:latin typeface="Calibri"/>
              </a:rPr>
              <a:t>Questions moving forward</a:t>
            </a:r>
          </a:p>
        </p:txBody>
      </p:sp>
      <p:sp>
        <p:nvSpPr>
          <p:cNvPr id="3" name="TextBox 2"/>
          <p:cNvSpPr txBox="1"/>
          <p:nvPr/>
        </p:nvSpPr>
        <p:spPr>
          <a:xfrm>
            <a:off x="11064240" y="6355080"/>
            <a:ext cx="457200" cy="256032"/>
          </a:xfrm>
          <a:prstGeom prst="rect">
            <a:avLst/>
          </a:prstGeom>
          <a:noFill/>
        </p:spPr>
        <p:txBody>
          <a:bodyPr wrap="square" lIns="91425" rIns="91425" tIns="45700" bIns="45700" anchor="t"/>
          <a:lstStyle/>
          <a:p>
            <a:pPr algn="r">
              <a:spcBef>
                <a:spcPts val="0"/>
              </a:spcBef>
              <a:spcAft>
                <a:spcPts val="0"/>
              </a:spcAft>
            </a:pPr>
            <a:r>
              <a:rPr sz="900" b="0" i="0">
                <a:solidFill>
                  <a:srgbClr val="7B8794"/>
                </a:solidFill>
                <a:latin typeface="Calibri"/>
              </a:rPr>
              <a:t>13</a:t>
            </a:r>
          </a:p>
        </p:txBody>
      </p:sp>
      <p:sp>
        <p:nvSpPr>
          <p:cNvPr id="4" name="TextBox 3"/>
          <p:cNvSpPr txBox="1"/>
          <p:nvPr/>
        </p:nvSpPr>
        <p:spPr>
          <a:xfrm>
            <a:off x="640080" y="1417320"/>
            <a:ext cx="10881360" cy="4754880"/>
          </a:xfrm>
          <a:prstGeom prst="rect">
            <a:avLst/>
          </a:prstGeom>
          <a:noFill/>
        </p:spPr>
        <p:txBody>
          <a:bodyPr wrap="square" lIns="91425" rIns="91425" tIns="45700" bIns="45700" anchor="t"/>
          <a:lstStyle/>
          <a:p>
            <a:pPr algn="l">
              <a:lnSpc>
                <a:spcPct val="115000"/>
              </a:lnSpc>
              <a:spcBef>
                <a:spcPts val="0"/>
              </a:spcBef>
              <a:spcAft>
                <a:spcPts val="0"/>
              </a:spcAft>
            </a:pPr>
            <a:r>
              <a:rPr sz="1450" b="1" i="0">
                <a:solidFill>
                  <a:srgbClr val="1F2933"/>
                </a:solidFill>
                <a:latin typeface="Calibri"/>
              </a:rPr>
              <a:t>1. RQ4 fix</a:t>
            </a:r>
          </a:p>
          <a:p>
            <a:pPr algn="l">
              <a:lnSpc>
                <a:spcPct val="115000"/>
              </a:lnSpc>
              <a:spcBef>
                <a:spcPts val="300"/>
              </a:spcBef>
              <a:spcAft>
                <a:spcPts val="0"/>
              </a:spcAft>
            </a:pPr>
            <a:r>
              <a:rPr sz="1400" b="0" i="0">
                <a:solidFill>
                  <a:srgbClr val="1F2933"/>
                </a:solidFill>
                <a:latin typeface="Calibri"/>
              </a:rPr>
              <a:t>Should I add relation normalisation as a fixed part of P2 for the multi-agent runs, or keep P2 as it is and report the naming problem as RQ4's main finding?</a:t>
            </a:r>
          </a:p>
          <a:p>
            <a:pPr algn="l">
              <a:lnSpc>
                <a:spcPct val="115000"/>
              </a:lnSpc>
              <a:spcBef>
                <a:spcPts val="1000"/>
              </a:spcBef>
              <a:spcAft>
                <a:spcPts val="0"/>
              </a:spcAft>
            </a:pPr>
            <a:r>
              <a:rPr sz="1450" b="1" i="0">
                <a:solidFill>
                  <a:srgbClr val="1F2933"/>
                </a:solidFill>
                <a:latin typeface="Calibri"/>
              </a:rPr>
              <a:t>2. Grace period evidence</a:t>
            </a:r>
          </a:p>
          <a:p>
            <a:pPr algn="l">
              <a:lnSpc>
                <a:spcPct val="115000"/>
              </a:lnSpc>
              <a:spcBef>
                <a:spcPts val="300"/>
              </a:spcBef>
              <a:spcAft>
                <a:spcPts val="0"/>
              </a:spcAft>
            </a:pPr>
            <a:r>
              <a:rPr sz="1400" b="0" i="0">
                <a:solidFill>
                  <a:srgbClr val="1F2933"/>
                </a:solidFill>
                <a:latin typeface="Calibri"/>
              </a:rPr>
              <a:t>Would history questions built from the existing benchmarks be enough evidence for the grace recommendations, or would you want a separate dataset?</a:t>
            </a:r>
          </a:p>
          <a:p>
            <a:pPr algn="l">
              <a:lnSpc>
                <a:spcPct val="115000"/>
              </a:lnSpc>
              <a:spcBef>
                <a:spcPts val="1000"/>
              </a:spcBef>
              <a:spcAft>
                <a:spcPts val="0"/>
              </a:spcAft>
            </a:pPr>
            <a:r>
              <a:rPr sz="1450" b="1" i="0">
                <a:solidFill>
                  <a:srgbClr val="1F2933"/>
                </a:solidFill>
                <a:latin typeface="Calibri"/>
              </a:rPr>
              <a:t>3. Model line-up</a:t>
            </a:r>
          </a:p>
          <a:p>
            <a:pPr algn="l">
              <a:lnSpc>
                <a:spcPct val="115000"/>
              </a:lnSpc>
              <a:spcBef>
                <a:spcPts val="300"/>
              </a:spcBef>
              <a:spcAft>
                <a:spcPts val="0"/>
              </a:spcAft>
            </a:pPr>
            <a:r>
              <a:rPr sz="1400" b="0" i="0">
                <a:solidFill>
                  <a:srgbClr val="1F2933"/>
                </a:solidFill>
                <a:latin typeface="Calibri"/>
              </a:rPr>
              <a:t>Are mid-priced frontier models (GPT-6.1 Sol, Claude Sonnet 5.5) acceptable, or should the final run include the flagships at roughly twice the cost?</a:t>
            </a:r>
          </a:p>
          <a:p>
            <a:pPr algn="l">
              <a:lnSpc>
                <a:spcPct val="115000"/>
              </a:lnSpc>
              <a:spcBef>
                <a:spcPts val="1000"/>
              </a:spcBef>
              <a:spcAft>
                <a:spcPts val="0"/>
              </a:spcAft>
            </a:pPr>
            <a:r>
              <a:rPr sz="1450" b="1" i="0">
                <a:solidFill>
                  <a:srgbClr val="1F2933"/>
                </a:solidFill>
                <a:latin typeface="Calibri"/>
              </a:rPr>
              <a:t>4. Deadline</a:t>
            </a:r>
          </a:p>
          <a:p>
            <a:pPr algn="l">
              <a:lnSpc>
                <a:spcPct val="115000"/>
              </a:lnSpc>
              <a:spcBef>
                <a:spcPts val="300"/>
              </a:spcBef>
              <a:spcAft>
                <a:spcPts val="0"/>
              </a:spcAft>
            </a:pPr>
            <a:r>
              <a:rPr sz="1400" b="0" i="0">
                <a:solidFill>
                  <a:srgbClr val="1F2933"/>
                </a:solidFill>
                <a:latin typeface="Calibri"/>
              </a:rPr>
              <a:t>What date should the full revised draft be with you, so I can fix the plan around it?</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