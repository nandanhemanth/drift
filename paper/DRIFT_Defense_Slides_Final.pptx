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78" r:id="rId28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9" r:id="rId29"/>
    <p:sldId id="274" r:id="rId24"/>
    <p:sldId id="275" r:id="rId25"/>
    <p:sldId id="276" r:id="rId26"/>
    <p:sldId id="277" r:id="rId27"/>
  </p:sldIdLst>
  <p:sldSz cy="6858000" cx="12191675"/>
  <p:notesSz cx="6858000" cy="1219167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B434D2C-1792-403F-BBC9-71C173071512}">
  <a:tblStyle styleId="{CB434D2C-1792-403F-BBC9-71C17307151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
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  <Relationship Id="rId28" Type="http://schemas.openxmlformats.org/officeDocument/2006/relationships/slide" Target="slides/slide23.xml"/>
  <Relationship Id="rId29" Type="http://schemas.openxmlformats.org/officeDocument/2006/relationships/slide" Target="slides/slide24.xml"/>
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" name="Google Shape;3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5" name="Google Shape;365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7" name="Google Shape;387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548640" y="2331720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A CONTROLLED STUDY OF FORGETTING POLICIES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IN LLM AGENT MEMORY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548640" y="2880360"/>
            <a:ext cx="11094415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mbria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DRIFT: Decay Rates in Forgetful Bitemporal Memory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548640" y="43434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Nandan Hemanth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548640" y="475488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8D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AA8D6"/>
                </a:solidFill>
                <a:latin typeface="Calibri"/>
                <a:ea typeface="Calibri"/>
                <a:cs typeface="Calibri"/>
                <a:sym typeface="Calibri"/>
              </a:rPr>
              <a:t>Advisor: Dr. Hao Wang    ·    Reader: Dr. Joseph Helsing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548640" y="598932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7280B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280B0"/>
                </a:solidFill>
                <a:latin typeface="Calibri"/>
                <a:ea typeface="Calibri"/>
                <a:cs typeface="Calibri"/>
                <a:sym typeface="Calibri"/>
              </a:rPr>
              <a:t>Master of Science in Applied Artificial Intelligence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7280B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280B0"/>
                </a:solidFill>
                <a:latin typeface="Calibri"/>
                <a:ea typeface="Calibri"/>
                <a:cs typeface="Calibri"/>
                <a:sym typeface="Calibri"/>
              </a:rPr>
              <a:t>Stevens Institute of Technology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548640" y="1508760"/>
            <a:ext cx="502920" cy="54864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1F2A"/>
                </a:solidFill>
                <a:latin typeface="Cambria"/>
                <a:ea typeface="Cambria"/>
                <a:cs typeface="Cambria"/>
                <a:sym typeface="Cambria"/>
              </a:rPr>
              <a:t>Memory that never forgets keeps answering with facts that are no longer true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548640" y="1965960"/>
            <a:ext cx="5212080" cy="1920240"/>
          </a:xfrm>
          <a:prstGeom prst="roundRect">
            <a:avLst>
              <a:gd fmla="val 3810" name="adj"/>
            </a:avLst>
          </a:prstGeom>
          <a:solidFill>
            <a:srgbClr val="F4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868680" y="2194560"/>
            <a:ext cx="45720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“I live in Boston.”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session 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“I moved to Seattle.”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session 47, three months later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6126480" y="1965960"/>
            <a:ext cx="5056632" cy="1920240"/>
          </a:xfrm>
          <a:prstGeom prst="roundRect">
            <a:avLst>
              <a:gd fmla="val 3810" name="adj"/>
            </a:avLst>
          </a:prstGeom>
          <a:solidFill>
            <a:srgbClr val="FBEF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6446520" y="2194560"/>
            <a:ext cx="44805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“Where do I live?”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Both facts are retrieved: similar, both recent enough.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4A3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B84A3C"/>
                </a:solidFill>
                <a:latin typeface="Calibri"/>
                <a:ea typeface="Calibri"/>
                <a:cs typeface="Calibri"/>
                <a:sym typeface="Calibri"/>
              </a:rPr>
              <a:t>Answer: “Boston.”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548640" y="4160520"/>
            <a:ext cx="11094415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941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The correct fact was found and stored, so this is not a retrieval failure. It is a failure of memory hygiene: nothing in the system ever marked the old fact as no longer current, and nothing removed it.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548640" y="5257800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The failure compounds with time. An agent running for a year accumulates thousands of facts, an increasing fraction of them superseded.</a:t>
            </a:r>
            <a:r>
              <a:rPr i="1" lang="en-US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b="0" i="1" lang="en-US" sz="14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DRIFT  ·  Nandan Hemanth  ·  Stevens Institute of Technology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WHY THIS HASN'T BEEN SETTLED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1F2A"/>
                </a:solidFill>
                <a:latin typeface="Cambria"/>
                <a:ea typeface="Cambria"/>
                <a:cs typeface="Cambria"/>
                <a:sym typeface="Cambria"/>
              </a:rPr>
              <a:t>Production memory systems address storage and retrieval, not forgetting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548640" y="1965960"/>
            <a:ext cx="2567864" cy="1965960"/>
          </a:xfrm>
          <a:prstGeom prst="roundRect">
            <a:avLst>
              <a:gd fmla="val 2791" name="adj"/>
            </a:avLst>
          </a:prstGeom>
          <a:solidFill>
            <a:srgbClr val="F4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5"/>
          <p:cNvSpPr/>
          <p:nvPr/>
        </p:nvSpPr>
        <p:spPr>
          <a:xfrm>
            <a:off x="731520" y="2148840"/>
            <a:ext cx="22021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MemGPT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731520" y="2560320"/>
            <a:ext cx="2202104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Pages context in and out like an OS, and treats the window as physical memory.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3390824" y="1965960"/>
            <a:ext cx="2567864" cy="1965960"/>
          </a:xfrm>
          <a:prstGeom prst="roundRect">
            <a:avLst>
              <a:gd fmla="val 2791" name="adj"/>
            </a:avLst>
          </a:prstGeom>
          <a:solidFill>
            <a:srgbClr val="F4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5"/>
          <p:cNvSpPr/>
          <p:nvPr/>
        </p:nvSpPr>
        <p:spPr>
          <a:xfrm>
            <a:off x="3573704" y="2148840"/>
            <a:ext cx="22021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Zep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3573704" y="2560320"/>
            <a:ext cx="2202104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Temporal knowledge graph for agent memory: records validity, but does not compare policies for acting on it.</a:t>
            </a:r>
            <a:r>
              <a:rPr lang="en-US" sz="1250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b="0" i="0" lang="en-US" sz="125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6233008" y="1965960"/>
            <a:ext cx="2567864" cy="1965960"/>
          </a:xfrm>
          <a:prstGeom prst="roundRect">
            <a:avLst>
              <a:gd fmla="val 2791" name="adj"/>
            </a:avLst>
          </a:prstGeom>
          <a:solidFill>
            <a:srgbClr val="F4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5"/>
          <p:cNvSpPr/>
          <p:nvPr/>
        </p:nvSpPr>
        <p:spPr>
          <a:xfrm>
            <a:off x="6415888" y="2148840"/>
            <a:ext cx="22021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Mem0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6415888" y="2560320"/>
            <a:ext cx="2202104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Scalable long-term store, aimed at production deployment cost and latency.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9075191" y="1965960"/>
            <a:ext cx="2567864" cy="1965960"/>
          </a:xfrm>
          <a:prstGeom prst="roundRect">
            <a:avLst>
              <a:gd fmla="val 2791" name="adj"/>
            </a:avLst>
          </a:prstGeom>
          <a:solidFill>
            <a:srgbClr val="F4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5"/>
          <p:cNvSpPr/>
          <p:nvPr/>
        </p:nvSpPr>
        <p:spPr>
          <a:xfrm>
            <a:off x="9258071" y="2148840"/>
            <a:ext cx="22021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A-MEM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9258071" y="2560320"/>
            <a:ext cx="2202104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An LLM agentically decides memory structure and linking.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548640" y="4297680"/>
            <a:ext cx="11094415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In every one of these, the treatment of superseded information is secondary, and where a forgetting mechanism exists, it was chosen by the system's authors rather than measured against alternatives.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548640" y="5257800"/>
            <a:ext cx="11094415" cy="914400"/>
          </a:xfrm>
          <a:prstGeom prst="roundRect">
            <a:avLst>
              <a:gd fmla="val 600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822960" y="5440680"/>
            <a:ext cx="1054577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The confound: </a:t>
            </a: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compare two published systems and a difference could come from the substrate, retrieval, extraction, prompt, or model, not the forgetting rule. What's missing is a </a:t>
            </a: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controlled comparison.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DRIFT  ·  Nandan Hemanth  ·  Stevens Institute of Technology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HYPOTHESIS &amp; RESEARCH QUESTIONS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1F2A"/>
                </a:solidFill>
                <a:latin typeface="Cambria"/>
                <a:ea typeface="Cambria"/>
                <a:cs typeface="Cambria"/>
                <a:sym typeface="Cambria"/>
              </a:rPr>
              <a:t>One question, isolated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548640" y="1874520"/>
            <a:ext cx="11094415" cy="914400"/>
          </a:xfrm>
          <a:prstGeom prst="roundRect">
            <a:avLst>
              <a:gd fmla="val 6000" name="adj"/>
            </a:avLst>
          </a:prstGeom>
          <a:solidFill>
            <a:srgbClr val="F4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6"/>
          <p:cNvSpPr/>
          <p:nvPr/>
        </p:nvSpPr>
        <p:spPr>
          <a:xfrm>
            <a:off x="822960" y="2011680"/>
            <a:ext cx="1054577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rPr b="1" i="1" lang="en-US" sz="16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H:  </a:t>
            </a:r>
            <a:r>
              <a:rPr b="0" i="1" lang="en-US" sz="1600" u="none" cap="none" strike="noStrike">
                <a:solidFill>
                  <a:srgbClr val="1B1F2A"/>
                </a:solidFill>
                <a:latin typeface="Cambria"/>
                <a:ea typeface="Cambria"/>
                <a:cs typeface="Cambria"/>
                <a:sym typeface="Cambria"/>
              </a:rPr>
              <a:t>Selective forgetting grounded in bitemporal structure improves an agent's answer quality and cost profile relative to append-only memory and to structure-blind or novelty-based forgetting.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548640" y="3063240"/>
            <a:ext cx="777240" cy="566928"/>
          </a:xfrm>
          <a:prstGeom prst="roundRect">
            <a:avLst>
              <a:gd fmla="val 9677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6"/>
          <p:cNvSpPr/>
          <p:nvPr/>
        </p:nvSpPr>
        <p:spPr>
          <a:xfrm>
            <a:off x="548640" y="3063240"/>
            <a:ext cx="777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RQ1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1554480" y="3063240"/>
            <a:ext cx="1008857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550"/>
              <a:buFont typeface="Calibri"/>
              <a:buNone/>
            </a:pPr>
            <a:r>
              <a:rPr b="0" i="0" lang="en-US" sz="155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Does append-only memory measurably surface superseded facts?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548640" y="3840480"/>
            <a:ext cx="777240" cy="566928"/>
          </a:xfrm>
          <a:prstGeom prst="roundRect">
            <a:avLst>
              <a:gd fmla="val 9677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6"/>
          <p:cNvSpPr/>
          <p:nvPr/>
        </p:nvSpPr>
        <p:spPr>
          <a:xfrm>
            <a:off x="548640" y="3840480"/>
            <a:ext cx="777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RQ2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1554480" y="3840480"/>
            <a:ext cx="1008857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550"/>
              <a:buFont typeface="Calibri"/>
              <a:buNone/>
            </a:pPr>
            <a:r>
              <a:rPr b="0" i="0" lang="en-US" sz="155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Which forgetting policy offers the best accuracy / staleness / cost trade-off?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548640" y="4617720"/>
            <a:ext cx="777240" cy="566928"/>
          </a:xfrm>
          <a:prstGeom prst="roundRect">
            <a:avLst>
              <a:gd fmla="val 9677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6"/>
          <p:cNvSpPr/>
          <p:nvPr/>
        </p:nvSpPr>
        <p:spPr>
          <a:xfrm>
            <a:off x="548640" y="4617720"/>
            <a:ext cx="777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RQ3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1554480" y="4617720"/>
            <a:ext cx="1008857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550"/>
              <a:buFont typeface="Calibri"/>
              <a:buNone/>
            </a:pPr>
            <a:r>
              <a:rPr b="0" i="0" lang="en-US" sz="155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Does bitemporal structure specifically win, or would any graph-aware consolidation do?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548640" y="5394960"/>
            <a:ext cx="777240" cy="566928"/>
          </a:xfrm>
          <a:prstGeom prst="roundRect">
            <a:avLst>
              <a:gd fmla="val 9677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6"/>
          <p:cNvSpPr/>
          <p:nvPr/>
        </p:nvSpPr>
        <p:spPr>
          <a:xfrm>
            <a:off x="548640" y="5394960"/>
            <a:ext cx="777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RQ4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1554480" y="5394960"/>
            <a:ext cx="1008857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550"/>
              <a:buFont typeface="Calibri"/>
              <a:buNone/>
            </a:pPr>
            <a:r>
              <a:rPr b="0" i="0" lang="en-US" sz="155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Do policy rankings survive multi-agent use, where the reader isn't the writer?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DRIFT  ·  Nandan Hemanth  ·  Stevens Institute of Technology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NOVELTY &amp; POSITIONING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1F2A"/>
                </a:solidFill>
                <a:latin typeface="Cambria"/>
                <a:ea typeface="Cambria"/>
                <a:cs typeface="Cambria"/>
                <a:sym typeface="Cambria"/>
              </a:rPr>
              <a:t>Not a new data structure, a new experimental design</a:t>
            </a:r>
            <a:r>
              <a:rPr b="1" lang="en-US" sz="3000">
                <a:solidFill>
                  <a:srgbClr val="1B1F2A"/>
                </a:solidFill>
                <a:latin typeface="Cambria"/>
                <a:ea typeface="Cambria"/>
                <a:cs typeface="Cambria"/>
                <a:sym typeface="Cambria"/>
              </a:rPr>
              <a:t/>
            </a:r>
            <a:r>
              <a:rPr b="1" i="0" lang="en-US" sz="3000" u="none" cap="none" strike="noStrike">
                <a:solidFill>
                  <a:srgbClr val="1B1F2A"/>
                </a:solidFill>
                <a:latin typeface="Cambria"/>
                <a:ea typeface="Cambria"/>
                <a:cs typeface="Cambria"/>
                <a:sym typeface="Cambria"/>
              </a:rPr>
              <a:t/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548640" y="1600200"/>
            <a:ext cx="1109441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Bitemporal modeling is decades old in database research, and Zep already applies a version of it to agent memory. The novelty is in what a controlled design makes visible.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7"/>
          <p:cNvSpPr/>
          <p:nvPr/>
        </p:nvSpPr>
        <p:spPr>
          <a:xfrm>
            <a:off x="548640" y="2286000"/>
            <a:ext cx="5410048" cy="932688"/>
          </a:xfrm>
          <a:prstGeom prst="roundRect">
            <a:avLst>
              <a:gd fmla="val 5882" name="adj"/>
            </a:avLst>
          </a:prstGeom>
          <a:solidFill>
            <a:srgbClr val="F4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7"/>
          <p:cNvSpPr/>
          <p:nvPr/>
        </p:nvSpPr>
        <p:spPr>
          <a:xfrm>
            <a:off x="713232" y="2395728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N1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1207008" y="2377440"/>
            <a:ext cx="463280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Forgetting policy as the isolated variable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1207008" y="2688336"/>
            <a:ext cx="463280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First study holding substrate, extraction, retrieval, answer model, and judge fixed, varying only the forgetting rule across seven conditions.</a:t>
            </a:r>
            <a:r>
              <a:rPr lang="en-US" sz="1100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b="0" i="0" lang="en-US" sz="11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6141568" y="2286000"/>
            <a:ext cx="5410048" cy="932688"/>
          </a:xfrm>
          <a:prstGeom prst="roundRect">
            <a:avLst>
              <a:gd fmla="val 5882" name="adj"/>
            </a:avLst>
          </a:prstGeom>
          <a:solidFill>
            <a:srgbClr val="F4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7"/>
          <p:cNvSpPr/>
          <p:nvPr/>
        </p:nvSpPr>
        <p:spPr>
          <a:xfrm>
            <a:off x="6306160" y="2395728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N2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6799936" y="2377440"/>
            <a:ext cx="463280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The bitemporal-vs-structure-blind ablation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6799936" y="2688336"/>
            <a:ext cx="463280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P5 is exactly as structure-aware as P2, minus valid time. This isolates bitemporal semantics from graph structure in general.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548640" y="3383280"/>
            <a:ext cx="5410048" cy="932688"/>
          </a:xfrm>
          <a:prstGeom prst="roundRect">
            <a:avLst>
              <a:gd fmla="val 5882" name="adj"/>
            </a:avLst>
          </a:prstGeom>
          <a:solidFill>
            <a:srgbClr val="F4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7"/>
          <p:cNvSpPr/>
          <p:nvPr/>
        </p:nvSpPr>
        <p:spPr>
          <a:xfrm>
            <a:off x="713232" y="3493008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N3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1207008" y="3474720"/>
            <a:ext cx="463280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Novelty gating named as a measured failure mode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1207008" y="3785616"/>
            <a:ext cx="463280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First controlled demonstration that write-side novelty gating trades a bounded saving for an unbounded correctness liability.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6141568" y="3383280"/>
            <a:ext cx="5410048" cy="932688"/>
          </a:xfrm>
          <a:prstGeom prst="roundRect">
            <a:avLst>
              <a:gd fmla="val 5882" name="adj"/>
            </a:avLst>
          </a:prstGeom>
          <a:solidFill>
            <a:srgbClr val="F4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7"/>
          <p:cNvSpPr/>
          <p:nvPr/>
        </p:nvSpPr>
        <p:spPr>
          <a:xfrm>
            <a:off x="6306160" y="3493008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N4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6799936" y="3474720"/>
            <a:ext cx="463280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A negative result about the standard benchmarks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6799936" y="3785616"/>
            <a:ext cx="463280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LoCoMo and LongMemEval carry zero superseded-answer annotations, so they cannot support this measurement at all.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DRIFT  ·  Nandan Hemanth  ·  Stevens Institute of Technology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8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METHOD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8"/>
          <p:cNvSpPr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1F2A"/>
                </a:solidFill>
                <a:latin typeface="Cambria"/>
                <a:ea typeface="Cambria"/>
                <a:cs typeface="Cambria"/>
                <a:sym typeface="Cambria"/>
              </a:rPr>
              <a:t>The pipeline: one substrate, one variable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tender-loving-lovelace/mnt/DRIFT/paper/thesis/figures/architecture.png" id="117" name="Google Shape;11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025" y="1645925"/>
            <a:ext cx="12032223" cy="397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8"/>
          <p:cNvSpPr/>
          <p:nvPr/>
        </p:nvSpPr>
        <p:spPr>
          <a:xfrm>
            <a:off x="548640" y="5806440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00"/>
              <a:buFont typeface="Courier New"/>
              <a:buNone/>
            </a:pPr>
            <a:r>
              <a:rPr b="1" i="0" lang="en-US" u="none" cap="none" strike="noStrike">
                <a:solidFill>
                  <a:srgbClr val="5B6478"/>
                </a:solidFill>
                <a:latin typeface="Courier New"/>
                <a:ea typeface="Courier New"/>
                <a:cs typeface="Courier New"/>
                <a:sym typeface="Courier New"/>
              </a:rPr>
              <a:t>extraction  →  policy.on_write()  →  bitemporal graph  →  policy.after_session()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00"/>
              <a:buFont typeface="Courier New"/>
              <a:buNone/>
            </a:pPr>
            <a:r>
              <a:rPr b="1" i="0" lang="en-US" u="none" cap="none" strike="noStrike">
                <a:solidFill>
                  <a:srgbClr val="5B6478"/>
                </a:solidFill>
                <a:latin typeface="Courier New"/>
                <a:ea typeface="Courier New"/>
                <a:cs typeface="Courier New"/>
                <a:sym typeface="Courier New"/>
              </a:rPr>
              <a:t>→  hybrid retrieval  →  policy.on_retrieve()  →  answer  →  judge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DRIFT  ·  Nandan Hemanth  ·  Stevens Institute of Technology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8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9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METHOD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9"/>
          <p:cNvSpPr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1F2A"/>
                </a:solidFill>
                <a:latin typeface="Cambria"/>
                <a:ea typeface="Cambria"/>
                <a:cs typeface="Cambria"/>
                <a:sym typeface="Cambria"/>
              </a:rPr>
              <a:t>A policy is exactly three hooks over a bitemporal fact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9"/>
          <p:cNvSpPr/>
          <p:nvPr/>
        </p:nvSpPr>
        <p:spPr>
          <a:xfrm>
            <a:off x="548640" y="169164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Every fact carries two timelines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9"/>
          <p:cNvSpPr/>
          <p:nvPr/>
        </p:nvSpPr>
        <p:spPr>
          <a:xfrm>
            <a:off x="548640" y="2148840"/>
            <a:ext cx="5120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1E2761"/>
                </a:solidFill>
                <a:latin typeface="Courier New"/>
                <a:ea typeface="Courier New"/>
                <a:cs typeface="Courier New"/>
                <a:sym typeface="Courier New"/>
              </a:rPr>
              <a:t>t_valid_start   </a:t>
            </a:r>
            <a:r>
              <a:rPr b="0" i="0" lang="en-US" sz="125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when the fact became true of the world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9"/>
          <p:cNvSpPr/>
          <p:nvPr/>
        </p:nvSpPr>
        <p:spPr>
          <a:xfrm>
            <a:off x="548640" y="2569464"/>
            <a:ext cx="5120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1E2761"/>
                </a:solidFill>
                <a:latin typeface="Courier New"/>
                <a:ea typeface="Courier New"/>
                <a:cs typeface="Courier New"/>
                <a:sym typeface="Courier New"/>
              </a:rPr>
              <a:t>t_invalid_at   </a:t>
            </a:r>
            <a:r>
              <a:rPr b="0" i="0" lang="en-US" sz="125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when it stopped being true, null while current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9"/>
          <p:cNvSpPr/>
          <p:nvPr/>
        </p:nvSpPr>
        <p:spPr>
          <a:xfrm>
            <a:off x="548640" y="2990088"/>
            <a:ext cx="5120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1E2761"/>
                </a:solidFill>
                <a:latin typeface="Courier New"/>
                <a:ea typeface="Courier New"/>
                <a:cs typeface="Courier New"/>
                <a:sym typeface="Courier New"/>
              </a:rPr>
              <a:t>t_ingested   </a:t>
            </a:r>
            <a:r>
              <a:rPr b="0" i="0" lang="en-US" sz="125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when the agent learned it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9"/>
          <p:cNvSpPr/>
          <p:nvPr/>
        </p:nvSpPr>
        <p:spPr>
          <a:xfrm>
            <a:off x="548640" y="3410712"/>
            <a:ext cx="5120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1E2761"/>
                </a:solidFill>
                <a:latin typeface="Courier New"/>
                <a:ea typeface="Courier New"/>
                <a:cs typeface="Courier New"/>
                <a:sym typeface="Courier New"/>
              </a:rPr>
              <a:t>t_pruned   </a:t>
            </a:r>
            <a:r>
              <a:rPr b="0" i="0" lang="en-US" sz="125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when a policy removed it, null while retained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9"/>
          <p:cNvSpPr/>
          <p:nvPr/>
        </p:nvSpPr>
        <p:spPr>
          <a:xfrm>
            <a:off x="548640" y="3831336"/>
            <a:ext cx="5120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1E2761"/>
                </a:solidFill>
                <a:latin typeface="Courier New"/>
                <a:ea typeface="Courier New"/>
                <a:cs typeface="Courier New"/>
                <a:sym typeface="Courier New"/>
              </a:rPr>
              <a:t>provenance   </a:t>
            </a:r>
            <a:r>
              <a:rPr b="0" i="0" lang="en-US" sz="125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which agent wrote it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9"/>
          <p:cNvSpPr/>
          <p:nvPr/>
        </p:nvSpPr>
        <p:spPr>
          <a:xfrm>
            <a:off x="548640" y="4343400"/>
            <a:ext cx="51206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Contradictions on functional predicates close the old window non-destructively. The fact stays; only a policy removes or hides data. This is what guarantees any measured difference comes from the policy.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9"/>
          <p:cNvSpPr/>
          <p:nvPr/>
        </p:nvSpPr>
        <p:spPr>
          <a:xfrm>
            <a:off x="6035040" y="1691640"/>
            <a:ext cx="5394960" cy="4526280"/>
          </a:xfrm>
          <a:prstGeom prst="roundRect">
            <a:avLst>
              <a:gd fmla="val 1212" name="adj"/>
            </a:avLst>
          </a:prstGeom>
          <a:solidFill>
            <a:srgbClr val="141B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9"/>
          <p:cNvSpPr/>
          <p:nvPr/>
        </p:nvSpPr>
        <p:spPr>
          <a:xfrm>
            <a:off x="6355080" y="1965960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E8A33D"/>
                </a:solidFill>
                <a:latin typeface="Courier New"/>
                <a:ea typeface="Courier New"/>
                <a:cs typeface="Courier New"/>
                <a:sym typeface="Courier New"/>
              </a:rPr>
              <a:t>class Policy: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9"/>
          <p:cNvSpPr/>
          <p:nvPr/>
        </p:nvSpPr>
        <p:spPr>
          <a:xfrm>
            <a:off x="6583680" y="251460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def  on_write(fact, graph) -&gt; bool: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9"/>
          <p:cNvSpPr/>
          <p:nvPr/>
        </p:nvSpPr>
        <p:spPr>
          <a:xfrm>
            <a:off x="6858000" y="2862072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8892B0"/>
                </a:solidFill>
                <a:latin typeface="Courier New"/>
                <a:ea typeface="Courier New"/>
                <a:cs typeface="Courier New"/>
                <a:sym typeface="Courier New"/>
              </a:rPr>
              <a:t># False rejects the write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9"/>
          <p:cNvSpPr/>
          <p:nvPr/>
        </p:nvSpPr>
        <p:spPr>
          <a:xfrm>
            <a:off x="6583680" y="33832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def  after_session(graph, provider, now):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9"/>
          <p:cNvSpPr/>
          <p:nvPr/>
        </p:nvSpPr>
        <p:spPr>
          <a:xfrm>
            <a:off x="6858000" y="3730752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8892B0"/>
                </a:solidFill>
                <a:latin typeface="Courier New"/>
                <a:ea typeface="Courier New"/>
                <a:cs typeface="Courier New"/>
                <a:sym typeface="Courier New"/>
              </a:rPr>
              <a:t># periodic maintenance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9"/>
          <p:cNvSpPr/>
          <p:nvPr/>
        </p:nvSpPr>
        <p:spPr>
          <a:xfrm>
            <a:off x="6583680" y="425196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def  on_retrieve(facts, now) -&gt; list: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9"/>
          <p:cNvSpPr/>
          <p:nvPr/>
        </p:nvSpPr>
        <p:spPr>
          <a:xfrm>
            <a:off x="6858000" y="4599432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8892B0"/>
                </a:solidFill>
                <a:latin typeface="Courier New"/>
                <a:ea typeface="Courier New"/>
                <a:cs typeface="Courier New"/>
                <a:sym typeface="Courier New"/>
              </a:rPr>
              <a:t># filter or rerank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6355080" y="5212080"/>
            <a:ext cx="4754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AEB8DC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AEB8DC"/>
                </a:solidFill>
                <a:latin typeface="Calibri"/>
                <a:ea typeface="Calibri"/>
                <a:cs typeface="Calibri"/>
                <a:sym typeface="Calibri"/>
              </a:rPr>
              <a:t>Adding a policy = one subclass + one registry line.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AEB8DC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AEB8DC"/>
                </a:solidFill>
                <a:latin typeface="Calibri"/>
                <a:ea typeface="Calibri"/>
                <a:cs typeface="Calibri"/>
                <a:sym typeface="Calibri"/>
              </a:rPr>
              <a:t>The runner, substrate, providers, and analysis code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AEB8DC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AEB8DC"/>
                </a:solidFill>
                <a:latin typeface="Calibri"/>
                <a:ea typeface="Calibri"/>
                <a:cs typeface="Calibri"/>
                <a:sym typeface="Calibri"/>
              </a:rPr>
              <a:t>never need to change.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DRIFT  ·  Nandan Hemanth  ·  Stevens Institute of Technology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METHOD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0"/>
          <p:cNvSpPr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1F2A"/>
                </a:solidFill>
                <a:latin typeface="Cambria"/>
                <a:ea typeface="Cambria"/>
                <a:cs typeface="Cambria"/>
                <a:sym typeface="Cambria"/>
              </a:rPr>
              <a:t>Seven policies, one substrate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3" name="Google Shape;153;p10"/>
          <p:cNvGraphicFramePr/>
          <p:nvPr/>
        </p:nvGraphicFramePr>
        <p:xfrm>
          <a:off x="548640" y="1783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{CB434D2C-1792-403F-BBC9-71C173071512}</a:tableStyleId>
              </a:tblPr>
              <a:tblGrid>
                <a:gridCol w="1188725"/>
                <a:gridCol w="7680950"/>
                <a:gridCol w="2651750"/>
              </a:tblGrid>
              <a:tr h="52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50"/>
                        <a:buFont typeface="Calibri"/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Policy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50"/>
                        <a:buFont typeface="Calibri"/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Mechanism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50"/>
                        <a:buFont typeface="Calibri"/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Role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52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350"/>
                        <a:buFont typeface="Calibri"/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NOMEM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Retrieval returns nothing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floor baseline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2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350"/>
                        <a:buFont typeface="Calibri"/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P0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Append-only; nothing gated, pruned, or filtered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ceiling baseline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C"/>
                    </a:solidFill>
                  </a:tcPr>
                </a:tc>
              </a:tr>
              <a:tr h="52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350"/>
                        <a:buFont typeface="Calibri"/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P1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TTL decay: prune facts older than ttl_days by valid time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classical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2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350"/>
                        <a:buFont typeface="Calibri"/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P2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Exclude superseded facts at retrieval; prune after 7-day grace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bitemporal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C"/>
                    </a:solidFill>
                  </a:tcPr>
                </a:tc>
              </a:tr>
              <a:tr h="52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350"/>
                        <a:buFont typeface="Calibri"/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P3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Reject writes whose neighborhood cosine exceeds 0.9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after SAGE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2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350"/>
                        <a:buFont typeface="Calibri"/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P4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Every 3rd session an LLM decides keep/drop, plus dedup merge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after Zhang et al.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C"/>
                    </a:solidFill>
                  </a:tcPr>
                </a:tc>
              </a:tr>
              <a:tr h="52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350"/>
                        <a:buFont typeface="Calibri"/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P5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Resolve conflicts by corroboration count, denied valid time</a:t>
                      </a:r>
                      <a:r>
                        <a:rPr lang="en-US" sz="1350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r>
                        <a:rPr lang="en-US" sz="135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ablation partner to P2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4" name="Google Shape;154;p1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DRIFT  ·  Nandan Hemanth  ·  Stevens Institute of Technology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0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EXPERIMENTAL SETUP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1"/>
          <p:cNvSpPr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1F2A"/>
                </a:solidFill>
                <a:latin typeface="Cambria"/>
                <a:ea typeface="Cambria"/>
                <a:cs typeface="Cambria"/>
                <a:sym typeface="Cambria"/>
              </a:rPr>
              <a:t>The benchmark negative result, and the two that work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1"/>
          <p:cNvSpPr/>
          <p:nvPr/>
        </p:nvSpPr>
        <p:spPr>
          <a:xfrm>
            <a:off x="548640" y="1600200"/>
            <a:ext cx="11094415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Staleness requires knowing the wrong (superseded) answer for each question. Auditing the field's standard benchmarks: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4" name="Google Shape;164;p11"/>
          <p:cNvGraphicFramePr/>
          <p:nvPr/>
        </p:nvGraphicFramePr>
        <p:xfrm>
          <a:off x="548640" y="21488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{CB434D2C-1792-403F-BBC9-71C173071512}</a:tableStyleId>
              </a:tblPr>
              <a:tblGrid>
                <a:gridCol w="2468875"/>
                <a:gridCol w="1554475"/>
                <a:gridCol w="2011675"/>
                <a:gridCol w="822950"/>
              </a:tblGrid>
              <a:tr h="493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50"/>
                        <a:buFont typeface="Calibri"/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Benchmark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50"/>
                        <a:buFont typeface="Calibri"/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Questions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50"/>
                        <a:buFont typeface="Calibri"/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stale_answer coverage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50"/>
                        <a:buFont typeface="Calibri"/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Used?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493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350"/>
                        <a:buFont typeface="Calibri"/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LoCoMo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300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84A3C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 u="none" cap="none" strike="noStrike">
                          <a:solidFill>
                            <a:srgbClr val="B84A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 percent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350"/>
                        <a:buFont typeface="Calibri"/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93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350"/>
                        <a:buFont typeface="Calibri"/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LongMemEval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84A3C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 u="none" cap="none" strike="noStrike">
                          <a:solidFill>
                            <a:srgbClr val="B84A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 percent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350"/>
                        <a:buFont typeface="Calibri"/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C"/>
                    </a:solidFill>
                  </a:tcPr>
                </a:tc>
              </a:tr>
              <a:tr h="493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350"/>
                        <a:buFont typeface="Calibri"/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FactConsolidation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65 percent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350"/>
                        <a:buFont typeface="Calibri"/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93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350"/>
                        <a:buFont typeface="Calibri"/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MQuAKE-T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96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7A5C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 u="none" cap="none" strike="noStrike">
                          <a:solidFill>
                            <a:srgbClr val="2C7A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 percent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350"/>
                        <a:buFont typeface="Calibri"/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13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C"/>
                    </a:solidFill>
                  </a:tcPr>
                </a:tc>
              </a:tr>
            </a:tbl>
          </a:graphicData>
        </a:graphic>
      </p:graphicFrame>
      <p:sp>
        <p:nvSpPr>
          <p:cNvPr id="165" name="Google Shape;165;p11"/>
          <p:cNvSpPr/>
          <p:nvPr/>
        </p:nvSpPr>
        <p:spPr>
          <a:xfrm>
            <a:off x="7772400" y="2148840"/>
            <a:ext cx="4023360" cy="2468880"/>
          </a:xfrm>
          <a:prstGeom prst="roundRect">
            <a:avLst>
              <a:gd fmla="val 2222" name="adj"/>
            </a:avLst>
          </a:prstGeom>
          <a:solidFill>
            <a:srgbClr val="FBEF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1"/>
          <p:cNvSpPr/>
          <p:nvPr/>
        </p:nvSpPr>
        <p:spPr>
          <a:xfrm>
            <a:off x="8046720" y="2331720"/>
            <a:ext cx="347472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On the first campaign, staleness read 0.000 across all 42 cells. It briefly looked like a finding. It wasn't: the metric structurally could not fire on that data.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1"/>
          <p:cNvSpPr/>
          <p:nvPr/>
        </p:nvSpPr>
        <p:spPr>
          <a:xfrm>
            <a:off x="548640" y="4846320"/>
            <a:ext cx="541004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FactConsolidation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Later facts overwrite earlier ones on the same subject and predicate. Gold answers are counterfactual, so parametric knowledge is actively unhelpful.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1"/>
          <p:cNvSpPr/>
          <p:nvPr/>
        </p:nvSpPr>
        <p:spPr>
          <a:xfrm>
            <a:off x="6233008" y="4846320"/>
            <a:ext cx="541004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MQuAKE-T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Real Wikidata snapshots, April 2021 versus April 2023. Updates are real, not injected: the generalization test.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DRIFT  ·  Nandan Hemanth  ·  Stevens Institute of Technology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1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2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EXPERIMENTAL SETUP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2"/>
          <p:cNvSpPr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1F2A"/>
                </a:solidFill>
                <a:latin typeface="Cambria"/>
                <a:ea typeface="Cambria"/>
                <a:cs typeface="Cambria"/>
                <a:sym typeface="Cambria"/>
              </a:rPr>
              <a:t>Models, providers, and what was actually configurable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2"/>
          <p:cNvSpPr/>
          <p:nvPr/>
        </p:nvSpPr>
        <p:spPr>
          <a:xfrm>
            <a:off x="548640" y="1600200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DRIFT trains nothing. It evaluates already-trained models as pipeline components.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9" name="Google Shape;179;p12"/>
          <p:cNvGraphicFramePr/>
          <p:nvPr/>
        </p:nvGraphicFramePr>
        <p:xfrm>
          <a:off x="548640" y="21031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{CB434D2C-1792-403F-BBC9-71C173071512}</a:tableStyleId>
              </a:tblPr>
              <a:tblGrid>
                <a:gridCol w="1645925"/>
                <a:gridCol w="9994400"/>
              </a:tblGrid>
              <a:tr h="43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Role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Answer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GLM-5.2, MiniMax-M3 (OpenRouter)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Extraction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GLM-5.2, MiniMax-M3, gpt-oss-120b, Llama-3.3-70B, Llama-3.1-8B, Mistral Small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C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Judge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gpt-oss:20b, gpt-oss-20b, Command-R7B (a different family than the answer model)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Embedding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nomic-embed-text, 768-dim, local via Ollama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C"/>
                    </a:solidFill>
                  </a:tcPr>
                </a:tc>
              </a:tr>
            </a:tbl>
          </a:graphicData>
        </a:graphic>
      </p:graphicFrame>
      <p:sp>
        <p:nvSpPr>
          <p:cNvPr id="180" name="Google Shape;180;p12"/>
          <p:cNvSpPr/>
          <p:nvPr/>
        </p:nvSpPr>
        <p:spPr>
          <a:xfrm>
            <a:off x="548640" y="461772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Held fixed across every cell: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2"/>
          <p:cNvSpPr/>
          <p:nvPr/>
        </p:nvSpPr>
        <p:spPr>
          <a:xfrm>
            <a:off x="548640" y="4983480"/>
            <a:ext cx="1109441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Retrieval weighting (0.6 cosine + 0.3 lexical + 0.1 recency), k = 25. Never varied as a condition.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2"/>
          <p:cNvSpPr/>
          <p:nvPr/>
        </p:nvSpPr>
        <p:spPr>
          <a:xfrm>
            <a:off x="548640" y="55321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The one thing a new deployment must configure: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2"/>
          <p:cNvSpPr/>
          <p:nvPr/>
        </p:nvSpPr>
        <p:spPr>
          <a:xfrm>
            <a:off x="548640" y="5897880"/>
            <a:ext cx="1109441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functional_predicates: which relations in a domain are single-valued. Quantified precisely in the ablation (slide 17).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DRIFT  ·  Nandan Hemanth  ·  Stevens Institute of Technology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2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3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3"/>
          <p:cNvSpPr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1F2A"/>
                </a:solidFill>
                <a:latin typeface="Cambria"/>
                <a:ea typeface="Cambria"/>
                <a:cs typeface="Cambria"/>
                <a:sym typeface="Cambria"/>
              </a:rPr>
              <a:t>Headline results </a:t>
            </a:r>
            <a:r>
              <a:rPr b="1" lang="en-US" sz="3000">
                <a:solidFill>
                  <a:srgbClr val="1B1F2A"/>
                </a:solidFill>
                <a:latin typeface="Cambria"/>
                <a:ea typeface="Cambria"/>
                <a:cs typeface="Cambria"/>
                <a:sym typeface="Cambria"/>
              </a:rPr>
              <a:t>:</a:t>
            </a:r>
            <a:r>
              <a:rPr b="1" i="0" lang="en-US" sz="3000" u="none" cap="none" strike="noStrike">
                <a:solidFill>
                  <a:srgbClr val="1B1F2A"/>
                </a:solidFill>
                <a:latin typeface="Cambria"/>
                <a:ea typeface="Cambria"/>
                <a:cs typeface="Cambria"/>
                <a:sym typeface="Cambria"/>
              </a:rPr>
              <a:t> MQuAKE-T, pooled across both answer models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3" name="Google Shape;193;p13"/>
          <p:cNvGraphicFramePr/>
          <p:nvPr/>
        </p:nvGraphicFramePr>
        <p:xfrm>
          <a:off x="548640" y="182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{CB434D2C-1792-403F-BBC9-71C173071512}</a:tableStyleId>
              </a:tblPr>
              <a:tblGrid>
                <a:gridCol w="1828800"/>
                <a:gridCol w="1371600"/>
                <a:gridCol w="1371600"/>
                <a:gridCol w="1188725"/>
                <a:gridCol w="1188725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Policy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Accuracy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Staleness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Tok/q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Facts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NOMEM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233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n/a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0.969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0.052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816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382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C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P1 (TTL 20d)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0.870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0.026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807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251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P2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7A5C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C7A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0.969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0.036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7A5C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C7A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716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357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F3EE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P3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0.792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0.161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805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351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P4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0.953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0.057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804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372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C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P5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0.802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0.214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816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365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4" name="Google Shape;194;p13"/>
          <p:cNvSpPr/>
          <p:nvPr/>
        </p:nvSpPr>
        <p:spPr>
          <a:xfrm>
            <a:off x="7863840" y="1828800"/>
            <a:ext cx="3931920" cy="1188720"/>
          </a:xfrm>
          <a:prstGeom prst="roundRect">
            <a:avLst>
              <a:gd fmla="val 4615" name="adj"/>
            </a:avLst>
          </a:prstGeom>
          <a:solidFill>
            <a:srgbClr val="F4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3"/>
          <p:cNvSpPr/>
          <p:nvPr/>
        </p:nvSpPr>
        <p:spPr>
          <a:xfrm>
            <a:off x="8092440" y="1938528"/>
            <a:ext cx="3474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+0.000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3"/>
          <p:cNvSpPr/>
          <p:nvPr/>
        </p:nvSpPr>
        <p:spPr>
          <a:xfrm>
            <a:off x="8092440" y="2560320"/>
            <a:ext cx="3474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P2 minus P0 accuracy, MQuAKE-T: statistically equivalent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3"/>
          <p:cNvSpPr/>
          <p:nvPr/>
        </p:nvSpPr>
        <p:spPr>
          <a:xfrm>
            <a:off x="7863840" y="3200400"/>
            <a:ext cx="3931920" cy="1188720"/>
          </a:xfrm>
          <a:prstGeom prst="roundRect">
            <a:avLst>
              <a:gd fmla="val 4615" name="adj"/>
            </a:avLst>
          </a:prstGeom>
          <a:solidFill>
            <a:srgbClr val="F4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3"/>
          <p:cNvSpPr/>
          <p:nvPr/>
        </p:nvSpPr>
        <p:spPr>
          <a:xfrm>
            <a:off x="8092440" y="3310128"/>
            <a:ext cx="3474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–12%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3"/>
          <p:cNvSpPr/>
          <p:nvPr/>
        </p:nvSpPr>
        <p:spPr>
          <a:xfrm>
            <a:off x="8092440" y="3931920"/>
            <a:ext cx="3474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tokens per question, P2 vs. P0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3"/>
          <p:cNvSpPr/>
          <p:nvPr/>
        </p:nvSpPr>
        <p:spPr>
          <a:xfrm>
            <a:off x="7863840" y="4572000"/>
            <a:ext cx="3931920" cy="1188720"/>
          </a:xfrm>
          <a:prstGeom prst="roundRect">
            <a:avLst>
              <a:gd fmla="val 4615" name="adj"/>
            </a:avLst>
          </a:prstGeom>
          <a:solidFill>
            <a:srgbClr val="F4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3"/>
          <p:cNvSpPr/>
          <p:nvPr/>
        </p:nvSpPr>
        <p:spPr>
          <a:xfrm>
            <a:off x="8092440" y="4681728"/>
            <a:ext cx="3474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6.5–15%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3"/>
          <p:cNvSpPr/>
          <p:nvPr/>
        </p:nvSpPr>
        <p:spPr>
          <a:xfrm>
            <a:off x="8092440" y="5303520"/>
            <a:ext cx="3474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fewer facts stored, P2 vs. P0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DRIFT  ·  Nandan Hemanth  ·  Stevens Institute of Technology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3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4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4"/>
          <p:cNvSpPr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1F2A"/>
                </a:solidFill>
                <a:latin typeface="Cambria"/>
                <a:ea typeface="Cambria"/>
                <a:cs typeface="Cambria"/>
                <a:sym typeface="Cambria"/>
              </a:rPr>
              <a:t>Accuracy and staleness by policy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tender-loving-lovelace/mnt/DRIFT/paper/thesis/figures/accuracy_staleness_mquake_t.png" id="212" name="Google Shape;212;p14"/>
          <p:cNvPicPr preferRelativeResize="0"/>
          <p:nvPr/>
        </p:nvPicPr>
        <p:blipFill rotWithShape="1">
          <a:blip r:embed="rId3">
            <a:alphaModFix/>
          </a:blip>
          <a:srcRect b="0" l="-45000" r="-45000" t="0"/>
          <a:stretch/>
        </p:blipFill>
        <p:spPr>
          <a:xfrm>
            <a:off x="1737360" y="1691640"/>
            <a:ext cx="8686800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DRIFT  ·  Nandan Hemanth  ·  Stevens Institute of Technology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4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5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RQ1 &amp; RQ2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5"/>
          <p:cNvSpPr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1F2A"/>
                </a:solidFill>
                <a:latin typeface="Cambria"/>
                <a:ea typeface="Cambria"/>
                <a:cs typeface="Cambria"/>
                <a:sym typeface="Cambria"/>
              </a:rPr>
              <a:t>Append-only memory surfaces stale facts  and bitemporal invalidation is free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5"/>
          <p:cNvSpPr/>
          <p:nvPr/>
        </p:nvSpPr>
        <p:spPr>
          <a:xfrm>
            <a:off x="548640" y="1691640"/>
            <a:ext cx="5212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34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RQ1.  </a:t>
            </a:r>
            <a:r>
              <a:rPr b="0" i="0" lang="en-US" sz="145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P0 staleness excludes zero on both benchmarks: 4.2 to 4.8 stale facts surface per retrieval, out of k = 25.</a:t>
            </a:r>
            <a:r>
              <a:rPr lang="en-US" sz="1450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b="0" i="0" lang="en-US" sz="145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5"/>
          <p:cNvSpPr/>
          <p:nvPr/>
        </p:nvSpPr>
        <p:spPr>
          <a:xfrm>
            <a:off x="548640" y="2560320"/>
            <a:ext cx="52120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34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RQ2.  </a:t>
            </a:r>
            <a:r>
              <a:rPr b="0" i="0" lang="en-US" sz="145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P2 matches P0's accuracy exactly (paired Δ = +0.000, 95% CI [−0.021, +0.021]) while spending 12% fewer tokens and storing 6.5–15% fewer facts.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5"/>
          <p:cNvSpPr/>
          <p:nvPr/>
        </p:nvSpPr>
        <p:spPr>
          <a:xfrm>
            <a:off x="548640" y="3794760"/>
            <a:ext cx="5212080" cy="1554480"/>
          </a:xfrm>
          <a:prstGeom prst="roundRect">
            <a:avLst>
              <a:gd fmla="val 3529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5"/>
          <p:cNvSpPr/>
          <p:nvPr/>
        </p:nvSpPr>
        <p:spPr>
          <a:xfrm>
            <a:off x="822960" y="3977640"/>
            <a:ext cx="46634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This is an equivalence claim, not a null result.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615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paired-bootstrap interval bounds the true gap. It doesn't just fail to reject zero. That's what licenses “forgetting is free.”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tender-loving-lovelace/mnt/DRIFT/paper/thesis/figures/tradeoff_scatter_mquake_t.png" id="226" name="Google Shape;226;p15"/>
          <p:cNvPicPr preferRelativeResize="0"/>
          <p:nvPr/>
        </p:nvPicPr>
        <p:blipFill rotWithShape="1">
          <a:blip r:embed="rId3">
            <a:alphaModFix/>
          </a:blip>
          <a:srcRect b="0" l="-9000" r="-9000" t="0"/>
          <a:stretch/>
        </p:blipFill>
        <p:spPr>
          <a:xfrm>
            <a:off x="6263640" y="1691640"/>
            <a:ext cx="5394960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DRIFT  ·  Nandan Hemanth  ·  Stevens Institute of Technology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5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6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RQ3: THE STRONGEST RESULT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6"/>
          <p:cNvSpPr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1F2A"/>
                </a:solidFill>
                <a:latin typeface="Cambria"/>
                <a:ea typeface="Cambria"/>
                <a:cs typeface="Cambria"/>
                <a:sym typeface="Cambria"/>
              </a:rPr>
              <a:t>Bitemporal semantics beat structure alone: P2 vs. P5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6"/>
          <p:cNvSpPr/>
          <p:nvPr/>
        </p:nvSpPr>
        <p:spPr>
          <a:xfrm>
            <a:off x="548640" y="1600200"/>
            <a:ext cx="11094415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P2 and P5 share everything: substrate, retrieval, extraction, answer model, judge. Both consolidate. P5 alone is denied valid time and must infer currency from corroboration count.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7" name="Google Shape;237;p16"/>
          <p:cNvGraphicFramePr/>
          <p:nvPr/>
        </p:nvGraphicFramePr>
        <p:xfrm>
          <a:off x="548640" y="23317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{CB434D2C-1792-403F-BBC9-71C173071512}</a:tableStyleId>
              </a:tblPr>
              <a:tblGrid>
                <a:gridCol w="1463050"/>
                <a:gridCol w="1097275"/>
                <a:gridCol w="1828800"/>
                <a:gridCol w="82295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Metric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P2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P5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Accuracy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7A5C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2C7A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0.969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0.802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&lt;0.001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Staleness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7A5C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2C7A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0.036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84A3C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B84A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0.214 (5.9×)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&lt;0.001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C"/>
                    </a:solidFill>
                  </a:tcPr>
                </a:tc>
              </a:tr>
            </a:tbl>
          </a:graphicData>
        </a:graphic>
      </p:graphicFrame>
      <p:sp>
        <p:nvSpPr>
          <p:cNvPr id="238" name="Google Shape;238;p16"/>
          <p:cNvSpPr/>
          <p:nvPr/>
        </p:nvSpPr>
        <p:spPr>
          <a:xfrm>
            <a:off x="548640" y="3886200"/>
            <a:ext cx="5212080" cy="2194560"/>
          </a:xfrm>
          <a:prstGeom prst="roundRect">
            <a:avLst>
              <a:gd fmla="val 2500" name="adj"/>
            </a:avLst>
          </a:prstGeom>
          <a:solidFill>
            <a:srgbClr val="F4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6"/>
          <p:cNvSpPr/>
          <p:nvPr/>
        </p:nvSpPr>
        <p:spPr>
          <a:xfrm>
            <a:off x="822960" y="4069080"/>
            <a:ext cx="466344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The mechanism. 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A head of state who served 8 years accumulates more corroborating mentions than a successor who took office last month. Corroboration count is systematically biased toward the past, exactly where currency matters.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28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South Korea, head of state: 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5B6478"/>
                </a:solidFill>
                <a:latin typeface="Courier New"/>
                <a:ea typeface="Courier New"/>
                <a:cs typeface="Courier New"/>
                <a:sym typeface="Courier New"/>
              </a:rPr>
              <a:t>P5 → “Moon Jae-in” (wrong)     P2 → “Yoon Suk-yeol” (correct)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6"/>
          <p:cNvSpPr/>
          <p:nvPr/>
        </p:nvSpPr>
        <p:spPr>
          <a:xfrm>
            <a:off x="6126480" y="2377440"/>
            <a:ext cx="5029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294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mbria"/>
              <a:buNone/>
            </a:pPr>
            <a:r>
              <a:rPr b="1" i="1" lang="en-US" sz="17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Structural corroboration measures how established a fact is, not whether it is current.</a:t>
            </a:r>
            <a:r>
              <a:rPr b="1" i="1" lang="en-US" sz="17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/>
            </a:r>
            <a:r>
              <a:rPr b="1" i="1" lang="en-US" sz="17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6"/>
          <p:cNvSpPr/>
          <p:nvPr/>
        </p:nvSpPr>
        <p:spPr>
          <a:xfrm>
            <a:off x="6126480" y="3337560"/>
            <a:ext cx="50292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On FactConsolidation (arbitrary entities, uniform corroboration) the same comparison is p = 0.022, real but noisier.</a:t>
            </a:r>
            <a:r>
              <a:rPr i="1" lang="en-US" sz="1300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b="0" i="1" lang="en-US" sz="13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 On MQuAKE-T (real office-holders) corroboration is systematically biased, and the mechanism becomes visible.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6"/>
          <p:cNvSpPr/>
          <p:nvPr/>
        </p:nvSpPr>
        <p:spPr>
          <a:xfrm>
            <a:off x="6126480" y="4709160"/>
            <a:ext cx="5029200" cy="1234440"/>
          </a:xfrm>
          <a:prstGeom prst="roundRect">
            <a:avLst>
              <a:gd fmla="val 4444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6"/>
          <p:cNvSpPr/>
          <p:nvPr/>
        </p:nvSpPr>
        <p:spPr>
          <a:xfrm>
            <a:off x="6355080" y="4937760"/>
            <a:ext cx="4572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E8A33D"/>
                </a:solidFill>
                <a:latin typeface="Cambria"/>
                <a:ea typeface="Cambria"/>
                <a:cs typeface="Cambria"/>
                <a:sym typeface="Cambria"/>
              </a:rPr>
              <a:t>+16.7 </a:t>
            </a:r>
            <a:r>
              <a:rPr b="1" lang="en-US" sz="1700">
                <a:solidFill>
                  <a:srgbClr val="E8A33D"/>
                </a:solidFill>
                <a:latin typeface="Cambria"/>
                <a:ea typeface="Cambria"/>
                <a:cs typeface="Cambria"/>
                <a:sym typeface="Cambria"/>
              </a:rPr>
              <a:t>%</a:t>
            </a:r>
            <a:r>
              <a:rPr b="1" i="0" lang="en-US" sz="1700" u="none" cap="none" strike="noStrike">
                <a:solidFill>
                  <a:srgbClr val="E8A33D"/>
                </a:solidFill>
                <a:latin typeface="Cambria"/>
                <a:ea typeface="Cambria"/>
                <a:cs typeface="Cambria"/>
                <a:sym typeface="Cambria"/>
              </a:rPr>
              <a:t> accuracy, −17.7 </a:t>
            </a:r>
            <a:r>
              <a:rPr b="1" lang="en-US" sz="1700">
                <a:solidFill>
                  <a:srgbClr val="E8A33D"/>
                </a:solidFill>
                <a:latin typeface="Cambria"/>
                <a:ea typeface="Cambria"/>
                <a:cs typeface="Cambria"/>
                <a:sym typeface="Cambria"/>
              </a:rPr>
              <a:t>%</a:t>
            </a:r>
            <a:r>
              <a:rPr b="1" i="0" lang="en-US" sz="1700" u="none" cap="none" strike="noStrike">
                <a:solidFill>
                  <a:srgbClr val="E8A33D"/>
                </a:solidFill>
                <a:latin typeface="Cambria"/>
                <a:ea typeface="Cambria"/>
                <a:cs typeface="Cambria"/>
                <a:sym typeface="Cambria"/>
              </a:rPr>
              <a:t> staleness </a:t>
            </a:r>
            <a:endParaRPr b="1" i="0" sz="1700" u="none" cap="none" strike="noStrike">
              <a:solidFill>
                <a:srgbClr val="E8A33D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700"/>
              <a:buFont typeface="Cambria"/>
              <a:buNone/>
            </a:pPr>
            <a:r>
              <a:rPr b="1" lang="en-US" sz="1700">
                <a:solidFill>
                  <a:srgbClr val="E8A33D"/>
                </a:solidFill>
                <a:latin typeface="Cambria"/>
                <a:ea typeface="Cambria"/>
                <a:cs typeface="Cambria"/>
                <a:sym typeface="Cambria"/>
              </a:rPr>
              <a:t>-&gt;</a:t>
            </a:r>
            <a:r>
              <a:rPr b="1" i="0" lang="en-US" sz="1700" u="none" cap="none" strike="noStrike">
                <a:solidFill>
                  <a:srgbClr val="E8A33D"/>
                </a:solidFill>
                <a:latin typeface="Cambria"/>
                <a:ea typeface="Cambria"/>
                <a:cs typeface="Cambria"/>
                <a:sym typeface="Cambria"/>
              </a:rPr>
              <a:t> P2 over P5, both p &lt; 0.001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DRIFT  ·  Nandan Hemanth  ·  Stevens Institute of Technology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6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7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RQ2 CONTINUED: THE TRANSFERABLE CLAIM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7"/>
          <p:cNvSpPr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1F2A"/>
                </a:solidFill>
                <a:latin typeface="Cambria"/>
                <a:ea typeface="Cambria"/>
                <a:cs typeface="Cambria"/>
                <a:sym typeface="Cambria"/>
              </a:rPr>
              <a:t>Novelty gating: a bounded saving for an unbounded liability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7"/>
          <p:cNvSpPr/>
          <p:nvPr/>
        </p:nvSpPr>
        <p:spPr>
          <a:xfrm>
            <a:off x="548640" y="1645920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A correction is, by construction, a near-duplicate of the fact it corrects: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7"/>
          <p:cNvSpPr/>
          <p:nvPr/>
        </p:nvSpPr>
        <p:spPr>
          <a:xfrm>
            <a:off x="548640" y="2057400"/>
            <a:ext cx="11094415" cy="1051560"/>
          </a:xfrm>
          <a:prstGeom prst="roundRect">
            <a:avLst>
              <a:gd fmla="val 5217" name="adj"/>
            </a:avLst>
          </a:prstGeom>
          <a:solidFill>
            <a:srgbClr val="141B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7"/>
          <p:cNvSpPr/>
          <p:nvPr/>
        </p:nvSpPr>
        <p:spPr>
          <a:xfrm>
            <a:off x="822960" y="2194560"/>
            <a:ext cx="10545775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8892B0"/>
                </a:solidFill>
                <a:latin typeface="Courier New"/>
                <a:ea typeface="Courier New"/>
                <a:cs typeface="Courier New"/>
                <a:sym typeface="Courier New"/>
              </a:rPr>
              <a:t>"Thomas Kyd was born in the city of London"    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E8A33D"/>
                </a:solidFill>
                <a:latin typeface="Courier New"/>
                <a:ea typeface="Courier New"/>
                <a:cs typeface="Courier New"/>
                <a:sym typeface="Courier New"/>
              </a:rPr>
              <a:t>"Thomas Kyd was born in the city of Leeds"      </a:t>
            </a:r>
            <a:r>
              <a:rPr b="0" i="1" lang="en-US" sz="14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← rejected: cosine similarity too high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7"/>
          <p:cNvSpPr/>
          <p:nvPr/>
        </p:nvSpPr>
        <p:spPr>
          <a:xfrm>
            <a:off x="548640" y="3337560"/>
            <a:ext cx="1109441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34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The correction never enters memory. No downstream retrieval, reranking, or prompting can recover a value that was never stored.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7"/>
          <p:cNvSpPr/>
          <p:nvPr/>
        </p:nvSpPr>
        <p:spPr>
          <a:xfrm>
            <a:off x="548640" y="3977640"/>
            <a:ext cx="3515258" cy="1234440"/>
          </a:xfrm>
          <a:prstGeom prst="roundRect">
            <a:avLst>
              <a:gd fmla="val 4444" name="adj"/>
            </a:avLst>
          </a:prstGeom>
          <a:solidFill>
            <a:srgbClr val="F4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7"/>
          <p:cNvSpPr/>
          <p:nvPr/>
        </p:nvSpPr>
        <p:spPr>
          <a:xfrm>
            <a:off x="777240" y="4114800"/>
            <a:ext cx="305805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4.7×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7"/>
          <p:cNvSpPr/>
          <p:nvPr/>
        </p:nvSpPr>
        <p:spPr>
          <a:xfrm>
            <a:off x="777240" y="4617720"/>
            <a:ext cx="305805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P3's staleness vs. P2, FactConsolidation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7"/>
          <p:cNvSpPr/>
          <p:nvPr/>
        </p:nvSpPr>
        <p:spPr>
          <a:xfrm>
            <a:off x="4338218" y="3977640"/>
            <a:ext cx="3515258" cy="1234440"/>
          </a:xfrm>
          <a:prstGeom prst="roundRect">
            <a:avLst>
              <a:gd fmla="val 4444" name="adj"/>
            </a:avLst>
          </a:prstGeom>
          <a:solidFill>
            <a:srgbClr val="F4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7"/>
          <p:cNvSpPr/>
          <p:nvPr/>
        </p:nvSpPr>
        <p:spPr>
          <a:xfrm>
            <a:off x="4566818" y="4114800"/>
            <a:ext cx="305805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4.5×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7"/>
          <p:cNvSpPr/>
          <p:nvPr/>
        </p:nvSpPr>
        <p:spPr>
          <a:xfrm>
            <a:off x="4566818" y="4617720"/>
            <a:ext cx="305805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P3's staleness vs. P2, MQuAKE-T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7"/>
          <p:cNvSpPr/>
          <p:nvPr/>
        </p:nvSpPr>
        <p:spPr>
          <a:xfrm>
            <a:off x="8127797" y="3977640"/>
            <a:ext cx="3515258" cy="1234440"/>
          </a:xfrm>
          <a:prstGeom prst="roundRect">
            <a:avLst>
              <a:gd fmla="val 4444" name="adj"/>
            </a:avLst>
          </a:prstGeom>
          <a:solidFill>
            <a:srgbClr val="F4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7"/>
          <p:cNvSpPr/>
          <p:nvPr/>
        </p:nvSpPr>
        <p:spPr>
          <a:xfrm>
            <a:off x="8356397" y="4114800"/>
            <a:ext cx="305805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14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7"/>
          <p:cNvSpPr/>
          <p:nvPr/>
        </p:nvSpPr>
        <p:spPr>
          <a:xfrm>
            <a:off x="8356397" y="4617720"/>
            <a:ext cx="305805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questions, MQuAKE-T, answered wrong from a value P0 got right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7"/>
          <p:cNvSpPr/>
          <p:nvPr/>
        </p:nvSpPr>
        <p:spPr>
          <a:xfrm>
            <a:off x="548640" y="5440680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Generalizes beyond this implementation: it follows from the definition of a novelty gate and the textual form of a correction, not from any specific design choice made here.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DRIFT  ·  Nandan Hemanth  ·  Stevens Institute of Technology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7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8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GENERALIZATION ACROSS BENCHMARKS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8"/>
          <p:cNvSpPr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1F2A"/>
                </a:solidFill>
                <a:latin typeface="Cambria"/>
                <a:ea typeface="Cambria"/>
                <a:cs typeface="Cambria"/>
                <a:sym typeface="Cambria"/>
              </a:rPr>
              <a:t>The ranking mostly holds and where it moves is informative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tender-loving-lovelace/mnt/DRIFT/paper/thesis/figures/model_comparison_mquake_t.png" id="276" name="Google Shape;27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43475" y="1737350"/>
            <a:ext cx="5702724" cy="4297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18"/>
          <p:cNvSpPr/>
          <p:nvPr/>
        </p:nvSpPr>
        <p:spPr>
          <a:xfrm>
            <a:off x="548640" y="169164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Spearman's ρ = 0.891 </a:t>
            </a:r>
            <a:r>
              <a:rPr b="0" i="0" lang="en-US" sz="1300" u="none" cap="none" strike="noStrike">
                <a:solidFill>
                  <a:srgbClr val="5B6478"/>
                </a:solidFill>
                <a:latin typeface="Cambria"/>
                <a:ea typeface="Cambria"/>
                <a:cs typeface="Cambria"/>
                <a:sym typeface="Cambria"/>
              </a:rPr>
              <a:t>across all seven policies, both benchmarks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8"/>
          <p:cNvSpPr/>
          <p:nvPr/>
        </p:nvSpPr>
        <p:spPr>
          <a:xfrm>
            <a:off x="548640" y="2331720"/>
            <a:ext cx="5486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Top and bottom of the ranking are completely stable (P0/P2 lead, P3/NOMEM trail). P1 (TTL decay) moves two places </a:t>
            </a:r>
            <a:r>
              <a:rPr lang="en-US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i.e</a:t>
            </a:r>
            <a:r>
              <a:rPr b="0" i="0" lang="en-US" sz="14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 rank 6 on FactConsolidation, rank 4 on MQuAKE-T.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8"/>
          <p:cNvSpPr/>
          <p:nvPr/>
        </p:nvSpPr>
        <p:spPr>
          <a:xfrm>
            <a:off x="548640" y="3520440"/>
            <a:ext cx="5486400" cy="2468880"/>
          </a:xfrm>
          <a:prstGeom prst="roundRect">
            <a:avLst>
              <a:gd fmla="val 2222" name="adj"/>
            </a:avLst>
          </a:prstGeom>
          <a:solidFill>
            <a:srgbClr val="F4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8"/>
          <p:cNvSpPr/>
          <p:nvPr/>
        </p:nvSpPr>
        <p:spPr>
          <a:xfrm>
            <a:off x="822960" y="3703320"/>
            <a:ext cx="493776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Why P1 moves. 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MQuAKE-T: 100% of questions concern a fact that changed, so pruning by age is nearly always safe. FactConsolidation: only 65% are updates, so TTL also destroys stable, still-answerable facts.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</a:pPr>
            <a:r>
              <a:rPr b="1" i="1" lang="en-US" sz="13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P1's rank is a property of the workload's update ratio, not an intrinsic property of TTL as a policy.</a:t>
            </a:r>
            <a:r>
              <a:rPr b="1" i="1" lang="en-US" sz="13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b="1" i="1" lang="en-US" sz="13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DRIFT  ·  Nandan Hemanth  ·  Stevens Institute of Technology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8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9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TWO METHODOLOGICAL FINDINGS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9"/>
          <p:cNvSpPr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1F2A"/>
                </a:solidFill>
                <a:latin typeface="Cambria"/>
                <a:ea typeface="Cambria"/>
                <a:cs typeface="Cambria"/>
                <a:sym typeface="Cambria"/>
              </a:rPr>
              <a:t>Catching the study's own confounds before reporting them as effects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9"/>
          <p:cNvSpPr/>
          <p:nvPr/>
        </p:nvSpPr>
        <p:spPr>
          <a:xfrm>
            <a:off x="548640" y="1691640"/>
            <a:ext cx="5410048" cy="4297680"/>
          </a:xfrm>
          <a:prstGeom prst="roundRect">
            <a:avLst>
              <a:gd fmla="val 1277" name="adj"/>
            </a:avLst>
          </a:prstGeom>
          <a:solidFill>
            <a:srgbClr val="F4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9"/>
          <p:cNvSpPr/>
          <p:nvPr/>
        </p:nvSpPr>
        <p:spPr>
          <a:xfrm>
            <a:off x="822960" y="1874520"/>
            <a:ext cx="48614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Configuration ablation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9"/>
          <p:cNvSpPr/>
          <p:nvPr/>
        </p:nvSpPr>
        <p:spPr>
          <a:xfrm>
            <a:off x="822960" y="2331720"/>
            <a:ext cx="4861408" cy="3566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Reran MQuAKE-T with functional_predicates left undeclared. Invalidations dropped from 59 to 1, the mechanism essentially off.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2C7A5C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2C7A5C"/>
                </a:solidFill>
                <a:latin typeface="Calibri"/>
                <a:ea typeface="Calibri"/>
                <a:cs typeface="Calibri"/>
                <a:sym typeface="Calibri"/>
              </a:rPr>
              <a:t>P2 accuracy: unchanged (0.969 either way).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B84A3C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B84A3C"/>
                </a:solidFill>
                <a:latin typeface="Calibri"/>
                <a:ea typeface="Calibri"/>
                <a:cs typeface="Calibri"/>
                <a:sym typeface="Calibri"/>
              </a:rPr>
              <a:t>Tokens/q: +14.4% worse undeclared.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B84A3C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B84A3C"/>
                </a:solidFill>
                <a:latin typeface="Calibri"/>
                <a:ea typeface="Calibri"/>
                <a:cs typeface="Calibri"/>
                <a:sym typeface="Calibri"/>
              </a:rPr>
              <a:t>Active facts: +7.0% worse undeclared.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</a:pPr>
            <a:r>
              <a:rPr b="1" i="1" lang="en-US" sz="13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The setting buys P2 none of its accuracy and all of its efficiency. It is safe to enable untuned, and only pays for itself if configured.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9"/>
          <p:cNvSpPr/>
          <p:nvPr/>
        </p:nvSpPr>
        <p:spPr>
          <a:xfrm>
            <a:off x="6233008" y="1691640"/>
            <a:ext cx="5410048" cy="4297680"/>
          </a:xfrm>
          <a:prstGeom prst="roundRect">
            <a:avLst>
              <a:gd fmla="val 1277" name="adj"/>
            </a:avLst>
          </a:prstGeom>
          <a:solidFill>
            <a:srgbClr val="F4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9"/>
          <p:cNvSpPr/>
          <p:nvPr/>
        </p:nvSpPr>
        <p:spPr>
          <a:xfrm>
            <a:off x="6507328" y="1874520"/>
            <a:ext cx="48614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Judge-reliability audit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9"/>
          <p:cNvSpPr/>
          <p:nvPr/>
        </p:nvSpPr>
        <p:spPr>
          <a:xfrm>
            <a:off x="6507328" y="2331720"/>
            <a:ext cx="4861408" cy="3566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One cell's 96 of 96 answers were byte-identical to the main run, yet scored 0.844 versus 0.969. 12 verdicts flipped, all one direction, on verbatim-correct answers.</a:t>
            </a:r>
            <a:r>
              <a:rPr lang="en-US" sz="1350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b="0" i="0" lang="en-US" sz="135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Root cause: a rotating 3-provider judge pool. One provider drew that cell.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</a:pPr>
            <a:r>
              <a:rPr b="1" i="1" lang="en-US" sz="13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12.5-point artifact identified and corrected before it was reported as a policy effect. Gaps under ~3 points are inside judge noise.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DRIFT  ·  Nandan Hemanth  ·  Stevens Institute of Technology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9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RQ4: MULTI-AGENT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0"/>
          <p:cNvSpPr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1F2A"/>
                </a:solidFill>
                <a:latin typeface="Cambria"/>
                <a:ea typeface="Cambria"/>
                <a:cs typeface="Cambria"/>
                <a:sym typeface="Cambria"/>
              </a:rPr>
              <a:t>Do rankings survive when the reader isn't the writer?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tender-loving-lovelace/mnt/DRIFT/paper/thesis/figures/swarm_topology.png" id="305" name="Google Shape;30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94875" y="1691650"/>
            <a:ext cx="5113951" cy="41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0"/>
          <p:cNvSpPr/>
          <p:nvPr/>
        </p:nvSpPr>
        <p:spPr>
          <a:xfrm>
            <a:off x="548640" y="1691640"/>
            <a:ext cx="6217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ourier New"/>
                <a:ea typeface="Courier New"/>
                <a:cs typeface="Courier New"/>
                <a:sym typeface="Courier New"/>
              </a:rPr>
              <a:t>shared   </a:t>
            </a:r>
            <a:r>
              <a:rPr b="0" i="0" lang="en-US" sz="13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5 writers round-robin into one graph. Contradictions arrive cross-writer.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0"/>
          <p:cNvSpPr/>
          <p:nvPr/>
        </p:nvSpPr>
        <p:spPr>
          <a:xfrm>
            <a:off x="548640" y="2468880"/>
            <a:ext cx="6217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ourier New"/>
                <a:ea typeface="Courier New"/>
                <a:cs typeface="Courier New"/>
                <a:sym typeface="Courier New"/>
              </a:rPr>
              <a:t>independent   </a:t>
            </a:r>
            <a:r>
              <a:rPr b="0" i="0" lang="en-US" sz="13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5 private graphs, each seeded with 80% partial observation. Tests robustness.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0"/>
          <p:cNvSpPr/>
          <p:nvPr/>
        </p:nvSpPr>
        <p:spPr>
          <a:xfrm>
            <a:off x="548640" y="3246120"/>
            <a:ext cx="6217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ourier New"/>
                <a:ea typeface="Courier New"/>
                <a:cs typeface="Courier New"/>
                <a:sym typeface="Courier New"/>
              </a:rPr>
              <a:t>orchestrator   </a:t>
            </a:r>
            <a:r>
              <a:rPr b="0" i="0" lang="en-US" sz="13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1 graph, router LLM assigns questions to 5 specialists. The production coordinator pattern.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0"/>
          <p:cNvSpPr/>
          <p:nvPr/>
        </p:nvSpPr>
        <p:spPr>
          <a:xfrm>
            <a:off x="548640" y="4160520"/>
            <a:ext cx="6217920" cy="1874520"/>
          </a:xfrm>
          <a:prstGeom prst="roundRect">
            <a:avLst>
              <a:gd fmla="val 2927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0"/>
          <p:cNvSpPr/>
          <p:nvPr/>
        </p:nvSpPr>
        <p:spPr>
          <a:xfrm>
            <a:off x="822960" y="4343400"/>
            <a:ext cx="56692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Status, stated precisely: 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Validated on synthetic data (14 questions, mock provider): P2 leads all 3 topologies with staleness at 0.000. That validates the harness, not the claim on real data.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 real-data pilot (96 questions, five extraction models) is complete for 5 of 7 policies on the shared topology. Heterogeneous extraction fragments predicate strings and breaks exact-match contradiction detection; see the next slide. Sixteen cells remain untested.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DRIFT  ·  Nandan Hemanth  ·  Stevens Institute of Technology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0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1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PRACTICAL RECOMMENDATION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1"/>
          <p:cNvSpPr/>
          <p:nvPr/>
        </p:nvSpPr>
        <p:spPr>
          <a:xfrm>
            <a:off x="548640" y="1737360"/>
            <a:ext cx="1109441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If your agent tracks facts that get corrected over time: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1"/>
          <p:cNvSpPr/>
          <p:nvPr/>
        </p:nvSpPr>
        <p:spPr>
          <a:xfrm>
            <a:off x="548640" y="2194560"/>
            <a:ext cx="11094415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Use bitemporal contradiction invalidation. Declare your domain's functional predicates. Do not use a write-time novelty gate.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1"/>
          <p:cNvSpPr/>
          <p:nvPr/>
        </p:nvSpPr>
        <p:spPr>
          <a:xfrm>
            <a:off x="548640" y="3794760"/>
            <a:ext cx="3515258" cy="1828800"/>
          </a:xfrm>
          <a:prstGeom prst="roundRect">
            <a:avLst>
              <a:gd fmla="val 3000" name="adj"/>
            </a:avLst>
          </a:prstGeom>
          <a:solidFill>
            <a:srgbClr val="141B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1"/>
          <p:cNvSpPr/>
          <p:nvPr/>
        </p:nvSpPr>
        <p:spPr>
          <a:xfrm>
            <a:off x="777240" y="3977640"/>
            <a:ext cx="305805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E8A33D"/>
                </a:solidFill>
                <a:latin typeface="Cambria"/>
                <a:ea typeface="Cambria"/>
                <a:cs typeface="Cambria"/>
                <a:sym typeface="Cambria"/>
              </a:rPr>
              <a:t>Free at the margin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1"/>
          <p:cNvSpPr/>
          <p:nvPr/>
        </p:nvSpPr>
        <p:spPr>
          <a:xfrm>
            <a:off x="777240" y="4480560"/>
            <a:ext cx="305805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Statistically equivalent accuracy to never forgetting, at 12% lower cost.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1"/>
          <p:cNvSpPr/>
          <p:nvPr/>
        </p:nvSpPr>
        <p:spPr>
          <a:xfrm>
            <a:off x="4338218" y="3794760"/>
            <a:ext cx="3515258" cy="1828800"/>
          </a:xfrm>
          <a:prstGeom prst="roundRect">
            <a:avLst>
              <a:gd fmla="val 3000" name="adj"/>
            </a:avLst>
          </a:prstGeom>
          <a:solidFill>
            <a:srgbClr val="141B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21"/>
          <p:cNvSpPr/>
          <p:nvPr/>
        </p:nvSpPr>
        <p:spPr>
          <a:xfrm>
            <a:off x="4566818" y="3977640"/>
            <a:ext cx="305805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E8A33D"/>
                </a:solidFill>
                <a:latin typeface="Cambria"/>
                <a:ea typeface="Cambria"/>
                <a:cs typeface="Cambria"/>
                <a:sym typeface="Cambria"/>
              </a:rPr>
              <a:t>Fails safe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1"/>
          <p:cNvSpPr/>
          <p:nvPr/>
        </p:nvSpPr>
        <p:spPr>
          <a:xfrm>
            <a:off x="4566818" y="4480560"/>
            <a:ext cx="305805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 misconfigured P2 degrades to append-only, never below it.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1"/>
          <p:cNvSpPr/>
          <p:nvPr/>
        </p:nvSpPr>
        <p:spPr>
          <a:xfrm>
            <a:off x="8127797" y="3794760"/>
            <a:ext cx="3515258" cy="1828800"/>
          </a:xfrm>
          <a:prstGeom prst="roundRect">
            <a:avLst>
              <a:gd fmla="val 3000" name="adj"/>
            </a:avLst>
          </a:prstGeom>
          <a:solidFill>
            <a:srgbClr val="141B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21"/>
          <p:cNvSpPr/>
          <p:nvPr/>
        </p:nvSpPr>
        <p:spPr>
          <a:xfrm>
            <a:off x="8356397" y="3977640"/>
            <a:ext cx="305805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E8A33D"/>
                </a:solidFill>
                <a:latin typeface="Cambria"/>
                <a:ea typeface="Cambria"/>
                <a:cs typeface="Cambria"/>
                <a:sym typeface="Cambria"/>
              </a:rPr>
              <a:t>Names what to configure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1"/>
          <p:cNvSpPr/>
          <p:nvPr/>
        </p:nvSpPr>
        <p:spPr>
          <a:xfrm>
            <a:off x="8356397" y="4480560"/>
            <a:ext cx="305805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One inspectable list of predicates, not a hyperparameter search.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1"/>
          <p:cNvSpPr/>
          <p:nvPr/>
        </p:nvSpPr>
        <p:spPr>
          <a:xfrm>
            <a:off x="548640" y="5806440"/>
            <a:ext cx="11094415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9AA8D6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9AA8D6"/>
                </a:solidFill>
                <a:latin typeface="Calibri"/>
                <a:ea typeface="Calibri"/>
                <a:cs typeface="Calibri"/>
                <a:sym typeface="Calibri"/>
              </a:rPr>
              <a:t>Beyond the recommendation: memory hygiene is primarily a correctness problem (an 18-point accuracy gap), not a cost problem (a roughly 12% cost gap). A bitemporal record is also exactly the structure that right-to-be-forgotten and audit requirements need.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DRIFT  ·  Nandan Hemanth  ·  Stevens Institute of Technology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1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2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THREATS TO VALIDITY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2"/>
          <p:cNvSpPr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1F2A"/>
                </a:solidFill>
                <a:latin typeface="Cambria"/>
                <a:ea typeface="Cambria"/>
                <a:cs typeface="Cambria"/>
                <a:sym typeface="Cambria"/>
              </a:rPr>
              <a:t>Stated directly in order of severity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2"/>
          <p:cNvSpPr/>
          <p:nvPr/>
        </p:nvSpPr>
        <p:spPr>
          <a:xfrm>
            <a:off x="548640" y="1810512"/>
            <a:ext cx="292608" cy="292608"/>
          </a:xfrm>
          <a:prstGeom prst="ellipse">
            <a:avLst/>
          </a:prstGeom>
          <a:solidFill>
            <a:srgbClr val="B84A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2"/>
          <p:cNvSpPr/>
          <p:nvPr/>
        </p:nvSpPr>
        <p:spPr>
          <a:xfrm>
            <a:off x="548640" y="181051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2"/>
          <p:cNvSpPr/>
          <p:nvPr/>
        </p:nvSpPr>
        <p:spPr>
          <a:xfrm>
            <a:off x="1005840" y="1783080"/>
            <a:ext cx="10637215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Both real-data benchmarks are fact corpora, not natural conversation, so extraction is never a bottleneck here</a:t>
            </a:r>
            <a:r>
              <a:rPr lang="en-US" sz="1350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b="0" i="0" lang="en-US" sz="135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2"/>
          <p:cNvSpPr/>
          <p:nvPr/>
        </p:nvSpPr>
        <p:spPr>
          <a:xfrm>
            <a:off x="548640" y="2359152"/>
            <a:ext cx="292608" cy="292608"/>
          </a:xfrm>
          <a:prstGeom prst="ellipse">
            <a:avLst/>
          </a:prstGeom>
          <a:solidFill>
            <a:srgbClr val="B84A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22"/>
          <p:cNvSpPr/>
          <p:nvPr/>
        </p:nvSpPr>
        <p:spPr>
          <a:xfrm>
            <a:off x="548640" y="235915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2"/>
          <p:cNvSpPr/>
          <p:nvPr/>
        </p:nvSpPr>
        <p:spPr>
          <a:xfrm>
            <a:off x="1005840" y="2331720"/>
            <a:ext cx="10637215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MQuAKE-T's relations are narrow: mostly head-of-government / head-of-state edits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2"/>
          <p:cNvSpPr/>
          <p:nvPr/>
        </p:nvSpPr>
        <p:spPr>
          <a:xfrm>
            <a:off x="548640" y="2907792"/>
            <a:ext cx="292608" cy="292608"/>
          </a:xfrm>
          <a:prstGeom prst="ellipse">
            <a:avLst/>
          </a:prstGeom>
          <a:solidFill>
            <a:srgbClr val="C7CE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22"/>
          <p:cNvSpPr/>
          <p:nvPr/>
        </p:nvSpPr>
        <p:spPr>
          <a:xfrm>
            <a:off x="548640" y="290779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2"/>
          <p:cNvSpPr/>
          <p:nvPr/>
        </p:nvSpPr>
        <p:spPr>
          <a:xfrm>
            <a:off x="1005840" y="2880360"/>
            <a:ext cx="10637215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FactConsolidation's gold answers are deliberately counterfactual, making its zero-memory floor maximal by construction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2"/>
          <p:cNvSpPr/>
          <p:nvPr/>
        </p:nvSpPr>
        <p:spPr>
          <a:xfrm>
            <a:off x="548640" y="3456432"/>
            <a:ext cx="292608" cy="292608"/>
          </a:xfrm>
          <a:prstGeom prst="ellipse">
            <a:avLst/>
          </a:prstGeom>
          <a:solidFill>
            <a:srgbClr val="C7CE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22"/>
          <p:cNvSpPr/>
          <p:nvPr/>
        </p:nvSpPr>
        <p:spPr>
          <a:xfrm>
            <a:off x="548640" y="345643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2"/>
          <p:cNvSpPr/>
          <p:nvPr/>
        </p:nvSpPr>
        <p:spPr>
          <a:xfrm>
            <a:off x="1005840" y="3429000"/>
            <a:ext cx="10637215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Sample size is about 100 questions per benchmark, bounding detectable effect size to roughly 2.5 points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2"/>
          <p:cNvSpPr/>
          <p:nvPr/>
        </p:nvSpPr>
        <p:spPr>
          <a:xfrm>
            <a:off x="548640" y="4005072"/>
            <a:ext cx="292608" cy="292608"/>
          </a:xfrm>
          <a:prstGeom prst="ellipse">
            <a:avLst/>
          </a:prstGeom>
          <a:solidFill>
            <a:srgbClr val="C7CE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22"/>
          <p:cNvSpPr/>
          <p:nvPr/>
        </p:nvSpPr>
        <p:spPr>
          <a:xfrm>
            <a:off x="548640" y="400507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2"/>
          <p:cNvSpPr/>
          <p:nvPr/>
        </p:nvSpPr>
        <p:spPr>
          <a:xfrm>
            <a:off x="1005840" y="3977640"/>
            <a:ext cx="10637215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Judge noise is 1 to 2% baseline, with one 15% outlier cell; gaps under about 3 points are not interpretable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2"/>
          <p:cNvSpPr/>
          <p:nvPr/>
        </p:nvSpPr>
        <p:spPr>
          <a:xfrm>
            <a:off x="548640" y="4553712"/>
            <a:ext cx="292608" cy="292608"/>
          </a:xfrm>
          <a:prstGeom prst="ellipse">
            <a:avLst/>
          </a:prstGeom>
          <a:solidFill>
            <a:srgbClr val="C7CE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22"/>
          <p:cNvSpPr/>
          <p:nvPr/>
        </p:nvSpPr>
        <p:spPr>
          <a:xfrm>
            <a:off x="548640" y="455371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2"/>
          <p:cNvSpPr/>
          <p:nvPr/>
        </p:nvSpPr>
        <p:spPr>
          <a:xfrm>
            <a:off x="1005840" y="4526280"/>
            <a:ext cx="10637215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RQ4 is validated in full only offline; a 5-cell real-data pilot on one topology is complete, sixteen cells remain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2"/>
          <p:cNvSpPr/>
          <p:nvPr/>
        </p:nvSpPr>
        <p:spPr>
          <a:xfrm>
            <a:off x="548640" y="5102352"/>
            <a:ext cx="292608" cy="292608"/>
          </a:xfrm>
          <a:prstGeom prst="ellipse">
            <a:avLst/>
          </a:prstGeom>
          <a:solidFill>
            <a:srgbClr val="C7CE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22"/>
          <p:cNvSpPr/>
          <p:nvPr/>
        </p:nvSpPr>
        <p:spPr>
          <a:xfrm>
            <a:off x="548640" y="510235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2"/>
          <p:cNvSpPr/>
          <p:nvPr/>
        </p:nvSpPr>
        <p:spPr>
          <a:xfrm>
            <a:off x="1005840" y="5074920"/>
            <a:ext cx="10637215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functional_predicates is a per-domain configuration burden, chosen by looking at the data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2"/>
          <p:cNvSpPr/>
          <p:nvPr/>
        </p:nvSpPr>
        <p:spPr>
          <a:xfrm>
            <a:off x="548640" y="5650992"/>
            <a:ext cx="292608" cy="292608"/>
          </a:xfrm>
          <a:prstGeom prst="ellipse">
            <a:avLst/>
          </a:prstGeom>
          <a:solidFill>
            <a:srgbClr val="C7CE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2"/>
          <p:cNvSpPr/>
          <p:nvPr/>
        </p:nvSpPr>
        <p:spPr>
          <a:xfrm>
            <a:off x="548640" y="565099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2"/>
          <p:cNvSpPr/>
          <p:nvPr/>
        </p:nvSpPr>
        <p:spPr>
          <a:xfrm>
            <a:off x="1005840" y="5623560"/>
            <a:ext cx="10637215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Two mid-size answer models, accessed through one provider; neither is a frontier-scale model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DRIFT  ·  Nandan Hemanth  ·  Stevens Institute of Technology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2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3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3"/>
          <p:cNvSpPr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Four claims are replicated across two benchmarks of different provenance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3"/>
          <p:cNvSpPr/>
          <p:nvPr/>
        </p:nvSpPr>
        <p:spPr>
          <a:xfrm>
            <a:off x="548640" y="1874520"/>
            <a:ext cx="457200" cy="457200"/>
          </a:xfrm>
          <a:prstGeom prst="roundRect">
            <a:avLst>
              <a:gd fmla="val 12000" name="adj"/>
            </a:avLst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23"/>
          <p:cNvSpPr/>
          <p:nvPr/>
        </p:nvSpPr>
        <p:spPr>
          <a:xfrm>
            <a:off x="548640" y="18745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B47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41B47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3"/>
          <p:cNvSpPr/>
          <p:nvPr/>
        </p:nvSpPr>
        <p:spPr>
          <a:xfrm>
            <a:off x="1234440" y="1874520"/>
            <a:ext cx="10408615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Append-only memory measurably surfaces superseded facts: 4.2 to 4.8 stale facts per retrieval.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3"/>
          <p:cNvSpPr/>
          <p:nvPr/>
        </p:nvSpPr>
        <p:spPr>
          <a:xfrm>
            <a:off x="548640" y="2788920"/>
            <a:ext cx="457200" cy="457200"/>
          </a:xfrm>
          <a:prstGeom prst="roundRect">
            <a:avLst>
              <a:gd fmla="val 12000" name="adj"/>
            </a:avLst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23"/>
          <p:cNvSpPr/>
          <p:nvPr/>
        </p:nvSpPr>
        <p:spPr>
          <a:xfrm>
            <a:off x="548640" y="27889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B47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41B47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3"/>
          <p:cNvSpPr/>
          <p:nvPr/>
        </p:nvSpPr>
        <p:spPr>
          <a:xfrm>
            <a:off x="1234440" y="2788920"/>
            <a:ext cx="10408615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Bitemporal contradiction invalidation is free: bounded within about 2.5 points of the ceiling, at 12% lower cost.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3"/>
          <p:cNvSpPr/>
          <p:nvPr/>
        </p:nvSpPr>
        <p:spPr>
          <a:xfrm>
            <a:off x="548640" y="3703320"/>
            <a:ext cx="457200" cy="457200"/>
          </a:xfrm>
          <a:prstGeom prst="roundRect">
            <a:avLst>
              <a:gd fmla="val 12000" name="adj"/>
            </a:avLst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23"/>
          <p:cNvSpPr/>
          <p:nvPr/>
        </p:nvSpPr>
        <p:spPr>
          <a:xfrm>
            <a:off x="548640" y="37033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B47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41B47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3"/>
          <p:cNvSpPr/>
          <p:nvPr/>
        </p:nvSpPr>
        <p:spPr>
          <a:xfrm>
            <a:off x="1234440" y="3703320"/>
            <a:ext cx="10408615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advantage is attributable to bitemporal semantics specifically, not graph structure in general (+16.7 pts, p&lt;0.001).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3"/>
          <p:cNvSpPr/>
          <p:nvPr/>
        </p:nvSpPr>
        <p:spPr>
          <a:xfrm>
            <a:off x="548640" y="4617720"/>
            <a:ext cx="457200" cy="457200"/>
          </a:xfrm>
          <a:prstGeom prst="roundRect">
            <a:avLst>
              <a:gd fmla="val 12000" name="adj"/>
            </a:avLst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23"/>
          <p:cNvSpPr/>
          <p:nvPr/>
        </p:nvSpPr>
        <p:spPr>
          <a:xfrm>
            <a:off x="548640" y="46177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B47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41B47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3"/>
          <p:cNvSpPr/>
          <p:nvPr/>
        </p:nvSpPr>
        <p:spPr>
          <a:xfrm>
            <a:off x="1234440" y="4617720"/>
            <a:ext cx="10408615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Novelty-gated writing causes unrecoverable staleness. This is a transferable claim, not an implementation quirk.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3"/>
          <p:cNvSpPr/>
          <p:nvPr/>
        </p:nvSpPr>
        <p:spPr>
          <a:xfrm>
            <a:off x="548640" y="5623560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600"/>
              <a:buFont typeface="Cambria"/>
              <a:buNone/>
            </a:pPr>
            <a:r>
              <a:rPr b="1" i="1" lang="en-US" sz="1600" u="none" cap="none" strike="noStrike">
                <a:solidFill>
                  <a:srgbClr val="E8A33D"/>
                </a:solidFill>
                <a:latin typeface="Cambria"/>
                <a:ea typeface="Cambria"/>
                <a:cs typeface="Cambria"/>
                <a:sym typeface="Cambria"/>
              </a:rPr>
              <a:t>Choosing a forgetting policy without measuring it on the target workload is not a safe default, and the cost of measuring it is now an afternoon.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DRIFT  ·  Nandan Hemanth  ·  Stevens Institute of Technology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3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4"/>
          <p:cNvSpPr/>
          <p:nvPr/>
        </p:nvSpPr>
        <p:spPr>
          <a:xfrm>
            <a:off x="548640" y="2468880"/>
            <a:ext cx="502920" cy="54864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24"/>
          <p:cNvSpPr/>
          <p:nvPr/>
        </p:nvSpPr>
        <p:spPr>
          <a:xfrm>
            <a:off x="548640" y="2697480"/>
            <a:ext cx="11094415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Thank you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4"/>
          <p:cNvSpPr/>
          <p:nvPr/>
        </p:nvSpPr>
        <p:spPr>
          <a:xfrm>
            <a:off x="548640" y="3611880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Questions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4"/>
          <p:cNvSpPr/>
          <p:nvPr/>
        </p:nvSpPr>
        <p:spPr>
          <a:xfrm>
            <a:off x="548640" y="6035040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280B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280B0"/>
                </a:solidFill>
                <a:latin typeface="Calibri"/>
                <a:ea typeface="Calibri"/>
                <a:cs typeface="Calibri"/>
                <a:sym typeface="Calibri"/>
              </a:rPr>
              <a:t>DRIFT: Decay Rates in Forgetful Bitemporal Memory  ·  Nandan Hemanth  ·  Stevens Institute of Technology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3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3"/>
          <p:cNvSpPr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1F2A"/>
                </a:solidFill>
                <a:latin typeface="Cambria"/>
                <a:ea typeface="Cambria"/>
                <a:cs typeface="Cambria"/>
                <a:sym typeface="Cambria"/>
              </a:rPr>
              <a:t>Headline results </a:t>
            </a:r>
            <a:r>
              <a:rPr b="1" lang="en-US" sz="3000">
                <a:solidFill>
                  <a:srgbClr val="1B1F2A"/>
                </a:solidFill>
                <a:latin typeface="Cambria"/>
                <a:ea typeface="Cambria"/>
                <a:cs typeface="Cambria"/>
                <a:sym typeface="Cambria"/>
              </a:rPr>
              <a:t>:</a:t>
            </a:r>
            <a:r>
              <a:rPr b="1" i="0" lang="en-US" sz="3000" u="none" cap="none" strike="noStrike">
                <a:solidFill>
                  <a:srgbClr val="1B1F2A"/>
                </a:solidFill>
                <a:latin typeface="Cambria"/>
                <a:ea typeface="Cambria"/>
                <a:cs typeface="Cambria"/>
                <a:sym typeface="Cambria"/>
              </a:rPr>
              <a:t> FactConsolidation, pooled across both answer models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3" name="Google Shape;193;p13"/>
          <p:cNvGraphicFramePr/>
          <p:nvPr/>
        </p:nvGraphicFramePr>
        <p:xfrm>
          <a:off x="548640" y="182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{CB434D2C-1792-403F-BBC9-71C173071512}</a:tableStyleId>
              </a:tblPr>
              <a:tblGrid>
                <a:gridCol w="1828800"/>
                <a:gridCol w="1371600"/>
                <a:gridCol w="1371600"/>
                <a:gridCol w="1188725"/>
                <a:gridCol w="1188725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Policy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Accuracy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Staleness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Tok/q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Facts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NOMEM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n/a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0.840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0.030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812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380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C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P1 (TTL 20d)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0.630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0.020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799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P2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7A5C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C7A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0.840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0.025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7A5C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C7A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715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324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F3EE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P3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0.665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0.140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806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334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P4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0.800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0.060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814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374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C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P5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0.795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0.035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812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365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4" name="Google Shape;194;p13"/>
          <p:cNvSpPr/>
          <p:nvPr/>
        </p:nvSpPr>
        <p:spPr>
          <a:xfrm>
            <a:off x="7863840" y="1828800"/>
            <a:ext cx="3931920" cy="1188720"/>
          </a:xfrm>
          <a:prstGeom prst="roundRect">
            <a:avLst>
              <a:gd fmla="val 4615" name="adj"/>
            </a:avLst>
          </a:prstGeom>
          <a:solidFill>
            <a:srgbClr val="F4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3"/>
          <p:cNvSpPr/>
          <p:nvPr/>
        </p:nvSpPr>
        <p:spPr>
          <a:xfrm>
            <a:off x="8092440" y="1938528"/>
            <a:ext cx="3474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+0.000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3"/>
          <p:cNvSpPr/>
          <p:nvPr/>
        </p:nvSpPr>
        <p:spPr>
          <a:xfrm>
            <a:off x="8092440" y="2560320"/>
            <a:ext cx="3474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P2 minus P0 accuracy, FactConsolidation: statistically equivalent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3"/>
          <p:cNvSpPr/>
          <p:nvPr/>
        </p:nvSpPr>
        <p:spPr>
          <a:xfrm>
            <a:off x="7863840" y="3200400"/>
            <a:ext cx="3931920" cy="1188720"/>
          </a:xfrm>
          <a:prstGeom prst="roundRect">
            <a:avLst>
              <a:gd fmla="val 4615" name="adj"/>
            </a:avLst>
          </a:prstGeom>
          <a:solidFill>
            <a:srgbClr val="F4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3"/>
          <p:cNvSpPr/>
          <p:nvPr/>
        </p:nvSpPr>
        <p:spPr>
          <a:xfrm>
            <a:off x="8092440" y="3310128"/>
            <a:ext cx="3474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–12%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3"/>
          <p:cNvSpPr/>
          <p:nvPr/>
        </p:nvSpPr>
        <p:spPr>
          <a:xfrm>
            <a:off x="8092440" y="3931920"/>
            <a:ext cx="3474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tokens per question, P2 vs. P0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3"/>
          <p:cNvSpPr/>
          <p:nvPr/>
        </p:nvSpPr>
        <p:spPr>
          <a:xfrm>
            <a:off x="7863840" y="4572000"/>
            <a:ext cx="3931920" cy="1188720"/>
          </a:xfrm>
          <a:prstGeom prst="roundRect">
            <a:avLst>
              <a:gd fmla="val 4615" name="adj"/>
            </a:avLst>
          </a:prstGeom>
          <a:solidFill>
            <a:srgbClr val="F4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3"/>
          <p:cNvSpPr/>
          <p:nvPr/>
        </p:nvSpPr>
        <p:spPr>
          <a:xfrm>
            <a:off x="8092440" y="4681728"/>
            <a:ext cx="3474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14.7%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3"/>
          <p:cNvSpPr/>
          <p:nvPr/>
        </p:nvSpPr>
        <p:spPr>
          <a:xfrm>
            <a:off x="8092440" y="5303520"/>
            <a:ext cx="3474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fewer facts stored, P2 vs. P0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DRIFT  ·  Nandan Hemanth  ·  Stevens Institute of Technology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3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3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RQ4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3"/>
          <p:cNvSpPr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1F2A"/>
                </a:solidFill>
                <a:latin typeface="Cambria"/>
                <a:ea typeface="Cambria"/>
                <a:cs typeface="Cambria"/>
                <a:sym typeface="Cambria"/>
              </a:rPr>
              <a:t>Real-data pilot results </a:t>
            </a:r>
            <a:r>
              <a:rPr b="1" lang="en-US" sz="3000">
                <a:solidFill>
                  <a:srgbClr val="1B1F2A"/>
                </a:solidFill>
                <a:latin typeface="Cambria"/>
                <a:ea typeface="Cambria"/>
                <a:cs typeface="Cambria"/>
                <a:sym typeface="Cambria"/>
              </a:rPr>
              <a:t>:</a:t>
            </a:r>
            <a:r>
              <a:rPr b="1" i="0" lang="en-US" sz="3000" u="none" cap="none" strike="noStrike">
                <a:solidFill>
                  <a:srgbClr val="1B1F2A"/>
                </a:solidFill>
                <a:latin typeface="Cambria"/>
                <a:ea typeface="Cambria"/>
                <a:cs typeface="Cambria"/>
                <a:sym typeface="Cambria"/>
              </a:rPr>
              <a:t> shared topology, MQuAKE-T, 96 questions, five extraction models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3" name="Google Shape;193;p13"/>
          <p:cNvGraphicFramePr/>
          <p:nvPr/>
        </p:nvGraphicFramePr>
        <p:xfrm>
          <a:off x="548640" y="182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{CB434D2C-1792-403F-BBC9-71C173071512}</a:tableStyleId>
              </a:tblPr>
              <a:tblGrid>
                <a:gridCol w="1828800"/>
                <a:gridCol w="1371600"/>
                <a:gridCol w="1371600"/>
                <a:gridCol w="1188725"/>
                <a:gridCol w="1188725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Policy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Accuracy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Staleness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Tok/q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Inval.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NOMEM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156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0.333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0.271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710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C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P1 (TTL 20d)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0.281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0.135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729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P2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7A5C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C7A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0.365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0.271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7A5C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C7A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710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F3EE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P3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0.365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0.271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710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P4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 run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 run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 run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 run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C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P5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 run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 run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 run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 run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4" name="Google Shape;194;p13"/>
          <p:cNvSpPr/>
          <p:nvPr/>
        </p:nvSpPr>
        <p:spPr>
          <a:xfrm>
            <a:off x="7863840" y="1828800"/>
            <a:ext cx="3931920" cy="1188720"/>
          </a:xfrm>
          <a:prstGeom prst="roundRect">
            <a:avLst>
              <a:gd fmla="val 4615" name="adj"/>
            </a:avLst>
          </a:prstGeom>
          <a:solidFill>
            <a:srgbClr val="F4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3"/>
          <p:cNvSpPr/>
          <p:nvPr/>
        </p:nvSpPr>
        <p:spPr>
          <a:xfrm>
            <a:off x="8092440" y="1938528"/>
            <a:ext cx="3474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3"/>
          <p:cNvSpPr/>
          <p:nvPr/>
        </p:nvSpPr>
        <p:spPr>
          <a:xfrm>
            <a:off x="8092440" y="2560320"/>
            <a:ext cx="3474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P2 invalidations in this pilot, versus 59 on the single-extractor run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3"/>
          <p:cNvSpPr/>
          <p:nvPr/>
        </p:nvSpPr>
        <p:spPr>
          <a:xfrm>
            <a:off x="7863840" y="3200400"/>
            <a:ext cx="3931920" cy="1188720"/>
          </a:xfrm>
          <a:prstGeom prst="roundRect">
            <a:avLst>
              <a:gd fmla="val 4615" name="adj"/>
            </a:avLst>
          </a:prstGeom>
          <a:solidFill>
            <a:srgbClr val="F4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3"/>
          <p:cNvSpPr/>
          <p:nvPr/>
        </p:nvSpPr>
        <p:spPr>
          <a:xfrm>
            <a:off x="8092440" y="3310128"/>
            <a:ext cx="3474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140 = 140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3"/>
          <p:cNvSpPr/>
          <p:nvPr/>
        </p:nvSpPr>
        <p:spPr>
          <a:xfrm>
            <a:off x="8092440" y="3931920"/>
            <a:ext cx="3474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P2 active facts, identical to P0: the mechanism never engaged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3"/>
          <p:cNvSpPr/>
          <p:nvPr/>
        </p:nvSpPr>
        <p:spPr>
          <a:xfrm>
            <a:off x="7863840" y="4572000"/>
            <a:ext cx="3931920" cy="1188720"/>
          </a:xfrm>
          <a:prstGeom prst="roundRect">
            <a:avLst>
              <a:gd fmla="val 4615" name="adj"/>
            </a:avLst>
          </a:prstGeom>
          <a:solidFill>
            <a:srgbClr val="F4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3"/>
          <p:cNvSpPr/>
          <p:nvPr/>
        </p:nvSpPr>
        <p:spPr>
          <a:xfrm>
            <a:off x="8092440" y="4681728"/>
            <a:ext cx="3474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3"/>
          <p:cNvSpPr/>
          <p:nvPr/>
        </p:nvSpPr>
        <p:spPr>
          <a:xfrm>
            <a:off x="8092440" y="5303520"/>
            <a:ext cx="3474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surface forms of one relation split contradiction detection (head_of_government)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DRIFT  ·  Nandan Hemanth  ·  Stevens Institute of Technology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3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